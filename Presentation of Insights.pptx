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3"/>
    <p:sldId id="258" r:id="rId4"/>
    <p:sldId id="259" r:id="rId5"/>
    <p:sldId id="263" r:id="rId6"/>
    <p:sldId id="273" r:id="rId7"/>
    <p:sldId id="264" r:id="rId8"/>
    <p:sldId id="267" r:id="rId9"/>
    <p:sldId id="274" r:id="rId10"/>
    <p:sldId id="271" r:id="rId11"/>
    <p:sldId id="260" r:id="rId12"/>
    <p:sldId id="275" r:id="rId14"/>
    <p:sldId id="276" r:id="rId15"/>
    <p:sldId id="277" r:id="rId16"/>
    <p:sldId id="265" r:id="rId17"/>
    <p:sldId id="261" r:id="rId18"/>
    <p:sldId id="279" r:id="rId19"/>
    <p:sldId id="278" r:id="rId20"/>
    <p:sldId id="257"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BE3EC"/>
    <a:srgbClr val="E8F8FB"/>
    <a:srgbClr val="616A77"/>
    <a:srgbClr val="1B2B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86" d="100"/>
          <a:sy n="86" d="100"/>
        </p:scale>
        <p:origin x="514" y="62"/>
      </p:cViewPr>
      <p:guideLst>
        <p:guide orient="horz" pos="215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AGATHA\Downloads\airline_dataset%20(2).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AGATHA\Downloads\airline_dataset%20(2).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AGATHA\Downloads\airline_dataset%20(2).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AGATHA\Downloads\airline_dataset%20(2).xlsx" TargetMode="External"/></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Users\AGATHA\Downloads\airline_dataset%20(2).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C:\Users\AGATHA\Downloads\airline_dataset%20(2).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C:\Users\AGATHA\Downloads\airline_dataset%20(2).xlsx" TargetMode="External"/></Relationships>
</file>

<file path=ppt/charts/_rels/chart8.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file:///C:\Users\AGATHA\Downloads\airline_dataset%20(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Flight Status Distribution</a:t>
            </a:r>
          </a:p>
        </c:rich>
      </c:tx>
      <c:layout/>
      <c:overlay val="0"/>
      <c:spPr>
        <a:noFill/>
        <a:ln>
          <a:noFill/>
        </a:ln>
        <a:effectLst/>
      </c:spPr>
    </c:title>
    <c:autoTitleDeleted val="0"/>
    <c:plotArea>
      <c:layout/>
      <c:pieChart>
        <c:varyColors val="1"/>
        <c:ser>
          <c:idx val="0"/>
          <c:order val="0"/>
          <c:tx>
            <c:strRef>
              <c:f>'[airline_dataset (2).xlsx]Stat Analysis'!$G$8</c:f>
              <c:strCache>
                <c:ptCount val="1"/>
                <c:pt idx="0">
                  <c:v>Count</c:v>
                </c:pt>
              </c:strCache>
            </c:strRef>
          </c:tx>
          <c:spPr/>
          <c:explosion val="0"/>
          <c:dPt>
            <c:idx val="0"/>
            <c:bubble3D val="0"/>
            <c:spPr>
              <a:solidFill>
                <a:schemeClr val="accent1"/>
              </a:solidFill>
              <a:ln>
                <a:solidFill>
                  <a:schemeClr val="bg1"/>
                </a:solidFill>
              </a:ln>
              <a:effectLst/>
            </c:spPr>
          </c:dPt>
          <c:dPt>
            <c:idx val="1"/>
            <c:bubble3D val="0"/>
            <c:spPr>
              <a:solidFill>
                <a:schemeClr val="accent2"/>
              </a:solidFill>
              <a:ln>
                <a:solidFill>
                  <a:schemeClr val="bg1"/>
                </a:solidFill>
              </a:ln>
              <a:effectLst/>
            </c:spPr>
          </c:dPt>
          <c:dPt>
            <c:idx val="2"/>
            <c:bubble3D val="0"/>
            <c:spPr>
              <a:solidFill>
                <a:schemeClr val="accent3"/>
              </a:solidFill>
              <a:ln>
                <a:solidFill>
                  <a:schemeClr val="bg1"/>
                </a:solidFill>
              </a:ln>
              <a:effectLst/>
            </c:spPr>
          </c:dPt>
          <c:dLbls>
            <c:spPr>
              <a:solidFill>
                <a:schemeClr val="accent6">
                  <a:lumMod val="40000"/>
                  <a:lumOff val="60000"/>
                </a:schemeClr>
              </a:solidFill>
              <a:ln>
                <a:noFill/>
              </a:ln>
              <a:effectLst/>
            </c:spPr>
            <c:txPr>
              <a:bodyPr rot="0" spcFirstLastPara="0" vertOverflow="ellipsis" vert="horz" wrap="square" lIns="38100" tIns="19050" rIns="38100" bIns="19050" anchor="ctr" anchorCtr="1"/>
              <a:lstStyle/>
              <a:p>
                <a:pPr>
                  <a:defRPr lang="en-US" sz="1000" b="1"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'[airline_dataset (2).xlsx]Stat Analysis'!$F$9:$F$11</c:f>
              <c:strCache>
                <c:ptCount val="3"/>
                <c:pt idx="0">
                  <c:v>On-Time</c:v>
                </c:pt>
                <c:pt idx="1">
                  <c:v>Delayed</c:v>
                </c:pt>
                <c:pt idx="2">
                  <c:v>Cancelled</c:v>
                </c:pt>
              </c:strCache>
            </c:strRef>
          </c:cat>
          <c:val>
            <c:numRef>
              <c:f>'[airline_dataset (2).xlsx]Stat Analysis'!$G$9:$G$11</c:f>
              <c:numCache>
                <c:formatCode>General</c:formatCode>
                <c:ptCount val="3"/>
                <c:pt idx="0">
                  <c:v>335</c:v>
                </c:pt>
                <c:pt idx="1">
                  <c:v>139</c:v>
                </c:pt>
                <c:pt idx="2">
                  <c:v>26</c:v>
                </c:pt>
              </c:numCache>
            </c:numRef>
          </c:val>
        </c:ser>
        <c:dLbls>
          <c:showLegendKey val="0"/>
          <c:showVal val="1"/>
          <c:showCatName val="0"/>
          <c:showSerName val="0"/>
          <c:showPercent val="1"/>
          <c:showBubbleSize val="0"/>
          <c:showLeaderLines val="1"/>
        </c:dLbls>
        <c:firstSliceAng val="0"/>
      </c:pieChart>
      <c:spPr>
        <a:noFill/>
        <a:ln>
          <a:noFill/>
        </a:ln>
        <a:effectLst/>
      </c:spPr>
    </c:plotArea>
    <c:legend>
      <c:legendPos val="t"/>
      <c:layout>
        <c:manualLayout>
          <c:xMode val="edge"/>
          <c:yMode val="edge"/>
          <c:x val="0.559210526315789"/>
          <c:y val="0.869212962962963"/>
        </c:manualLayout>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0f6ccba0-4aef-4cc3-8007-13788e18773d}"/>
      </c:ext>
    </c:extLst>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Average Ticket Price by Class</a:t>
            </a:r>
          </a:p>
        </c:rich>
      </c:tx>
      <c:layout/>
      <c:overlay val="0"/>
      <c:spPr>
        <a:noFill/>
        <a:ln>
          <a:noFill/>
        </a:ln>
        <a:effectLst/>
      </c:spPr>
    </c:title>
    <c:autoTitleDeleted val="0"/>
    <c:plotArea>
      <c:layout/>
      <c:barChart>
        <c:barDir val="bar"/>
        <c:grouping val="stacked"/>
        <c:varyColors val="0"/>
        <c:ser>
          <c:idx val="0"/>
          <c:order val="0"/>
          <c:tx>
            <c:strRef>
              <c:f>'[airline_dataset (2).xlsx]Stat Analysis'!$C$37</c:f>
              <c:strCache>
                <c:ptCount val="1"/>
                <c:pt idx="0">
                  <c:v>Average Price</c:v>
                </c:pt>
              </c:strCache>
            </c:strRef>
          </c:tx>
          <c:spPr>
            <a:solidFill>
              <a:schemeClr val="tx2">
                <a:lumMod val="60000"/>
                <a:lumOff val="40000"/>
              </a:schemeClr>
            </a:solidFill>
            <a:ln>
              <a:noFill/>
            </a:ln>
            <a:effectLst/>
          </c:spPr>
          <c:invertIfNegative val="0"/>
          <c:dLbls>
            <c:delete val="1"/>
          </c:dLbls>
          <c:cat>
            <c:strRef>
              <c:f>'[airline_dataset (2).xlsx]Stat Analysis'!$B$38:$B$40</c:f>
              <c:strCache>
                <c:ptCount val="3"/>
                <c:pt idx="0">
                  <c:v>Economy</c:v>
                </c:pt>
                <c:pt idx="1">
                  <c:v>Business</c:v>
                </c:pt>
                <c:pt idx="2">
                  <c:v>First Class</c:v>
                </c:pt>
              </c:strCache>
            </c:strRef>
          </c:cat>
          <c:val>
            <c:numRef>
              <c:f>'[airline_dataset (2).xlsx]Stat Analysis'!$C$38:$C$40</c:f>
              <c:numCache>
                <c:formatCode>General</c:formatCode>
                <c:ptCount val="3"/>
                <c:pt idx="0">
                  <c:v>586.994060283688</c:v>
                </c:pt>
                <c:pt idx="1">
                  <c:v>624.398629420669</c:v>
                </c:pt>
                <c:pt idx="2">
                  <c:v>634.106501203991</c:v>
                </c:pt>
              </c:numCache>
            </c:numRef>
          </c:val>
        </c:ser>
        <c:dLbls>
          <c:showLegendKey val="0"/>
          <c:showVal val="0"/>
          <c:showCatName val="0"/>
          <c:showSerName val="0"/>
          <c:showPercent val="0"/>
          <c:showBubbleSize val="0"/>
        </c:dLbls>
        <c:gapWidth val="140"/>
        <c:overlap val="100"/>
        <c:axId val="214043949"/>
        <c:axId val="301961830"/>
      </c:barChart>
      <c:catAx>
        <c:axId val="214043949"/>
        <c:scaling>
          <c:orientation val="minMax"/>
        </c:scaling>
        <c:delete val="0"/>
        <c:axPos val="l"/>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01961830"/>
        <c:crosses val="autoZero"/>
        <c:auto val="1"/>
        <c:lblAlgn val="ctr"/>
        <c:lblOffset val="100"/>
        <c:noMultiLvlLbl val="0"/>
      </c:catAx>
      <c:valAx>
        <c:axId val="301961830"/>
        <c:scaling>
          <c:orientation val="minMax"/>
        </c:scaling>
        <c:delete val="0"/>
        <c:axPos val="b"/>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214043949"/>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d0d16980-608a-4d2a-8d1a-bd2d4c599c29}"/>
      </c:ext>
    </c:extLst>
  </c:chart>
  <c:spPr>
    <a:solidFill>
      <a:schemeClr val="bg2"/>
    </a:solidFill>
    <a:ln w="9525" cap="flat" cmpd="sng" algn="ctr">
      <a:solidFill>
        <a:schemeClr val="tx1">
          <a:lumMod val="15000"/>
          <a:lumOff val="85000"/>
        </a:schemeClr>
      </a:solidFill>
      <a:round/>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[airline_dataset (2).xlsx]Pivot Tables!PivotTable7</c:name>
    <c:fmtId val="-1"/>
  </c:pivotSource>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Monthly Flight Count 2022-2024</a:t>
            </a:r>
          </a:p>
        </c:rich>
      </c:tx>
      <c:layout/>
      <c:overlay val="0"/>
      <c:spPr>
        <a:noFill/>
        <a:ln>
          <a:noFill/>
        </a:ln>
        <a:effectLst/>
      </c:spPr>
    </c:title>
    <c:autoTitleDeleted val="0"/>
    <c:plotArea>
      <c:layout/>
      <c:lineChart>
        <c:grouping val="standard"/>
        <c:varyColors val="0"/>
        <c:ser>
          <c:idx val="0"/>
          <c:order val="0"/>
          <c:tx>
            <c:strRef>
              <c:f>'[airline_dataset (2).xlsx]Pivot Tables'!$C$46</c:f>
              <c:strCache>
                <c:ptCount val="1"/>
                <c:pt idx="0">
                  <c:v>Total</c:v>
                </c:pt>
              </c:strCache>
            </c:strRef>
          </c:tx>
          <c:spPr>
            <a:ln w="28575" cap="rnd">
              <a:solidFill>
                <a:schemeClr val="accent1"/>
              </a:solidFill>
              <a:round/>
            </a:ln>
            <a:effectLst/>
          </c:spPr>
          <c:marker>
            <c:symbol val="none"/>
          </c:marker>
          <c:dLbls>
            <c:delete val="1"/>
          </c:dLbls>
          <c:cat>
            <c:strRef>
              <c:f>'[airline_dataset (2).xlsx]Pivot Tables'!$B$47:$B$82</c:f>
              <c:strCache>
                <c:ptCount val="36"/>
                <c:pt idx="0">
                  <c:v>2022-01</c:v>
                </c:pt>
                <c:pt idx="1">
                  <c:v>2022-02</c:v>
                </c:pt>
                <c:pt idx="2">
                  <c:v>2022-03</c:v>
                </c:pt>
                <c:pt idx="3">
                  <c:v>2022-04</c:v>
                </c:pt>
                <c:pt idx="4">
                  <c:v>2022-05</c:v>
                </c:pt>
                <c:pt idx="5">
                  <c:v>2022-06</c:v>
                </c:pt>
                <c:pt idx="6">
                  <c:v>2022-07</c:v>
                </c:pt>
                <c:pt idx="7">
                  <c:v>2022-08</c:v>
                </c:pt>
                <c:pt idx="8">
                  <c:v>2022-09</c:v>
                </c:pt>
                <c:pt idx="9">
                  <c:v>2022-10</c:v>
                </c:pt>
                <c:pt idx="10">
                  <c:v>2022-11</c:v>
                </c:pt>
                <c:pt idx="11">
                  <c:v>2022-12</c:v>
                </c:pt>
                <c:pt idx="12">
                  <c:v>2023-01</c:v>
                </c:pt>
                <c:pt idx="13">
                  <c:v>2023-02</c:v>
                </c:pt>
                <c:pt idx="14">
                  <c:v>2023-03</c:v>
                </c:pt>
                <c:pt idx="15">
                  <c:v>2023-04</c:v>
                </c:pt>
                <c:pt idx="16">
                  <c:v>2023-05</c:v>
                </c:pt>
                <c:pt idx="17">
                  <c:v>2023-06</c:v>
                </c:pt>
                <c:pt idx="18">
                  <c:v>2023-07</c:v>
                </c:pt>
                <c:pt idx="19">
                  <c:v>2023-08</c:v>
                </c:pt>
                <c:pt idx="20">
                  <c:v>2023-09</c:v>
                </c:pt>
                <c:pt idx="21">
                  <c:v>2023-10</c:v>
                </c:pt>
                <c:pt idx="22">
                  <c:v>2023-11</c:v>
                </c:pt>
                <c:pt idx="23">
                  <c:v>2023-12</c:v>
                </c:pt>
                <c:pt idx="24">
                  <c:v>2024-01</c:v>
                </c:pt>
                <c:pt idx="25">
                  <c:v>2024-02</c:v>
                </c:pt>
                <c:pt idx="26">
                  <c:v>2024-03</c:v>
                </c:pt>
                <c:pt idx="27">
                  <c:v>2024-04</c:v>
                </c:pt>
                <c:pt idx="28">
                  <c:v>2024-05</c:v>
                </c:pt>
                <c:pt idx="29">
                  <c:v>2024-06</c:v>
                </c:pt>
                <c:pt idx="30">
                  <c:v>2024-07</c:v>
                </c:pt>
                <c:pt idx="31">
                  <c:v>2024-08</c:v>
                </c:pt>
                <c:pt idx="32">
                  <c:v>2024-09</c:v>
                </c:pt>
                <c:pt idx="33">
                  <c:v>2024-10</c:v>
                </c:pt>
                <c:pt idx="34">
                  <c:v>2024-11</c:v>
                </c:pt>
                <c:pt idx="35">
                  <c:v>2024-12</c:v>
                </c:pt>
              </c:strCache>
            </c:strRef>
          </c:cat>
          <c:val>
            <c:numRef>
              <c:f>'[airline_dataset (2).xlsx]Pivot Tables'!$C$47:$C$82</c:f>
              <c:numCache>
                <c:formatCode>General</c:formatCode>
                <c:ptCount val="36"/>
                <c:pt idx="0">
                  <c:v>12</c:v>
                </c:pt>
                <c:pt idx="1">
                  <c:v>11</c:v>
                </c:pt>
                <c:pt idx="2">
                  <c:v>17</c:v>
                </c:pt>
                <c:pt idx="3">
                  <c:v>17</c:v>
                </c:pt>
                <c:pt idx="4">
                  <c:v>11</c:v>
                </c:pt>
                <c:pt idx="5">
                  <c:v>18</c:v>
                </c:pt>
                <c:pt idx="6">
                  <c:v>21</c:v>
                </c:pt>
                <c:pt idx="7">
                  <c:v>14</c:v>
                </c:pt>
                <c:pt idx="8">
                  <c:v>14</c:v>
                </c:pt>
                <c:pt idx="9">
                  <c:v>18</c:v>
                </c:pt>
                <c:pt idx="10">
                  <c:v>15</c:v>
                </c:pt>
                <c:pt idx="11">
                  <c:v>12</c:v>
                </c:pt>
                <c:pt idx="12">
                  <c:v>11</c:v>
                </c:pt>
                <c:pt idx="13">
                  <c:v>9</c:v>
                </c:pt>
                <c:pt idx="14">
                  <c:v>15</c:v>
                </c:pt>
                <c:pt idx="15">
                  <c:v>7</c:v>
                </c:pt>
                <c:pt idx="16">
                  <c:v>19</c:v>
                </c:pt>
                <c:pt idx="17">
                  <c:v>12</c:v>
                </c:pt>
                <c:pt idx="18">
                  <c:v>13</c:v>
                </c:pt>
                <c:pt idx="19">
                  <c:v>10</c:v>
                </c:pt>
                <c:pt idx="20">
                  <c:v>12</c:v>
                </c:pt>
                <c:pt idx="21">
                  <c:v>14</c:v>
                </c:pt>
                <c:pt idx="22">
                  <c:v>16</c:v>
                </c:pt>
                <c:pt idx="23">
                  <c:v>13</c:v>
                </c:pt>
                <c:pt idx="24">
                  <c:v>16</c:v>
                </c:pt>
                <c:pt idx="25">
                  <c:v>15</c:v>
                </c:pt>
                <c:pt idx="26">
                  <c:v>15</c:v>
                </c:pt>
                <c:pt idx="27">
                  <c:v>9</c:v>
                </c:pt>
                <c:pt idx="28">
                  <c:v>21</c:v>
                </c:pt>
                <c:pt idx="29">
                  <c:v>15</c:v>
                </c:pt>
                <c:pt idx="30">
                  <c:v>13</c:v>
                </c:pt>
                <c:pt idx="31">
                  <c:v>14</c:v>
                </c:pt>
                <c:pt idx="32">
                  <c:v>12</c:v>
                </c:pt>
                <c:pt idx="33">
                  <c:v>10</c:v>
                </c:pt>
                <c:pt idx="34">
                  <c:v>13</c:v>
                </c:pt>
                <c:pt idx="35">
                  <c:v>16</c:v>
                </c:pt>
              </c:numCache>
            </c:numRef>
          </c:val>
          <c:smooth val="0"/>
        </c:ser>
        <c:dLbls>
          <c:showLegendKey val="0"/>
          <c:showVal val="0"/>
          <c:showCatName val="0"/>
          <c:showSerName val="0"/>
          <c:showPercent val="0"/>
          <c:showBubbleSize val="0"/>
        </c:dLbls>
        <c:marker val="0"/>
        <c:smooth val="0"/>
        <c:axId val="27646864"/>
        <c:axId val="453901895"/>
      </c:lineChart>
      <c:catAx>
        <c:axId val="27646864"/>
        <c:scaling>
          <c:orientation val="minMax"/>
        </c:scaling>
        <c:delete val="0"/>
        <c:axPos val="b"/>
        <c:title>
          <c:tx>
            <c:rich>
              <a:bodyPr rot="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Month</a:t>
                </a:r>
              </a:p>
            </c:rich>
          </c:tx>
          <c:layout/>
          <c:overlay val="0"/>
          <c:spPr>
            <a:noFill/>
            <a:ln>
              <a:noFill/>
            </a:ln>
            <a:effectLst/>
          </c:sp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453901895"/>
        <c:crosses val="autoZero"/>
        <c:auto val="1"/>
        <c:lblAlgn val="ctr"/>
        <c:lblOffset val="100"/>
        <c:noMultiLvlLbl val="0"/>
      </c:catAx>
      <c:valAx>
        <c:axId val="453901895"/>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Number of Flights</a:t>
                </a:r>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27646864"/>
        <c:crosses val="autoZero"/>
        <c:crossBetween val="between"/>
      </c:valAx>
      <c:spPr>
        <a:noFill/>
        <a:ln>
          <a:noFill/>
        </a:ln>
        <a:effectLst/>
      </c:spPr>
    </c:plotArea>
    <c:plotVisOnly val="1"/>
    <c:dispBlanksAs val="gap"/>
    <c:showDLblsOverMax val="0"/>
    <c:extLst>
      <c:ext uri="{0b15fc19-7d7d-44ad-8c2d-2c3a37ce22c3}">
        <chartProps xmlns="https://web.wps.cn/et/2018/main" chartId="{fb45fcf2-f875-4ff7-b512-20e5b2ffef4c}"/>
      </c:ext>
    </c:extLst>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rPr b="1"/>
              <a:t>Delay Minutes Distribution</a:t>
            </a:r>
            <a:endParaRPr b="1"/>
          </a:p>
        </c:rich>
      </c:tx>
      <c:layout/>
      <c:overlay val="0"/>
      <c:spPr>
        <a:noFill/>
        <a:ln>
          <a:noFill/>
        </a:ln>
        <a:effectLst/>
      </c:spPr>
    </c:title>
    <c:autoTitleDeleted val="0"/>
    <c:plotArea>
      <c:layout/>
      <c:barChart>
        <c:barDir val="col"/>
        <c:grouping val="clustered"/>
        <c:varyColors val="0"/>
        <c:ser>
          <c:idx val="0"/>
          <c:order val="0"/>
          <c:tx>
            <c:strRef>
              <c:f>'[airline_dataset (2).xlsx]Stat Analysis'!$C$55</c:f>
              <c:strCache>
                <c:ptCount val="1"/>
                <c:pt idx="0">
                  <c:v>Count</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1000" b="1"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'[airline_dataset (2).xlsx]Stat Analysis'!$B$56:$B$62</c:f>
              <c:strCache>
                <c:ptCount val="7"/>
                <c:pt idx="0">
                  <c:v>0 Mins(No Delay)</c:v>
                </c:pt>
                <c:pt idx="1">
                  <c:v>0-30 Mins</c:v>
                </c:pt>
                <c:pt idx="2">
                  <c:v>31-60 Mins</c:v>
                </c:pt>
                <c:pt idx="3">
                  <c:v>61-90 Mins</c:v>
                </c:pt>
                <c:pt idx="4">
                  <c:v>91-120 Mins</c:v>
                </c:pt>
                <c:pt idx="5">
                  <c:v>121-150 Mins</c:v>
                </c:pt>
                <c:pt idx="6">
                  <c:v>151-180 Mins</c:v>
                </c:pt>
              </c:strCache>
            </c:strRef>
          </c:cat>
          <c:val>
            <c:numRef>
              <c:f>'[airline_dataset (2).xlsx]Stat Analysis'!$C$56:$C$62</c:f>
              <c:numCache>
                <c:formatCode>General</c:formatCode>
                <c:ptCount val="7"/>
                <c:pt idx="0">
                  <c:v>367</c:v>
                </c:pt>
                <c:pt idx="1">
                  <c:v>15</c:v>
                </c:pt>
                <c:pt idx="2">
                  <c:v>27</c:v>
                </c:pt>
                <c:pt idx="3">
                  <c:v>23</c:v>
                </c:pt>
                <c:pt idx="4">
                  <c:v>23</c:v>
                </c:pt>
                <c:pt idx="5">
                  <c:v>21</c:v>
                </c:pt>
                <c:pt idx="6">
                  <c:v>24</c:v>
                </c:pt>
              </c:numCache>
            </c:numRef>
          </c:val>
        </c:ser>
        <c:dLbls>
          <c:showLegendKey val="0"/>
          <c:showVal val="1"/>
          <c:showCatName val="0"/>
          <c:showSerName val="0"/>
          <c:showPercent val="0"/>
          <c:showBubbleSize val="0"/>
        </c:dLbls>
        <c:gapWidth val="0"/>
        <c:overlap val="-28"/>
        <c:axId val="481121815"/>
        <c:axId val="896192437"/>
      </c:barChart>
      <c:catAx>
        <c:axId val="481121815"/>
        <c:scaling>
          <c:orientation val="minMax"/>
        </c:scaling>
        <c:delete val="0"/>
        <c:axPos val="b"/>
        <c:title>
          <c:tx>
            <c:rich>
              <a:bodyPr rot="0" spcFirstLastPara="0" vertOverflow="ellipsis" vert="horz" wrap="square" anchor="ctr" anchorCtr="1"/>
              <a:lstStyle/>
              <a:p>
                <a:pPr defTabSz="914400">
                  <a:defRPr lang="en-US" sz="1000" b="1" i="0" u="none" strike="noStrike" kern="1200" baseline="0">
                    <a:solidFill>
                      <a:schemeClr val="tx1">
                        <a:lumMod val="65000"/>
                        <a:lumOff val="35000"/>
                      </a:schemeClr>
                    </a:solidFill>
                    <a:latin typeface="+mn-lt"/>
                    <a:ea typeface="+mn-ea"/>
                    <a:cs typeface="+mn-cs"/>
                  </a:defRPr>
                </a:pPr>
                <a:r>
                  <a:rPr b="1"/>
                  <a:t>Delay Range</a:t>
                </a:r>
                <a:endParaRPr b="1"/>
              </a:p>
            </c:rich>
          </c:tx>
          <c:layout/>
          <c:overlay val="0"/>
          <c:spPr>
            <a:noFill/>
            <a:ln>
              <a:noFill/>
            </a:ln>
            <a:effectLst/>
          </c:sp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p>
        </c:txPr>
        <c:crossAx val="896192437"/>
        <c:crosses val="autoZero"/>
        <c:auto val="1"/>
        <c:lblAlgn val="ctr"/>
        <c:lblOffset val="100"/>
        <c:noMultiLvlLbl val="0"/>
      </c:catAx>
      <c:valAx>
        <c:axId val="896192437"/>
        <c:scaling>
          <c:orientation val="minMax"/>
        </c:scaling>
        <c:delete val="1"/>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en-US" sz="1000" b="1" i="0" u="none" strike="noStrike" kern="1200" baseline="0">
                    <a:solidFill>
                      <a:schemeClr val="tx1">
                        <a:lumMod val="65000"/>
                        <a:lumOff val="35000"/>
                      </a:schemeClr>
                    </a:solidFill>
                    <a:latin typeface="+mn-lt"/>
                    <a:ea typeface="+mn-ea"/>
                    <a:cs typeface="+mn-cs"/>
                  </a:defRPr>
                </a:pPr>
                <a:r>
                  <a:rPr b="1"/>
                  <a:t>Number of Flights</a:t>
                </a:r>
                <a:endParaRPr b="1"/>
              </a:p>
            </c:rich>
          </c:tx>
          <c:layout/>
          <c:overlay val="0"/>
          <c:spPr>
            <a:noFill/>
            <a:ln>
              <a:noFill/>
            </a:ln>
            <a:effectLst/>
          </c:spPr>
        </c:title>
        <c:numFmt formatCode="General" sourceLinked="1"/>
        <c:majorTickMark val="none"/>
        <c:minorTickMark val="none"/>
        <c:tickLblPos val="nextTo"/>
        <c:txPr>
          <a:bodyPr rot="-60000000" spcFirstLastPara="0"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p>
        </c:txPr>
        <c:crossAx val="481121815"/>
        <c:crosses val="autoZero"/>
        <c:crossBetween val="between"/>
      </c:valAx>
      <c:spPr>
        <a:noFill/>
        <a:ln>
          <a:noFill/>
        </a:ln>
        <a:effectLst/>
      </c:spPr>
    </c:plotArea>
    <c:plotVisOnly val="1"/>
    <c:dispBlanksAs val="gap"/>
    <c:showDLblsOverMax val="0"/>
    <c:extLst>
      <c:ext uri="{0b15fc19-7d7d-44ad-8c2d-2c3a37ce22c3}">
        <chartProps xmlns="https://web.wps.cn/et/2018/main" chartId="{b12c06fc-3108-43bc-abc5-4cd402794ea3}"/>
      </c:ext>
    </c:extLst>
  </c:chart>
  <c:spPr>
    <a:solidFill>
      <a:schemeClr val="bg1"/>
    </a:solidFill>
    <a:ln w="9525" cap="flat" cmpd="sng" algn="ctr">
      <a:solidFill>
        <a:schemeClr val="tx1">
          <a:lumMod val="15000"/>
          <a:lumOff val="85000"/>
        </a:schemeClr>
      </a:solidFill>
      <a:round/>
    </a:ln>
    <a:effectLst/>
  </c:spPr>
  <c:txPr>
    <a:bodyPr/>
    <a:lstStyle/>
    <a:p>
      <a:pPr>
        <a:defRPr lang="en-US" b="1"/>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rPr b="1"/>
              <a:t>Profit vs Fuel Cost</a:t>
            </a:r>
            <a:endParaRPr b="1"/>
          </a:p>
        </c:rich>
      </c:tx>
      <c:layout/>
      <c:overlay val="0"/>
      <c:spPr>
        <a:noFill/>
        <a:ln>
          <a:noFill/>
        </a:ln>
        <a:effectLst/>
      </c:spPr>
    </c:title>
    <c:autoTitleDeleted val="0"/>
    <c:plotArea>
      <c:layout/>
      <c:scatterChart>
        <c:scatterStyle val="marker"/>
        <c:varyColors val="0"/>
        <c:ser>
          <c:idx val="0"/>
          <c:order val="0"/>
          <c:tx>
            <c:strRef>
              <c:f>'[airline_dataset (2).xlsx]💰 Revenue (2)'!$J$1</c:f>
              <c:strCache>
                <c:ptCount val="1"/>
                <c:pt idx="0">
                  <c:v>Profit</c:v>
                </c:pt>
              </c:strCache>
            </c:strRef>
          </c:tx>
          <c:spPr>
            <a:ln w="19050" cap="rnd">
              <a:noFill/>
              <a:round/>
            </a:ln>
            <a:effectLst/>
          </c:spPr>
          <c:marker>
            <c:symbol val="circle"/>
            <c:size val="5"/>
            <c:spPr>
              <a:solidFill>
                <a:schemeClr val="accent1"/>
              </a:solidFill>
              <a:ln w="9525">
                <a:solidFill>
                  <a:schemeClr val="accent1"/>
                </a:solidFill>
              </a:ln>
              <a:effectLst/>
            </c:spPr>
          </c:marker>
          <c:dLbls>
            <c:delete val="1"/>
          </c:dLbls>
          <c:xVal>
            <c:numRef>
              <c:f>'[airline_dataset (2).xlsx]💰 Revenue (2)'!$I$2:$I$509</c:f>
              <c:numCache>
                <c:formatCode>General</c:formatCode>
                <c:ptCount val="508"/>
                <c:pt idx="0">
                  <c:v>8636.75</c:v>
                </c:pt>
                <c:pt idx="1">
                  <c:v>13816.36</c:v>
                </c:pt>
                <c:pt idx="2">
                  <c:v>25794.85</c:v>
                </c:pt>
                <c:pt idx="3">
                  <c:v>27332.9</c:v>
                </c:pt>
                <c:pt idx="4">
                  <c:v>26164</c:v>
                </c:pt>
                <c:pt idx="5">
                  <c:v>29347.88</c:v>
                </c:pt>
                <c:pt idx="6">
                  <c:v>7650</c:v>
                </c:pt>
                <c:pt idx="7">
                  <c:v>29227.75</c:v>
                </c:pt>
                <c:pt idx="8">
                  <c:v>32325.6</c:v>
                </c:pt>
                <c:pt idx="9">
                  <c:v>16642.92</c:v>
                </c:pt>
                <c:pt idx="10">
                  <c:v>7428.95</c:v>
                </c:pt>
                <c:pt idx="11">
                  <c:v>11245.48</c:v>
                </c:pt>
                <c:pt idx="12">
                  <c:v>20093.88</c:v>
                </c:pt>
                <c:pt idx="13">
                  <c:v>30039.01</c:v>
                </c:pt>
                <c:pt idx="14">
                  <c:v>30464.08</c:v>
                </c:pt>
                <c:pt idx="15">
                  <c:v>10209.9</c:v>
                </c:pt>
                <c:pt idx="16">
                  <c:v>14325.28</c:v>
                </c:pt>
                <c:pt idx="17">
                  <c:v>23038.41</c:v>
                </c:pt>
                <c:pt idx="18">
                  <c:v>19136.95</c:v>
                </c:pt>
                <c:pt idx="19">
                  <c:v>5115.76</c:v>
                </c:pt>
                <c:pt idx="20">
                  <c:v>23735.64</c:v>
                </c:pt>
                <c:pt idx="21">
                  <c:v>28864.25</c:v>
                </c:pt>
                <c:pt idx="22">
                  <c:v>34866.97</c:v>
                </c:pt>
                <c:pt idx="23">
                  <c:v>15148.55</c:v>
                </c:pt>
                <c:pt idx="24">
                  <c:v>28125.69</c:v>
                </c:pt>
                <c:pt idx="25">
                  <c:v>27071.6</c:v>
                </c:pt>
                <c:pt idx="26">
                  <c:v>20329.43</c:v>
                </c:pt>
                <c:pt idx="27">
                  <c:v>30190.87</c:v>
                </c:pt>
                <c:pt idx="28">
                  <c:v>32745.87</c:v>
                </c:pt>
                <c:pt idx="29">
                  <c:v>34198.76</c:v>
                </c:pt>
                <c:pt idx="30">
                  <c:v>6961.91</c:v>
                </c:pt>
                <c:pt idx="31">
                  <c:v>12408.74</c:v>
                </c:pt>
                <c:pt idx="32">
                  <c:v>35457</c:v>
                </c:pt>
                <c:pt idx="33">
                  <c:v>6290.72</c:v>
                </c:pt>
                <c:pt idx="34">
                  <c:v>37130.67</c:v>
                </c:pt>
                <c:pt idx="35">
                  <c:v>27143.15</c:v>
                </c:pt>
                <c:pt idx="36">
                  <c:v>10974.13</c:v>
                </c:pt>
                <c:pt idx="37">
                  <c:v>25824.21</c:v>
                </c:pt>
                <c:pt idx="38">
                  <c:v>19917.4</c:v>
                </c:pt>
                <c:pt idx="39">
                  <c:v>39154.86</c:v>
                </c:pt>
                <c:pt idx="40">
                  <c:v>38764.23</c:v>
                </c:pt>
                <c:pt idx="41">
                  <c:v>16742.63</c:v>
                </c:pt>
                <c:pt idx="42">
                  <c:v>10881.78</c:v>
                </c:pt>
                <c:pt idx="43">
                  <c:v>37398.64</c:v>
                </c:pt>
                <c:pt idx="44">
                  <c:v>27126.81</c:v>
                </c:pt>
                <c:pt idx="45">
                  <c:v>22043.86</c:v>
                </c:pt>
                <c:pt idx="46">
                  <c:v>29735.94</c:v>
                </c:pt>
                <c:pt idx="47">
                  <c:v>33259.41</c:v>
                </c:pt>
                <c:pt idx="48">
                  <c:v>27393.9</c:v>
                </c:pt>
                <c:pt idx="49">
                  <c:v>11109.21</c:v>
                </c:pt>
                <c:pt idx="50">
                  <c:v>26421.74</c:v>
                </c:pt>
                <c:pt idx="51">
                  <c:v>5159.95</c:v>
                </c:pt>
                <c:pt idx="52">
                  <c:v>39187.7</c:v>
                </c:pt>
                <c:pt idx="53">
                  <c:v>26926.25</c:v>
                </c:pt>
                <c:pt idx="54">
                  <c:v>32881.45</c:v>
                </c:pt>
                <c:pt idx="55">
                  <c:v>10591.59</c:v>
                </c:pt>
                <c:pt idx="56">
                  <c:v>27570.13</c:v>
                </c:pt>
                <c:pt idx="57">
                  <c:v>26588.68</c:v>
                </c:pt>
                <c:pt idx="58">
                  <c:v>30914.59</c:v>
                </c:pt>
                <c:pt idx="59">
                  <c:v>6017.28</c:v>
                </c:pt>
                <c:pt idx="60">
                  <c:v>30249.11</c:v>
                </c:pt>
                <c:pt idx="61">
                  <c:v>22778.5884959349</c:v>
                </c:pt>
                <c:pt idx="62">
                  <c:v>8854.65</c:v>
                </c:pt>
                <c:pt idx="63">
                  <c:v>35446.02</c:v>
                </c:pt>
                <c:pt idx="64">
                  <c:v>25478.23</c:v>
                </c:pt>
                <c:pt idx="65">
                  <c:v>37476.05</c:v>
                </c:pt>
                <c:pt idx="66">
                  <c:v>21020.91</c:v>
                </c:pt>
                <c:pt idx="67">
                  <c:v>12077.38</c:v>
                </c:pt>
                <c:pt idx="68">
                  <c:v>8888.82</c:v>
                </c:pt>
                <c:pt idx="69">
                  <c:v>17025.16</c:v>
                </c:pt>
                <c:pt idx="70">
                  <c:v>27329.97</c:v>
                </c:pt>
                <c:pt idx="71">
                  <c:v>24346.45</c:v>
                </c:pt>
                <c:pt idx="72">
                  <c:v>22122.47</c:v>
                </c:pt>
                <c:pt idx="73">
                  <c:v>14770.98</c:v>
                </c:pt>
                <c:pt idx="74">
                  <c:v>20198.71</c:v>
                </c:pt>
                <c:pt idx="75">
                  <c:v>36438.81</c:v>
                </c:pt>
                <c:pt idx="76">
                  <c:v>21472.84</c:v>
                </c:pt>
                <c:pt idx="77">
                  <c:v>19899.42</c:v>
                </c:pt>
                <c:pt idx="78">
                  <c:v>13417.9</c:v>
                </c:pt>
                <c:pt idx="79">
                  <c:v>19231.63</c:v>
                </c:pt>
                <c:pt idx="80">
                  <c:v>27667.41</c:v>
                </c:pt>
                <c:pt idx="81">
                  <c:v>28416.25</c:v>
                </c:pt>
                <c:pt idx="82">
                  <c:v>31155.03</c:v>
                </c:pt>
                <c:pt idx="83">
                  <c:v>9851.84</c:v>
                </c:pt>
                <c:pt idx="84">
                  <c:v>17964.72</c:v>
                </c:pt>
                <c:pt idx="85">
                  <c:v>7474.45</c:v>
                </c:pt>
                <c:pt idx="86">
                  <c:v>15380.65</c:v>
                </c:pt>
                <c:pt idx="87">
                  <c:v>7833.57</c:v>
                </c:pt>
                <c:pt idx="88">
                  <c:v>36850.14</c:v>
                </c:pt>
                <c:pt idx="89">
                  <c:v>17795.68</c:v>
                </c:pt>
                <c:pt idx="90">
                  <c:v>17825.15</c:v>
                </c:pt>
                <c:pt idx="91">
                  <c:v>22778.5884959349</c:v>
                </c:pt>
                <c:pt idx="92">
                  <c:v>8974.52</c:v>
                </c:pt>
                <c:pt idx="93">
                  <c:v>31631.01</c:v>
                </c:pt>
                <c:pt idx="94">
                  <c:v>19802.52</c:v>
                </c:pt>
                <c:pt idx="95">
                  <c:v>22017.94</c:v>
                </c:pt>
                <c:pt idx="96">
                  <c:v>23616.66</c:v>
                </c:pt>
                <c:pt idx="97">
                  <c:v>17885.1</c:v>
                </c:pt>
                <c:pt idx="98">
                  <c:v>35939.26</c:v>
                </c:pt>
                <c:pt idx="99">
                  <c:v>15093.04</c:v>
                </c:pt>
                <c:pt idx="100">
                  <c:v>8920.86</c:v>
                </c:pt>
                <c:pt idx="101">
                  <c:v>23224.07</c:v>
                </c:pt>
                <c:pt idx="102">
                  <c:v>28884.12</c:v>
                </c:pt>
                <c:pt idx="103">
                  <c:v>20535.1</c:v>
                </c:pt>
                <c:pt idx="104">
                  <c:v>5771.28</c:v>
                </c:pt>
                <c:pt idx="105">
                  <c:v>16997.74</c:v>
                </c:pt>
                <c:pt idx="106">
                  <c:v>28304.94</c:v>
                </c:pt>
                <c:pt idx="107">
                  <c:v>24853.81</c:v>
                </c:pt>
                <c:pt idx="108">
                  <c:v>14100.26</c:v>
                </c:pt>
                <c:pt idx="109">
                  <c:v>6656.16</c:v>
                </c:pt>
                <c:pt idx="110">
                  <c:v>26652.06</c:v>
                </c:pt>
                <c:pt idx="111">
                  <c:v>11137.58</c:v>
                </c:pt>
                <c:pt idx="112">
                  <c:v>9092.11</c:v>
                </c:pt>
                <c:pt idx="113">
                  <c:v>17938.53</c:v>
                </c:pt>
                <c:pt idx="114">
                  <c:v>39230.79</c:v>
                </c:pt>
                <c:pt idx="115">
                  <c:v>10690.92</c:v>
                </c:pt>
                <c:pt idx="116">
                  <c:v>22479.59</c:v>
                </c:pt>
                <c:pt idx="117">
                  <c:v>10461.86</c:v>
                </c:pt>
                <c:pt idx="118">
                  <c:v>15344.49</c:v>
                </c:pt>
                <c:pt idx="119">
                  <c:v>30499.03</c:v>
                </c:pt>
                <c:pt idx="120">
                  <c:v>30607.42</c:v>
                </c:pt>
                <c:pt idx="121">
                  <c:v>9090.66</c:v>
                </c:pt>
                <c:pt idx="122">
                  <c:v>8236.84</c:v>
                </c:pt>
                <c:pt idx="123">
                  <c:v>12775.03</c:v>
                </c:pt>
                <c:pt idx="124">
                  <c:v>7925.63</c:v>
                </c:pt>
                <c:pt idx="125">
                  <c:v>18804.83</c:v>
                </c:pt>
                <c:pt idx="126">
                  <c:v>17637.27</c:v>
                </c:pt>
                <c:pt idx="127">
                  <c:v>18049.09</c:v>
                </c:pt>
                <c:pt idx="128">
                  <c:v>20595.16</c:v>
                </c:pt>
                <c:pt idx="129">
                  <c:v>20547.71</c:v>
                </c:pt>
                <c:pt idx="130">
                  <c:v>33198.55</c:v>
                </c:pt>
                <c:pt idx="131">
                  <c:v>19496.78</c:v>
                </c:pt>
                <c:pt idx="132">
                  <c:v>15613.09</c:v>
                </c:pt>
                <c:pt idx="133">
                  <c:v>38603.34</c:v>
                </c:pt>
                <c:pt idx="134">
                  <c:v>27358.21</c:v>
                </c:pt>
                <c:pt idx="135">
                  <c:v>29858.65</c:v>
                </c:pt>
                <c:pt idx="136">
                  <c:v>11974.01</c:v>
                </c:pt>
                <c:pt idx="137">
                  <c:v>6478.15</c:v>
                </c:pt>
                <c:pt idx="138">
                  <c:v>30894.96</c:v>
                </c:pt>
                <c:pt idx="139">
                  <c:v>15505.93</c:v>
                </c:pt>
                <c:pt idx="140">
                  <c:v>28306.97</c:v>
                </c:pt>
                <c:pt idx="141">
                  <c:v>29074.51</c:v>
                </c:pt>
                <c:pt idx="142">
                  <c:v>22256.76</c:v>
                </c:pt>
                <c:pt idx="143">
                  <c:v>24795.11</c:v>
                </c:pt>
                <c:pt idx="144">
                  <c:v>33639.83</c:v>
                </c:pt>
                <c:pt idx="145">
                  <c:v>10699.65</c:v>
                </c:pt>
                <c:pt idx="146">
                  <c:v>21136.54</c:v>
                </c:pt>
                <c:pt idx="147">
                  <c:v>14543.46</c:v>
                </c:pt>
                <c:pt idx="148">
                  <c:v>15208.24</c:v>
                </c:pt>
                <c:pt idx="149">
                  <c:v>31825.49</c:v>
                </c:pt>
                <c:pt idx="150">
                  <c:v>10849.76</c:v>
                </c:pt>
                <c:pt idx="151">
                  <c:v>28973.85</c:v>
                </c:pt>
                <c:pt idx="152">
                  <c:v>25301.63</c:v>
                </c:pt>
                <c:pt idx="153">
                  <c:v>14849.62</c:v>
                </c:pt>
                <c:pt idx="154">
                  <c:v>36877.58</c:v>
                </c:pt>
                <c:pt idx="155">
                  <c:v>34105.07</c:v>
                </c:pt>
                <c:pt idx="156">
                  <c:v>37061.09</c:v>
                </c:pt>
                <c:pt idx="157">
                  <c:v>21783.14</c:v>
                </c:pt>
                <c:pt idx="158">
                  <c:v>20467.83</c:v>
                </c:pt>
                <c:pt idx="159">
                  <c:v>15663.95</c:v>
                </c:pt>
                <c:pt idx="160">
                  <c:v>34988.53</c:v>
                </c:pt>
                <c:pt idx="161">
                  <c:v>22778.5884959349</c:v>
                </c:pt>
                <c:pt idx="162">
                  <c:v>32441.04</c:v>
                </c:pt>
                <c:pt idx="163">
                  <c:v>31506.69</c:v>
                </c:pt>
                <c:pt idx="164">
                  <c:v>28092.61</c:v>
                </c:pt>
                <c:pt idx="165">
                  <c:v>13855.44</c:v>
                </c:pt>
                <c:pt idx="166">
                  <c:v>32382.98</c:v>
                </c:pt>
                <c:pt idx="167">
                  <c:v>12000.85</c:v>
                </c:pt>
                <c:pt idx="168">
                  <c:v>34605.15</c:v>
                </c:pt>
                <c:pt idx="169">
                  <c:v>34929.83</c:v>
                </c:pt>
                <c:pt idx="170">
                  <c:v>7391.8</c:v>
                </c:pt>
                <c:pt idx="171">
                  <c:v>30053.41</c:v>
                </c:pt>
                <c:pt idx="172">
                  <c:v>22778.5884959349</c:v>
                </c:pt>
                <c:pt idx="173">
                  <c:v>37216.7</c:v>
                </c:pt>
                <c:pt idx="174">
                  <c:v>25628.32</c:v>
                </c:pt>
                <c:pt idx="175">
                  <c:v>17418.78</c:v>
                </c:pt>
                <c:pt idx="176">
                  <c:v>19265.23</c:v>
                </c:pt>
                <c:pt idx="177">
                  <c:v>8861.07</c:v>
                </c:pt>
                <c:pt idx="178">
                  <c:v>24499.62</c:v>
                </c:pt>
                <c:pt idx="179">
                  <c:v>22279.95</c:v>
                </c:pt>
                <c:pt idx="180">
                  <c:v>15920.24</c:v>
                </c:pt>
                <c:pt idx="181">
                  <c:v>19254.88</c:v>
                </c:pt>
                <c:pt idx="182">
                  <c:v>7436.32</c:v>
                </c:pt>
                <c:pt idx="183">
                  <c:v>17860.45</c:v>
                </c:pt>
                <c:pt idx="184">
                  <c:v>28523.34</c:v>
                </c:pt>
                <c:pt idx="185">
                  <c:v>18818.4</c:v>
                </c:pt>
                <c:pt idx="186">
                  <c:v>36234.97</c:v>
                </c:pt>
                <c:pt idx="187">
                  <c:v>16852.11</c:v>
                </c:pt>
                <c:pt idx="188">
                  <c:v>34333.82</c:v>
                </c:pt>
                <c:pt idx="189">
                  <c:v>31809.03</c:v>
                </c:pt>
                <c:pt idx="190">
                  <c:v>28333.7</c:v>
                </c:pt>
                <c:pt idx="191">
                  <c:v>10158.09</c:v>
                </c:pt>
                <c:pt idx="192">
                  <c:v>22404.58</c:v>
                </c:pt>
                <c:pt idx="193">
                  <c:v>30822.94</c:v>
                </c:pt>
                <c:pt idx="194">
                  <c:v>39022.54</c:v>
                </c:pt>
                <c:pt idx="195">
                  <c:v>26768.84</c:v>
                </c:pt>
                <c:pt idx="196">
                  <c:v>23198.21</c:v>
                </c:pt>
                <c:pt idx="197">
                  <c:v>28173.26</c:v>
                </c:pt>
                <c:pt idx="198">
                  <c:v>33331.86</c:v>
                </c:pt>
                <c:pt idx="199">
                  <c:v>6105.95</c:v>
                </c:pt>
                <c:pt idx="200">
                  <c:v>16009.57</c:v>
                </c:pt>
                <c:pt idx="201">
                  <c:v>11190.42</c:v>
                </c:pt>
                <c:pt idx="202">
                  <c:v>10745.05</c:v>
                </c:pt>
                <c:pt idx="203">
                  <c:v>22060.92</c:v>
                </c:pt>
                <c:pt idx="204">
                  <c:v>28988.1</c:v>
                </c:pt>
                <c:pt idx="205">
                  <c:v>10470.88</c:v>
                </c:pt>
                <c:pt idx="206">
                  <c:v>38980.48</c:v>
                </c:pt>
                <c:pt idx="207">
                  <c:v>14955.31</c:v>
                </c:pt>
                <c:pt idx="208">
                  <c:v>17824.35</c:v>
                </c:pt>
                <c:pt idx="209">
                  <c:v>26880.36</c:v>
                </c:pt>
                <c:pt idx="210">
                  <c:v>17507.81</c:v>
                </c:pt>
                <c:pt idx="211">
                  <c:v>27682.9</c:v>
                </c:pt>
                <c:pt idx="212">
                  <c:v>9006.5</c:v>
                </c:pt>
                <c:pt idx="213">
                  <c:v>28021.87</c:v>
                </c:pt>
                <c:pt idx="214">
                  <c:v>29358.55</c:v>
                </c:pt>
                <c:pt idx="215">
                  <c:v>18660.53</c:v>
                </c:pt>
                <c:pt idx="216">
                  <c:v>28628.9</c:v>
                </c:pt>
                <c:pt idx="217">
                  <c:v>15483.23</c:v>
                </c:pt>
                <c:pt idx="218">
                  <c:v>34656.69</c:v>
                </c:pt>
                <c:pt idx="219">
                  <c:v>6663.6</c:v>
                </c:pt>
                <c:pt idx="220">
                  <c:v>26860.03</c:v>
                </c:pt>
                <c:pt idx="221">
                  <c:v>14567.77</c:v>
                </c:pt>
                <c:pt idx="222">
                  <c:v>17156.08</c:v>
                </c:pt>
                <c:pt idx="223">
                  <c:v>15496.82</c:v>
                </c:pt>
                <c:pt idx="224">
                  <c:v>19080.53</c:v>
                </c:pt>
                <c:pt idx="225">
                  <c:v>24164.69</c:v>
                </c:pt>
                <c:pt idx="226">
                  <c:v>25189.52</c:v>
                </c:pt>
                <c:pt idx="227">
                  <c:v>27327.42</c:v>
                </c:pt>
                <c:pt idx="228">
                  <c:v>30431.53</c:v>
                </c:pt>
                <c:pt idx="229">
                  <c:v>10171.03</c:v>
                </c:pt>
                <c:pt idx="230">
                  <c:v>19359.11</c:v>
                </c:pt>
                <c:pt idx="231">
                  <c:v>34608.84</c:v>
                </c:pt>
                <c:pt idx="232">
                  <c:v>13975.63</c:v>
                </c:pt>
                <c:pt idx="233">
                  <c:v>10248.68</c:v>
                </c:pt>
                <c:pt idx="234">
                  <c:v>24593.88</c:v>
                </c:pt>
                <c:pt idx="235">
                  <c:v>14544.92</c:v>
                </c:pt>
                <c:pt idx="236">
                  <c:v>11159.48</c:v>
                </c:pt>
                <c:pt idx="237">
                  <c:v>6936.45</c:v>
                </c:pt>
                <c:pt idx="238">
                  <c:v>35351.01</c:v>
                </c:pt>
                <c:pt idx="239">
                  <c:v>28508.52</c:v>
                </c:pt>
                <c:pt idx="240">
                  <c:v>30348.21</c:v>
                </c:pt>
                <c:pt idx="241">
                  <c:v>22508.7</c:v>
                </c:pt>
                <c:pt idx="242">
                  <c:v>8158.71</c:v>
                </c:pt>
                <c:pt idx="243">
                  <c:v>25451.42</c:v>
                </c:pt>
                <c:pt idx="244">
                  <c:v>12630.29</c:v>
                </c:pt>
                <c:pt idx="245">
                  <c:v>20381.64</c:v>
                </c:pt>
                <c:pt idx="246">
                  <c:v>18114.67</c:v>
                </c:pt>
                <c:pt idx="247">
                  <c:v>21619.89</c:v>
                </c:pt>
                <c:pt idx="248">
                  <c:v>37794.03</c:v>
                </c:pt>
                <c:pt idx="249">
                  <c:v>5737.6</c:v>
                </c:pt>
                <c:pt idx="250">
                  <c:v>28177.82</c:v>
                </c:pt>
                <c:pt idx="251">
                  <c:v>18464.16</c:v>
                </c:pt>
                <c:pt idx="252">
                  <c:v>36610.5</c:v>
                </c:pt>
                <c:pt idx="253">
                  <c:v>18596.49</c:v>
                </c:pt>
                <c:pt idx="254">
                  <c:v>37127.43</c:v>
                </c:pt>
                <c:pt idx="255">
                  <c:v>35079.59</c:v>
                </c:pt>
                <c:pt idx="256">
                  <c:v>35781.35</c:v>
                </c:pt>
                <c:pt idx="257">
                  <c:v>14591.28</c:v>
                </c:pt>
                <c:pt idx="258">
                  <c:v>19453.65</c:v>
                </c:pt>
                <c:pt idx="259">
                  <c:v>33708.45</c:v>
                </c:pt>
                <c:pt idx="260">
                  <c:v>17314.97</c:v>
                </c:pt>
                <c:pt idx="261">
                  <c:v>20864.16</c:v>
                </c:pt>
                <c:pt idx="262">
                  <c:v>11430.89</c:v>
                </c:pt>
                <c:pt idx="263">
                  <c:v>12002.64</c:v>
                </c:pt>
                <c:pt idx="264">
                  <c:v>8878.99</c:v>
                </c:pt>
                <c:pt idx="265">
                  <c:v>29001.37</c:v>
                </c:pt>
                <c:pt idx="266">
                  <c:v>35572.7</c:v>
                </c:pt>
                <c:pt idx="267">
                  <c:v>33936.9</c:v>
                </c:pt>
                <c:pt idx="268">
                  <c:v>17865.98</c:v>
                </c:pt>
                <c:pt idx="269">
                  <c:v>35951.95</c:v>
                </c:pt>
                <c:pt idx="270">
                  <c:v>27648.73</c:v>
                </c:pt>
                <c:pt idx="271">
                  <c:v>11939.32</c:v>
                </c:pt>
                <c:pt idx="272">
                  <c:v>26630.14</c:v>
                </c:pt>
                <c:pt idx="273">
                  <c:v>17877.21</c:v>
                </c:pt>
                <c:pt idx="274">
                  <c:v>23404.32</c:v>
                </c:pt>
                <c:pt idx="275">
                  <c:v>22295.22</c:v>
                </c:pt>
                <c:pt idx="276">
                  <c:v>35167.79</c:v>
                </c:pt>
                <c:pt idx="277">
                  <c:v>18372.57</c:v>
                </c:pt>
                <c:pt idx="278">
                  <c:v>39832.26</c:v>
                </c:pt>
                <c:pt idx="279">
                  <c:v>22778.5884959349</c:v>
                </c:pt>
                <c:pt idx="280">
                  <c:v>13242</c:v>
                </c:pt>
                <c:pt idx="281">
                  <c:v>28949.35</c:v>
                </c:pt>
                <c:pt idx="282">
                  <c:v>35500.52</c:v>
                </c:pt>
                <c:pt idx="283">
                  <c:v>29966.76</c:v>
                </c:pt>
                <c:pt idx="284">
                  <c:v>24495</c:v>
                </c:pt>
                <c:pt idx="285">
                  <c:v>17400.56</c:v>
                </c:pt>
                <c:pt idx="286">
                  <c:v>22658.97</c:v>
                </c:pt>
                <c:pt idx="287">
                  <c:v>9628.34</c:v>
                </c:pt>
                <c:pt idx="288">
                  <c:v>14110.21</c:v>
                </c:pt>
                <c:pt idx="289">
                  <c:v>9617.18</c:v>
                </c:pt>
                <c:pt idx="290">
                  <c:v>9089.47</c:v>
                </c:pt>
                <c:pt idx="291">
                  <c:v>39068</c:v>
                </c:pt>
                <c:pt idx="292">
                  <c:v>14902.39</c:v>
                </c:pt>
                <c:pt idx="293">
                  <c:v>20252.14</c:v>
                </c:pt>
                <c:pt idx="294">
                  <c:v>10294.27</c:v>
                </c:pt>
                <c:pt idx="295">
                  <c:v>10201.73</c:v>
                </c:pt>
                <c:pt idx="296">
                  <c:v>10724.42</c:v>
                </c:pt>
                <c:pt idx="297">
                  <c:v>37452.22</c:v>
                </c:pt>
                <c:pt idx="298">
                  <c:v>24629.91</c:v>
                </c:pt>
                <c:pt idx="299">
                  <c:v>35340.78</c:v>
                </c:pt>
                <c:pt idx="300">
                  <c:v>14944.08</c:v>
                </c:pt>
                <c:pt idx="301">
                  <c:v>28209.82</c:v>
                </c:pt>
                <c:pt idx="302">
                  <c:v>24977.57</c:v>
                </c:pt>
                <c:pt idx="303">
                  <c:v>22433.88</c:v>
                </c:pt>
                <c:pt idx="304">
                  <c:v>28845.93</c:v>
                </c:pt>
                <c:pt idx="305">
                  <c:v>37520.2</c:v>
                </c:pt>
                <c:pt idx="306">
                  <c:v>7837.21</c:v>
                </c:pt>
                <c:pt idx="307">
                  <c:v>38432.05</c:v>
                </c:pt>
                <c:pt idx="308">
                  <c:v>6534.64</c:v>
                </c:pt>
                <c:pt idx="309">
                  <c:v>30604.08</c:v>
                </c:pt>
                <c:pt idx="310">
                  <c:v>6703.88</c:v>
                </c:pt>
                <c:pt idx="311">
                  <c:v>31033</c:v>
                </c:pt>
                <c:pt idx="312">
                  <c:v>13930.74</c:v>
                </c:pt>
                <c:pt idx="313">
                  <c:v>34832.1</c:v>
                </c:pt>
                <c:pt idx="314">
                  <c:v>31339.55</c:v>
                </c:pt>
                <c:pt idx="315">
                  <c:v>15449.13</c:v>
                </c:pt>
                <c:pt idx="316">
                  <c:v>26122.98</c:v>
                </c:pt>
                <c:pt idx="317">
                  <c:v>22942.86</c:v>
                </c:pt>
                <c:pt idx="318">
                  <c:v>24707</c:v>
                </c:pt>
                <c:pt idx="319">
                  <c:v>26485.37</c:v>
                </c:pt>
                <c:pt idx="320">
                  <c:v>22966.95</c:v>
                </c:pt>
                <c:pt idx="321">
                  <c:v>29977.24</c:v>
                </c:pt>
                <c:pt idx="322">
                  <c:v>20307.44</c:v>
                </c:pt>
                <c:pt idx="323">
                  <c:v>22778.5884959349</c:v>
                </c:pt>
                <c:pt idx="324">
                  <c:v>23308.22</c:v>
                </c:pt>
                <c:pt idx="325">
                  <c:v>37105.57</c:v>
                </c:pt>
                <c:pt idx="326">
                  <c:v>21262.98</c:v>
                </c:pt>
                <c:pt idx="327">
                  <c:v>25494.88</c:v>
                </c:pt>
                <c:pt idx="328">
                  <c:v>28155.24</c:v>
                </c:pt>
                <c:pt idx="329">
                  <c:v>6584.06</c:v>
                </c:pt>
                <c:pt idx="330">
                  <c:v>30343.31</c:v>
                </c:pt>
                <c:pt idx="331">
                  <c:v>14277.6</c:v>
                </c:pt>
                <c:pt idx="332">
                  <c:v>7737.72</c:v>
                </c:pt>
                <c:pt idx="333">
                  <c:v>8721.57</c:v>
                </c:pt>
                <c:pt idx="334">
                  <c:v>5465.66</c:v>
                </c:pt>
                <c:pt idx="335">
                  <c:v>35407.32</c:v>
                </c:pt>
                <c:pt idx="336">
                  <c:v>33459.64</c:v>
                </c:pt>
                <c:pt idx="337">
                  <c:v>8067.23</c:v>
                </c:pt>
                <c:pt idx="338">
                  <c:v>5555.98</c:v>
                </c:pt>
                <c:pt idx="339">
                  <c:v>27701.81</c:v>
                </c:pt>
                <c:pt idx="340">
                  <c:v>35036.63</c:v>
                </c:pt>
                <c:pt idx="341">
                  <c:v>21219.89</c:v>
                </c:pt>
                <c:pt idx="342">
                  <c:v>36584.54</c:v>
                </c:pt>
                <c:pt idx="343">
                  <c:v>21502.12</c:v>
                </c:pt>
                <c:pt idx="344">
                  <c:v>24930.07</c:v>
                </c:pt>
                <c:pt idx="345">
                  <c:v>8593.22</c:v>
                </c:pt>
                <c:pt idx="346">
                  <c:v>34701.57</c:v>
                </c:pt>
                <c:pt idx="347">
                  <c:v>18988.81</c:v>
                </c:pt>
                <c:pt idx="348">
                  <c:v>7124.66</c:v>
                </c:pt>
                <c:pt idx="349">
                  <c:v>14374.71</c:v>
                </c:pt>
                <c:pt idx="350">
                  <c:v>26794.38</c:v>
                </c:pt>
                <c:pt idx="351">
                  <c:v>5728.24</c:v>
                </c:pt>
                <c:pt idx="352">
                  <c:v>20333.87</c:v>
                </c:pt>
                <c:pt idx="353">
                  <c:v>34870.88</c:v>
                </c:pt>
                <c:pt idx="354">
                  <c:v>15268.79</c:v>
                </c:pt>
                <c:pt idx="355">
                  <c:v>28558.76</c:v>
                </c:pt>
                <c:pt idx="356">
                  <c:v>34558.59</c:v>
                </c:pt>
                <c:pt idx="357">
                  <c:v>8016.72</c:v>
                </c:pt>
                <c:pt idx="358">
                  <c:v>26201.22</c:v>
                </c:pt>
                <c:pt idx="359">
                  <c:v>22280.38</c:v>
                </c:pt>
                <c:pt idx="360">
                  <c:v>17557.54</c:v>
                </c:pt>
                <c:pt idx="361">
                  <c:v>35081.16</c:v>
                </c:pt>
                <c:pt idx="362">
                  <c:v>8988.93</c:v>
                </c:pt>
                <c:pt idx="363">
                  <c:v>39778.2</c:v>
                </c:pt>
                <c:pt idx="364">
                  <c:v>24495.78</c:v>
                </c:pt>
                <c:pt idx="365">
                  <c:v>37432.12</c:v>
                </c:pt>
                <c:pt idx="366">
                  <c:v>31451.75</c:v>
                </c:pt>
                <c:pt idx="367">
                  <c:v>6468.93</c:v>
                </c:pt>
                <c:pt idx="368">
                  <c:v>36884.5</c:v>
                </c:pt>
                <c:pt idx="369">
                  <c:v>31668.76</c:v>
                </c:pt>
                <c:pt idx="370">
                  <c:v>22778.5884959349</c:v>
                </c:pt>
                <c:pt idx="371">
                  <c:v>20368.8</c:v>
                </c:pt>
                <c:pt idx="372">
                  <c:v>33320.08</c:v>
                </c:pt>
                <c:pt idx="373">
                  <c:v>18035.27</c:v>
                </c:pt>
                <c:pt idx="374">
                  <c:v>13590.79</c:v>
                </c:pt>
                <c:pt idx="375">
                  <c:v>9829.8</c:v>
                </c:pt>
                <c:pt idx="376">
                  <c:v>38314.42</c:v>
                </c:pt>
                <c:pt idx="377">
                  <c:v>20490.25</c:v>
                </c:pt>
                <c:pt idx="378">
                  <c:v>16018.16</c:v>
                </c:pt>
                <c:pt idx="379">
                  <c:v>20192.53</c:v>
                </c:pt>
                <c:pt idx="380">
                  <c:v>27451.3</c:v>
                </c:pt>
                <c:pt idx="381">
                  <c:v>39301.65</c:v>
                </c:pt>
                <c:pt idx="382">
                  <c:v>36002.4</c:v>
                </c:pt>
                <c:pt idx="383">
                  <c:v>15979.33</c:v>
                </c:pt>
                <c:pt idx="384">
                  <c:v>26364.04</c:v>
                </c:pt>
                <c:pt idx="385">
                  <c:v>12179.67</c:v>
                </c:pt>
                <c:pt idx="386">
                  <c:v>36068.62</c:v>
                </c:pt>
                <c:pt idx="387">
                  <c:v>35834.11</c:v>
                </c:pt>
                <c:pt idx="388">
                  <c:v>30160.82</c:v>
                </c:pt>
                <c:pt idx="389">
                  <c:v>22908.51</c:v>
                </c:pt>
                <c:pt idx="390">
                  <c:v>10600.96</c:v>
                </c:pt>
                <c:pt idx="391">
                  <c:v>32095.52</c:v>
                </c:pt>
                <c:pt idx="392">
                  <c:v>34455.42</c:v>
                </c:pt>
                <c:pt idx="393">
                  <c:v>31479.6</c:v>
                </c:pt>
                <c:pt idx="394">
                  <c:v>30790.05</c:v>
                </c:pt>
                <c:pt idx="395">
                  <c:v>39615</c:v>
                </c:pt>
                <c:pt idx="396">
                  <c:v>14958.74</c:v>
                </c:pt>
                <c:pt idx="397">
                  <c:v>23188.33</c:v>
                </c:pt>
                <c:pt idx="398">
                  <c:v>11739.43</c:v>
                </c:pt>
                <c:pt idx="399">
                  <c:v>8429.57</c:v>
                </c:pt>
                <c:pt idx="400">
                  <c:v>7176.78</c:v>
                </c:pt>
                <c:pt idx="401">
                  <c:v>7732.54</c:v>
                </c:pt>
                <c:pt idx="402">
                  <c:v>23163.07</c:v>
                </c:pt>
                <c:pt idx="403">
                  <c:v>27276.14</c:v>
                </c:pt>
                <c:pt idx="404">
                  <c:v>19592.28</c:v>
                </c:pt>
                <c:pt idx="405">
                  <c:v>21019.95</c:v>
                </c:pt>
                <c:pt idx="406">
                  <c:v>20940.13</c:v>
                </c:pt>
                <c:pt idx="407">
                  <c:v>17926.62</c:v>
                </c:pt>
                <c:pt idx="408">
                  <c:v>17935.51</c:v>
                </c:pt>
                <c:pt idx="409">
                  <c:v>15672.36</c:v>
                </c:pt>
                <c:pt idx="410">
                  <c:v>32692.13</c:v>
                </c:pt>
                <c:pt idx="411">
                  <c:v>36298.85</c:v>
                </c:pt>
                <c:pt idx="412">
                  <c:v>30888.11</c:v>
                </c:pt>
                <c:pt idx="413">
                  <c:v>6563.89</c:v>
                </c:pt>
                <c:pt idx="414">
                  <c:v>36510.06</c:v>
                </c:pt>
                <c:pt idx="415">
                  <c:v>34178.92</c:v>
                </c:pt>
                <c:pt idx="416">
                  <c:v>21132.77</c:v>
                </c:pt>
                <c:pt idx="417">
                  <c:v>30475.25</c:v>
                </c:pt>
                <c:pt idx="418">
                  <c:v>18553.23</c:v>
                </c:pt>
                <c:pt idx="419">
                  <c:v>38532.78</c:v>
                </c:pt>
                <c:pt idx="420">
                  <c:v>35308.38</c:v>
                </c:pt>
                <c:pt idx="421">
                  <c:v>9332.36</c:v>
                </c:pt>
                <c:pt idx="422">
                  <c:v>23964.2</c:v>
                </c:pt>
                <c:pt idx="423">
                  <c:v>31269.55</c:v>
                </c:pt>
                <c:pt idx="424">
                  <c:v>37766.36</c:v>
                </c:pt>
                <c:pt idx="425">
                  <c:v>12203.17</c:v>
                </c:pt>
                <c:pt idx="426">
                  <c:v>23674.04</c:v>
                </c:pt>
                <c:pt idx="427">
                  <c:v>37684.71</c:v>
                </c:pt>
                <c:pt idx="428">
                  <c:v>35087.69</c:v>
                </c:pt>
                <c:pt idx="429">
                  <c:v>39292.51</c:v>
                </c:pt>
                <c:pt idx="430">
                  <c:v>13944.41</c:v>
                </c:pt>
                <c:pt idx="431">
                  <c:v>28751.3</c:v>
                </c:pt>
                <c:pt idx="432">
                  <c:v>29965.52</c:v>
                </c:pt>
                <c:pt idx="433">
                  <c:v>19448.8</c:v>
                </c:pt>
                <c:pt idx="434">
                  <c:v>36482.55</c:v>
                </c:pt>
                <c:pt idx="435">
                  <c:v>25511.02</c:v>
                </c:pt>
                <c:pt idx="436">
                  <c:v>14425.06</c:v>
                </c:pt>
                <c:pt idx="437">
                  <c:v>6011.73</c:v>
                </c:pt>
                <c:pt idx="438">
                  <c:v>38721.61</c:v>
                </c:pt>
                <c:pt idx="439">
                  <c:v>27804.28</c:v>
                </c:pt>
                <c:pt idx="440">
                  <c:v>34619.72</c:v>
                </c:pt>
                <c:pt idx="441">
                  <c:v>39485.81</c:v>
                </c:pt>
                <c:pt idx="442">
                  <c:v>38647.32</c:v>
                </c:pt>
                <c:pt idx="443">
                  <c:v>21262.82</c:v>
                </c:pt>
                <c:pt idx="444">
                  <c:v>10858.36</c:v>
                </c:pt>
                <c:pt idx="445">
                  <c:v>14565.6</c:v>
                </c:pt>
                <c:pt idx="446">
                  <c:v>34485.35</c:v>
                </c:pt>
                <c:pt idx="447">
                  <c:v>30871.4</c:v>
                </c:pt>
                <c:pt idx="448">
                  <c:v>29445.03</c:v>
                </c:pt>
                <c:pt idx="449">
                  <c:v>12379.76</c:v>
                </c:pt>
                <c:pt idx="450">
                  <c:v>38089.3</c:v>
                </c:pt>
                <c:pt idx="451">
                  <c:v>28179.7</c:v>
                </c:pt>
                <c:pt idx="452">
                  <c:v>25982.98</c:v>
                </c:pt>
                <c:pt idx="453">
                  <c:v>27625.52</c:v>
                </c:pt>
                <c:pt idx="454">
                  <c:v>5335.25</c:v>
                </c:pt>
                <c:pt idx="455">
                  <c:v>22778.5884959349</c:v>
                </c:pt>
                <c:pt idx="456">
                  <c:v>36240.03</c:v>
                </c:pt>
                <c:pt idx="457">
                  <c:v>17354.82</c:v>
                </c:pt>
                <c:pt idx="458">
                  <c:v>34370.1</c:v>
                </c:pt>
                <c:pt idx="459">
                  <c:v>17966.82</c:v>
                </c:pt>
                <c:pt idx="460">
                  <c:v>5692.36</c:v>
                </c:pt>
                <c:pt idx="461">
                  <c:v>33569.83</c:v>
                </c:pt>
                <c:pt idx="462">
                  <c:v>22283.3</c:v>
                </c:pt>
                <c:pt idx="463">
                  <c:v>29641.67</c:v>
                </c:pt>
                <c:pt idx="464">
                  <c:v>33739.32</c:v>
                </c:pt>
                <c:pt idx="465">
                  <c:v>22290.4</c:v>
                </c:pt>
                <c:pt idx="466">
                  <c:v>9488.62</c:v>
                </c:pt>
                <c:pt idx="467">
                  <c:v>34941.76</c:v>
                </c:pt>
                <c:pt idx="468">
                  <c:v>28729.26</c:v>
                </c:pt>
                <c:pt idx="469">
                  <c:v>35908.57</c:v>
                </c:pt>
                <c:pt idx="470">
                  <c:v>38007.6</c:v>
                </c:pt>
                <c:pt idx="471">
                  <c:v>39828.73</c:v>
                </c:pt>
                <c:pt idx="472">
                  <c:v>22345.12</c:v>
                </c:pt>
                <c:pt idx="473">
                  <c:v>12859.19</c:v>
                </c:pt>
                <c:pt idx="474">
                  <c:v>16068.47</c:v>
                </c:pt>
                <c:pt idx="475">
                  <c:v>25013.69</c:v>
                </c:pt>
                <c:pt idx="476">
                  <c:v>19833.71</c:v>
                </c:pt>
                <c:pt idx="477">
                  <c:v>16522.86</c:v>
                </c:pt>
                <c:pt idx="478">
                  <c:v>20118.21</c:v>
                </c:pt>
                <c:pt idx="479">
                  <c:v>13650.37</c:v>
                </c:pt>
                <c:pt idx="480">
                  <c:v>34138.11</c:v>
                </c:pt>
                <c:pt idx="481">
                  <c:v>32151.23</c:v>
                </c:pt>
                <c:pt idx="482">
                  <c:v>25262.71</c:v>
                </c:pt>
                <c:pt idx="483">
                  <c:v>18208.83</c:v>
                </c:pt>
                <c:pt idx="484">
                  <c:v>7170.08</c:v>
                </c:pt>
                <c:pt idx="485">
                  <c:v>26916.48</c:v>
                </c:pt>
                <c:pt idx="486">
                  <c:v>15322.09</c:v>
                </c:pt>
                <c:pt idx="487">
                  <c:v>19388.78</c:v>
                </c:pt>
                <c:pt idx="488">
                  <c:v>21247.32</c:v>
                </c:pt>
                <c:pt idx="489">
                  <c:v>37815.47</c:v>
                </c:pt>
                <c:pt idx="490">
                  <c:v>25573.47</c:v>
                </c:pt>
                <c:pt idx="491">
                  <c:v>7364.06</c:v>
                </c:pt>
                <c:pt idx="492">
                  <c:v>9409.36</c:v>
                </c:pt>
                <c:pt idx="493">
                  <c:v>30361.81</c:v>
                </c:pt>
                <c:pt idx="494">
                  <c:v>6542.48</c:v>
                </c:pt>
                <c:pt idx="495">
                  <c:v>27809.67</c:v>
                </c:pt>
                <c:pt idx="496">
                  <c:v>15803.6</c:v>
                </c:pt>
                <c:pt idx="497">
                  <c:v>38959.49</c:v>
                </c:pt>
                <c:pt idx="498">
                  <c:v>22748.78</c:v>
                </c:pt>
                <c:pt idx="499">
                  <c:v>11839.25</c:v>
                </c:pt>
              </c:numCache>
            </c:numRef>
          </c:xVal>
          <c:yVal>
            <c:numRef>
              <c:f>'[airline_dataset (2).xlsx]💰 Revenue (2)'!$J$2:$J$509</c:f>
              <c:numCache>
                <c:formatCode>General</c:formatCode>
                <c:ptCount val="508"/>
                <c:pt idx="0">
                  <c:v>71940.34</c:v>
                </c:pt>
                <c:pt idx="1">
                  <c:v>128145.06</c:v>
                </c:pt>
                <c:pt idx="2">
                  <c:v>31787.07</c:v>
                </c:pt>
                <c:pt idx="3">
                  <c:v>109477.59</c:v>
                </c:pt>
                <c:pt idx="4">
                  <c:v>93689.6</c:v>
                </c:pt>
                <c:pt idx="5">
                  <c:v>-8544.77</c:v>
                </c:pt>
                <c:pt idx="6">
                  <c:v>107958.37</c:v>
                </c:pt>
                <c:pt idx="7">
                  <c:v>10568.84</c:v>
                </c:pt>
                <c:pt idx="8">
                  <c:v>58499.28</c:v>
                </c:pt>
                <c:pt idx="9">
                  <c:v>141386.35</c:v>
                </c:pt>
                <c:pt idx="10">
                  <c:v>69648.3</c:v>
                </c:pt>
                <c:pt idx="11">
                  <c:v>132836.44</c:v>
                </c:pt>
                <c:pt idx="12">
                  <c:v>55983.2</c:v>
                </c:pt>
                <c:pt idx="13">
                  <c:v>104514.73</c:v>
                </c:pt>
                <c:pt idx="14">
                  <c:v>7995.21</c:v>
                </c:pt>
                <c:pt idx="15">
                  <c:v>100807.48</c:v>
                </c:pt>
                <c:pt idx="16">
                  <c:v>106857.84</c:v>
                </c:pt>
                <c:pt idx="17">
                  <c:v>-7408.15</c:v>
                </c:pt>
                <c:pt idx="18">
                  <c:v>89810.52</c:v>
                </c:pt>
                <c:pt idx="19">
                  <c:v>60698.69</c:v>
                </c:pt>
                <c:pt idx="20">
                  <c:v>80306.47</c:v>
                </c:pt>
                <c:pt idx="21">
                  <c:v>-36072.24</c:v>
                </c:pt>
                <c:pt idx="22">
                  <c:v>30849.85</c:v>
                </c:pt>
                <c:pt idx="23">
                  <c:v>110759.8</c:v>
                </c:pt>
                <c:pt idx="24">
                  <c:v>26462.43</c:v>
                </c:pt>
                <c:pt idx="25">
                  <c:v>-346.23</c:v>
                </c:pt>
                <c:pt idx="26">
                  <c:v>-7828.87</c:v>
                </c:pt>
                <c:pt idx="27">
                  <c:v>94041.5</c:v>
                </c:pt>
                <c:pt idx="28">
                  <c:v>119910.8</c:v>
                </c:pt>
                <c:pt idx="29">
                  <c:v>131724.59</c:v>
                </c:pt>
                <c:pt idx="30">
                  <c:v>3930.72</c:v>
                </c:pt>
                <c:pt idx="31">
                  <c:v>18056.39</c:v>
                </c:pt>
                <c:pt idx="32">
                  <c:v>196039.35</c:v>
                </c:pt>
                <c:pt idx="33">
                  <c:v>31987.75</c:v>
                </c:pt>
                <c:pt idx="34">
                  <c:v>28012.44</c:v>
                </c:pt>
                <c:pt idx="35">
                  <c:v>42931.3</c:v>
                </c:pt>
                <c:pt idx="36">
                  <c:v>113107.02</c:v>
                </c:pt>
                <c:pt idx="37">
                  <c:v>-7516.63</c:v>
                </c:pt>
                <c:pt idx="38">
                  <c:v>-7917.51</c:v>
                </c:pt>
                <c:pt idx="39">
                  <c:v>47325.21</c:v>
                </c:pt>
                <c:pt idx="40">
                  <c:v>70934.96</c:v>
                </c:pt>
                <c:pt idx="41">
                  <c:v>15197.87</c:v>
                </c:pt>
                <c:pt idx="42">
                  <c:v>50480.31</c:v>
                </c:pt>
                <c:pt idx="43">
                  <c:v>159639.77</c:v>
                </c:pt>
                <c:pt idx="44">
                  <c:v>48697.26</c:v>
                </c:pt>
                <c:pt idx="45">
                  <c:v>7853.63</c:v>
                </c:pt>
                <c:pt idx="46">
                  <c:v>-12431.25</c:v>
                </c:pt>
                <c:pt idx="47">
                  <c:v>43667.94</c:v>
                </c:pt>
                <c:pt idx="48">
                  <c:v>7875.8</c:v>
                </c:pt>
                <c:pt idx="49">
                  <c:v>94782.06</c:v>
                </c:pt>
                <c:pt idx="50">
                  <c:v>189704.22</c:v>
                </c:pt>
                <c:pt idx="51">
                  <c:v>290186.12</c:v>
                </c:pt>
                <c:pt idx="52">
                  <c:v>137994.1</c:v>
                </c:pt>
                <c:pt idx="53">
                  <c:v>30115.36</c:v>
                </c:pt>
                <c:pt idx="54">
                  <c:v>157928.37</c:v>
                </c:pt>
                <c:pt idx="55">
                  <c:v>47720.42</c:v>
                </c:pt>
                <c:pt idx="56">
                  <c:v>-33275.97</c:v>
                </c:pt>
                <c:pt idx="57">
                  <c:v>-1535.95</c:v>
                </c:pt>
                <c:pt idx="58">
                  <c:v>-3598</c:v>
                </c:pt>
                <c:pt idx="59">
                  <c:v>23335.81</c:v>
                </c:pt>
                <c:pt idx="60">
                  <c:v>109676.87</c:v>
                </c:pt>
                <c:pt idx="61">
                  <c:v>-31379.45</c:v>
                </c:pt>
                <c:pt idx="62">
                  <c:v>15481.2</c:v>
                </c:pt>
                <c:pt idx="63">
                  <c:v>-6746.63</c:v>
                </c:pt>
                <c:pt idx="64">
                  <c:v>-6655.73</c:v>
                </c:pt>
                <c:pt idx="65">
                  <c:v>156096.93</c:v>
                </c:pt>
                <c:pt idx="66">
                  <c:v>141498.98</c:v>
                </c:pt>
                <c:pt idx="67">
                  <c:v>300803.18</c:v>
                </c:pt>
                <c:pt idx="68">
                  <c:v>168819.92</c:v>
                </c:pt>
                <c:pt idx="69">
                  <c:v>336384.46</c:v>
                </c:pt>
                <c:pt idx="70">
                  <c:v>34700.4</c:v>
                </c:pt>
                <c:pt idx="71">
                  <c:v>41421.49</c:v>
                </c:pt>
                <c:pt idx="72">
                  <c:v>128558.04</c:v>
                </c:pt>
                <c:pt idx="73">
                  <c:v>149742.81</c:v>
                </c:pt>
                <c:pt idx="74">
                  <c:v>77017.4</c:v>
                </c:pt>
                <c:pt idx="75">
                  <c:v>75627.84</c:v>
                </c:pt>
                <c:pt idx="76">
                  <c:v>-14263</c:v>
                </c:pt>
                <c:pt idx="77">
                  <c:v>-27025.58</c:v>
                </c:pt>
                <c:pt idx="78">
                  <c:v>101217.68</c:v>
                </c:pt>
                <c:pt idx="79">
                  <c:v>20632.87</c:v>
                </c:pt>
                <c:pt idx="80">
                  <c:v>22225.35</c:v>
                </c:pt>
                <c:pt idx="81">
                  <c:v>-32519.69</c:v>
                </c:pt>
                <c:pt idx="82">
                  <c:v>1584.46</c:v>
                </c:pt>
                <c:pt idx="83">
                  <c:v>240231.73</c:v>
                </c:pt>
                <c:pt idx="84">
                  <c:v>55758.26</c:v>
                </c:pt>
                <c:pt idx="85">
                  <c:v>39904.51</c:v>
                </c:pt>
                <c:pt idx="86">
                  <c:v>101266.79</c:v>
                </c:pt>
                <c:pt idx="87">
                  <c:v>88485.79</c:v>
                </c:pt>
                <c:pt idx="88">
                  <c:v>191919.69</c:v>
                </c:pt>
                <c:pt idx="89">
                  <c:v>-7815.02</c:v>
                </c:pt>
                <c:pt idx="90">
                  <c:v>-28251.39</c:v>
                </c:pt>
                <c:pt idx="91">
                  <c:v>78526.45</c:v>
                </c:pt>
                <c:pt idx="92">
                  <c:v>4699.81</c:v>
                </c:pt>
                <c:pt idx="93">
                  <c:v>-12529.55</c:v>
                </c:pt>
                <c:pt idx="94">
                  <c:v>-698.13</c:v>
                </c:pt>
                <c:pt idx="95">
                  <c:v>256941.89</c:v>
                </c:pt>
                <c:pt idx="96">
                  <c:v>5425.64</c:v>
                </c:pt>
                <c:pt idx="97">
                  <c:v>112792.64</c:v>
                </c:pt>
                <c:pt idx="98">
                  <c:v>10230.58</c:v>
                </c:pt>
                <c:pt idx="99">
                  <c:v>59441.9</c:v>
                </c:pt>
                <c:pt idx="100">
                  <c:v>151936.89</c:v>
                </c:pt>
                <c:pt idx="101">
                  <c:v>26292.48</c:v>
                </c:pt>
                <c:pt idx="102">
                  <c:v>-20441.36</c:v>
                </c:pt>
                <c:pt idx="103">
                  <c:v>33603.65</c:v>
                </c:pt>
                <c:pt idx="104">
                  <c:v>50669.05</c:v>
                </c:pt>
                <c:pt idx="105">
                  <c:v>45311.04</c:v>
                </c:pt>
                <c:pt idx="106">
                  <c:v>2444.16</c:v>
                </c:pt>
                <c:pt idx="107">
                  <c:v>23068.2</c:v>
                </c:pt>
                <c:pt idx="108">
                  <c:v>184322.37</c:v>
                </c:pt>
                <c:pt idx="109">
                  <c:v>132924.24</c:v>
                </c:pt>
                <c:pt idx="110">
                  <c:v>62052.17</c:v>
                </c:pt>
                <c:pt idx="111">
                  <c:v>10514.61</c:v>
                </c:pt>
                <c:pt idx="112">
                  <c:v>81717.75</c:v>
                </c:pt>
                <c:pt idx="113">
                  <c:v>-9176.58</c:v>
                </c:pt>
                <c:pt idx="114">
                  <c:v>43898.13</c:v>
                </c:pt>
                <c:pt idx="115">
                  <c:v>1848.12</c:v>
                </c:pt>
                <c:pt idx="116">
                  <c:v>127864.88</c:v>
                </c:pt>
                <c:pt idx="117">
                  <c:v>94597.85</c:v>
                </c:pt>
                <c:pt idx="118">
                  <c:v>34078.33</c:v>
                </c:pt>
                <c:pt idx="119">
                  <c:v>303310.37</c:v>
                </c:pt>
                <c:pt idx="120">
                  <c:v>95115.47</c:v>
                </c:pt>
                <c:pt idx="121">
                  <c:v>45902.18</c:v>
                </c:pt>
                <c:pt idx="122">
                  <c:v>133962.12</c:v>
                </c:pt>
                <c:pt idx="123">
                  <c:v>38594.18</c:v>
                </c:pt>
                <c:pt idx="124">
                  <c:v>145754.88</c:v>
                </c:pt>
                <c:pt idx="125">
                  <c:v>43913.03</c:v>
                </c:pt>
                <c:pt idx="126">
                  <c:v>178242.08</c:v>
                </c:pt>
                <c:pt idx="127">
                  <c:v>2023.08</c:v>
                </c:pt>
                <c:pt idx="128">
                  <c:v>35914.4</c:v>
                </c:pt>
                <c:pt idx="129">
                  <c:v>-1604.37</c:v>
                </c:pt>
                <c:pt idx="130">
                  <c:v>16289.85</c:v>
                </c:pt>
                <c:pt idx="131">
                  <c:v>147331.27</c:v>
                </c:pt>
                <c:pt idx="132">
                  <c:v>194109.95</c:v>
                </c:pt>
                <c:pt idx="133">
                  <c:v>15616.49</c:v>
                </c:pt>
                <c:pt idx="134">
                  <c:v>42335.51</c:v>
                </c:pt>
                <c:pt idx="135">
                  <c:v>-21906.7</c:v>
                </c:pt>
                <c:pt idx="136">
                  <c:v>-24793.7</c:v>
                </c:pt>
                <c:pt idx="137">
                  <c:v>152377.24</c:v>
                </c:pt>
                <c:pt idx="138">
                  <c:v>105401.68</c:v>
                </c:pt>
                <c:pt idx="139">
                  <c:v>-4336.33</c:v>
                </c:pt>
                <c:pt idx="140">
                  <c:v>-6150.2</c:v>
                </c:pt>
                <c:pt idx="141">
                  <c:v>22610.19</c:v>
                </c:pt>
                <c:pt idx="142">
                  <c:v>153717.52</c:v>
                </c:pt>
                <c:pt idx="143">
                  <c:v>24958.24</c:v>
                </c:pt>
                <c:pt idx="144">
                  <c:v>33430.79</c:v>
                </c:pt>
                <c:pt idx="145">
                  <c:v>198476.93</c:v>
                </c:pt>
                <c:pt idx="146">
                  <c:v>-32149.22</c:v>
                </c:pt>
                <c:pt idx="147">
                  <c:v>5518.92</c:v>
                </c:pt>
                <c:pt idx="148">
                  <c:v>53584.22</c:v>
                </c:pt>
                <c:pt idx="149">
                  <c:v>129911.27</c:v>
                </c:pt>
                <c:pt idx="150">
                  <c:v>56023.92</c:v>
                </c:pt>
                <c:pt idx="151">
                  <c:v>51702.77</c:v>
                </c:pt>
                <c:pt idx="152">
                  <c:v>43330.43</c:v>
                </c:pt>
                <c:pt idx="153">
                  <c:v>7444.43</c:v>
                </c:pt>
                <c:pt idx="154">
                  <c:v>29376.29</c:v>
                </c:pt>
                <c:pt idx="155">
                  <c:v>124434.71</c:v>
                </c:pt>
                <c:pt idx="156">
                  <c:v>148296.45</c:v>
                </c:pt>
                <c:pt idx="157">
                  <c:v>64795.69</c:v>
                </c:pt>
                <c:pt idx="158">
                  <c:v>-19155.07</c:v>
                </c:pt>
                <c:pt idx="159">
                  <c:v>-17013.74</c:v>
                </c:pt>
                <c:pt idx="160">
                  <c:v>40114.05</c:v>
                </c:pt>
                <c:pt idx="161">
                  <c:v>129928.05</c:v>
                </c:pt>
                <c:pt idx="162">
                  <c:v>100462.9</c:v>
                </c:pt>
                <c:pt idx="163">
                  <c:v>-34059.41</c:v>
                </c:pt>
                <c:pt idx="164">
                  <c:v>47669.81</c:v>
                </c:pt>
                <c:pt idx="165">
                  <c:v>93432.77</c:v>
                </c:pt>
                <c:pt idx="166">
                  <c:v>160784.34</c:v>
                </c:pt>
                <c:pt idx="167">
                  <c:v>152100.41</c:v>
                </c:pt>
                <c:pt idx="168">
                  <c:v>81889.61</c:v>
                </c:pt>
                <c:pt idx="169">
                  <c:v>20708.52</c:v>
                </c:pt>
                <c:pt idx="170">
                  <c:v>91162.64</c:v>
                </c:pt>
                <c:pt idx="171">
                  <c:v>450.95</c:v>
                </c:pt>
                <c:pt idx="172">
                  <c:v>181.98</c:v>
                </c:pt>
                <c:pt idx="173">
                  <c:v>-9911.27</c:v>
                </c:pt>
                <c:pt idx="174">
                  <c:v>46524.67</c:v>
                </c:pt>
                <c:pt idx="175">
                  <c:v>-741.6</c:v>
                </c:pt>
                <c:pt idx="176">
                  <c:v>21245.35</c:v>
                </c:pt>
                <c:pt idx="177">
                  <c:v>43762.49</c:v>
                </c:pt>
                <c:pt idx="178">
                  <c:v>-13500.87</c:v>
                </c:pt>
                <c:pt idx="179">
                  <c:v>-29282.1</c:v>
                </c:pt>
                <c:pt idx="180">
                  <c:v>67080.69</c:v>
                </c:pt>
                <c:pt idx="181">
                  <c:v>26556.62</c:v>
                </c:pt>
                <c:pt idx="182">
                  <c:v>74352.47</c:v>
                </c:pt>
                <c:pt idx="183">
                  <c:v>100025.91</c:v>
                </c:pt>
                <c:pt idx="184">
                  <c:v>-35676.15</c:v>
                </c:pt>
                <c:pt idx="185">
                  <c:v>117682.35</c:v>
                </c:pt>
                <c:pt idx="186">
                  <c:v>-16873.95</c:v>
                </c:pt>
                <c:pt idx="187">
                  <c:v>11373.26</c:v>
                </c:pt>
                <c:pt idx="188">
                  <c:v>236939.08</c:v>
                </c:pt>
                <c:pt idx="189">
                  <c:v>41791.25</c:v>
                </c:pt>
                <c:pt idx="190">
                  <c:v>131612.98</c:v>
                </c:pt>
                <c:pt idx="191">
                  <c:v>44714.62</c:v>
                </c:pt>
                <c:pt idx="192">
                  <c:v>16983.27</c:v>
                </c:pt>
                <c:pt idx="193">
                  <c:v>-25594.36</c:v>
                </c:pt>
                <c:pt idx="194">
                  <c:v>-5930.88</c:v>
                </c:pt>
                <c:pt idx="195">
                  <c:v>60281.14</c:v>
                </c:pt>
                <c:pt idx="196">
                  <c:v>37428.01</c:v>
                </c:pt>
                <c:pt idx="197">
                  <c:v>-21246.97</c:v>
                </c:pt>
                <c:pt idx="198">
                  <c:v>281412.54</c:v>
                </c:pt>
                <c:pt idx="199">
                  <c:v>2331.56</c:v>
                </c:pt>
                <c:pt idx="200">
                  <c:v>7567.67</c:v>
                </c:pt>
                <c:pt idx="201">
                  <c:v>104198.67</c:v>
                </c:pt>
                <c:pt idx="202">
                  <c:v>48520.81</c:v>
                </c:pt>
                <c:pt idx="203">
                  <c:v>16281.21</c:v>
                </c:pt>
                <c:pt idx="204">
                  <c:v>22680.72</c:v>
                </c:pt>
                <c:pt idx="205">
                  <c:v>56704.22</c:v>
                </c:pt>
                <c:pt idx="206">
                  <c:v>-11626.99</c:v>
                </c:pt>
                <c:pt idx="207">
                  <c:v>188699.99</c:v>
                </c:pt>
                <c:pt idx="208">
                  <c:v>194041.93</c:v>
                </c:pt>
                <c:pt idx="209">
                  <c:v>31827.5</c:v>
                </c:pt>
                <c:pt idx="210">
                  <c:v>191435.14</c:v>
                </c:pt>
                <c:pt idx="211">
                  <c:v>-15686.55</c:v>
                </c:pt>
                <c:pt idx="212">
                  <c:v>204409.9</c:v>
                </c:pt>
                <c:pt idx="213">
                  <c:v>136128.91</c:v>
                </c:pt>
                <c:pt idx="214">
                  <c:v>170621.71</c:v>
                </c:pt>
                <c:pt idx="215">
                  <c:v>19299.2</c:v>
                </c:pt>
                <c:pt idx="216">
                  <c:v>43820.45</c:v>
                </c:pt>
                <c:pt idx="217">
                  <c:v>101759.07</c:v>
                </c:pt>
                <c:pt idx="218">
                  <c:v>3191.91</c:v>
                </c:pt>
                <c:pt idx="219">
                  <c:v>6499.97</c:v>
                </c:pt>
                <c:pt idx="220">
                  <c:v>65206.22</c:v>
                </c:pt>
                <c:pt idx="221">
                  <c:v>55305.28</c:v>
                </c:pt>
                <c:pt idx="222">
                  <c:v>64718.25</c:v>
                </c:pt>
                <c:pt idx="223">
                  <c:v>5399.83</c:v>
                </c:pt>
                <c:pt idx="224">
                  <c:v>22982.44</c:v>
                </c:pt>
                <c:pt idx="225">
                  <c:v>32333.95</c:v>
                </c:pt>
                <c:pt idx="226">
                  <c:v>-29957.91</c:v>
                </c:pt>
                <c:pt idx="227">
                  <c:v>109608.28</c:v>
                </c:pt>
                <c:pt idx="228">
                  <c:v>62733.95</c:v>
                </c:pt>
                <c:pt idx="229">
                  <c:v>115533.17</c:v>
                </c:pt>
                <c:pt idx="230">
                  <c:v>87657.7</c:v>
                </c:pt>
                <c:pt idx="231">
                  <c:v>-5361.53</c:v>
                </c:pt>
                <c:pt idx="232">
                  <c:v>105199.27</c:v>
                </c:pt>
                <c:pt idx="233">
                  <c:v>5987.64</c:v>
                </c:pt>
                <c:pt idx="234">
                  <c:v>16217.07</c:v>
                </c:pt>
                <c:pt idx="235">
                  <c:v>50791.31</c:v>
                </c:pt>
                <c:pt idx="236">
                  <c:v>25479.22</c:v>
                </c:pt>
                <c:pt idx="237">
                  <c:v>32092.79</c:v>
                </c:pt>
                <c:pt idx="238">
                  <c:v>136929.16</c:v>
                </c:pt>
                <c:pt idx="239">
                  <c:v>1943.33</c:v>
                </c:pt>
                <c:pt idx="240">
                  <c:v>88070.02</c:v>
                </c:pt>
                <c:pt idx="241">
                  <c:v>96050.94</c:v>
                </c:pt>
                <c:pt idx="242">
                  <c:v>-5172.81</c:v>
                </c:pt>
                <c:pt idx="243">
                  <c:v>28329.61</c:v>
                </c:pt>
                <c:pt idx="244">
                  <c:v>191546.72</c:v>
                </c:pt>
                <c:pt idx="245">
                  <c:v>54069.19</c:v>
                </c:pt>
                <c:pt idx="246">
                  <c:v>33045.94</c:v>
                </c:pt>
                <c:pt idx="247">
                  <c:v>118681.89</c:v>
                </c:pt>
                <c:pt idx="248">
                  <c:v>-19955.13</c:v>
                </c:pt>
                <c:pt idx="249">
                  <c:v>138082.74</c:v>
                </c:pt>
                <c:pt idx="250">
                  <c:v>-19354.32</c:v>
                </c:pt>
                <c:pt idx="251">
                  <c:v>-13470.38</c:v>
                </c:pt>
                <c:pt idx="252">
                  <c:v>-47518.73</c:v>
                </c:pt>
                <c:pt idx="253">
                  <c:v>167018.6</c:v>
                </c:pt>
                <c:pt idx="254">
                  <c:v>22621.37</c:v>
                </c:pt>
                <c:pt idx="255">
                  <c:v>-19231.82</c:v>
                </c:pt>
                <c:pt idx="256">
                  <c:v>16328.44</c:v>
                </c:pt>
                <c:pt idx="257">
                  <c:v>22363.25</c:v>
                </c:pt>
                <c:pt idx="258">
                  <c:v>-20720.23</c:v>
                </c:pt>
                <c:pt idx="259">
                  <c:v>4215.59</c:v>
                </c:pt>
                <c:pt idx="260">
                  <c:v>23367.66</c:v>
                </c:pt>
                <c:pt idx="261">
                  <c:v>-23219.72</c:v>
                </c:pt>
                <c:pt idx="262">
                  <c:v>34437.85</c:v>
                </c:pt>
                <c:pt idx="263">
                  <c:v>69672.44</c:v>
                </c:pt>
                <c:pt idx="264">
                  <c:v>-14123.84</c:v>
                </c:pt>
                <c:pt idx="265">
                  <c:v>12462.12</c:v>
                </c:pt>
                <c:pt idx="266">
                  <c:v>121473.08</c:v>
                </c:pt>
                <c:pt idx="267">
                  <c:v>39696.25</c:v>
                </c:pt>
                <c:pt idx="268">
                  <c:v>-8288.37</c:v>
                </c:pt>
                <c:pt idx="269">
                  <c:v>12629.84</c:v>
                </c:pt>
                <c:pt idx="270">
                  <c:v>66825.33</c:v>
                </c:pt>
                <c:pt idx="271">
                  <c:v>108773.99</c:v>
                </c:pt>
                <c:pt idx="272">
                  <c:v>206543.72</c:v>
                </c:pt>
                <c:pt idx="273">
                  <c:v>15610.18</c:v>
                </c:pt>
                <c:pt idx="274">
                  <c:v>42207.22</c:v>
                </c:pt>
                <c:pt idx="275">
                  <c:v>78918.53</c:v>
                </c:pt>
                <c:pt idx="276">
                  <c:v>-29445.62</c:v>
                </c:pt>
                <c:pt idx="277">
                  <c:v>-5052.46</c:v>
                </c:pt>
                <c:pt idx="278">
                  <c:v>-9528.46</c:v>
                </c:pt>
                <c:pt idx="279">
                  <c:v>152916.6</c:v>
                </c:pt>
                <c:pt idx="280">
                  <c:v>196750.4</c:v>
                </c:pt>
                <c:pt idx="281">
                  <c:v>-4391.78</c:v>
                </c:pt>
                <c:pt idx="282">
                  <c:v>93911.7</c:v>
                </c:pt>
                <c:pt idx="283">
                  <c:v>-21714</c:v>
                </c:pt>
                <c:pt idx="284">
                  <c:v>-2884.89</c:v>
                </c:pt>
                <c:pt idx="285">
                  <c:v>93364.66</c:v>
                </c:pt>
                <c:pt idx="286">
                  <c:v>47119.45</c:v>
                </c:pt>
                <c:pt idx="287">
                  <c:v>19114.34</c:v>
                </c:pt>
                <c:pt idx="288">
                  <c:v>7479</c:v>
                </c:pt>
                <c:pt idx="289">
                  <c:v>46325.2</c:v>
                </c:pt>
                <c:pt idx="290">
                  <c:v>62489.03</c:v>
                </c:pt>
                <c:pt idx="291">
                  <c:v>-23389.09</c:v>
                </c:pt>
                <c:pt idx="292">
                  <c:v>60332.95</c:v>
                </c:pt>
                <c:pt idx="293">
                  <c:v>65835.23</c:v>
                </c:pt>
                <c:pt idx="294">
                  <c:v>27017.15</c:v>
                </c:pt>
                <c:pt idx="295">
                  <c:v>53816.97</c:v>
                </c:pt>
                <c:pt idx="296">
                  <c:v>91084.91</c:v>
                </c:pt>
                <c:pt idx="297">
                  <c:v>28714.62</c:v>
                </c:pt>
                <c:pt idx="298">
                  <c:v>18784.22</c:v>
                </c:pt>
                <c:pt idx="299">
                  <c:v>198489.58</c:v>
                </c:pt>
                <c:pt idx="300">
                  <c:v>-2575.14</c:v>
                </c:pt>
                <c:pt idx="301">
                  <c:v>35661.27</c:v>
                </c:pt>
                <c:pt idx="302">
                  <c:v>90552.15</c:v>
                </c:pt>
                <c:pt idx="303">
                  <c:v>-8889.07</c:v>
                </c:pt>
                <c:pt idx="304">
                  <c:v>13231.44</c:v>
                </c:pt>
                <c:pt idx="305">
                  <c:v>-1671.9</c:v>
                </c:pt>
                <c:pt idx="306">
                  <c:v>5980.86</c:v>
                </c:pt>
                <c:pt idx="307">
                  <c:v>1206.99</c:v>
                </c:pt>
                <c:pt idx="308">
                  <c:v>57429.48</c:v>
                </c:pt>
                <c:pt idx="309">
                  <c:v>37114.64</c:v>
                </c:pt>
                <c:pt idx="310">
                  <c:v>1141.8</c:v>
                </c:pt>
                <c:pt idx="311">
                  <c:v>-17346.71</c:v>
                </c:pt>
                <c:pt idx="312">
                  <c:v>1506.63</c:v>
                </c:pt>
                <c:pt idx="313">
                  <c:v>41831.38</c:v>
                </c:pt>
                <c:pt idx="314">
                  <c:v>-25780.07</c:v>
                </c:pt>
                <c:pt idx="315">
                  <c:v>-27863.44</c:v>
                </c:pt>
                <c:pt idx="316">
                  <c:v>260461.58</c:v>
                </c:pt>
                <c:pt idx="317">
                  <c:v>81892.69</c:v>
                </c:pt>
                <c:pt idx="318">
                  <c:v>-15537.73</c:v>
                </c:pt>
                <c:pt idx="319">
                  <c:v>110022.83</c:v>
                </c:pt>
                <c:pt idx="320">
                  <c:v>290262.63</c:v>
                </c:pt>
                <c:pt idx="321">
                  <c:v>11683.95</c:v>
                </c:pt>
                <c:pt idx="322">
                  <c:v>14789.28</c:v>
                </c:pt>
                <c:pt idx="323">
                  <c:v>70602.85</c:v>
                </c:pt>
                <c:pt idx="324">
                  <c:v>85190.9</c:v>
                </c:pt>
                <c:pt idx="325">
                  <c:v>12219.82</c:v>
                </c:pt>
                <c:pt idx="326">
                  <c:v>92129.36</c:v>
                </c:pt>
                <c:pt idx="327">
                  <c:v>58052.75</c:v>
                </c:pt>
                <c:pt idx="328">
                  <c:v>-3960.39</c:v>
                </c:pt>
                <c:pt idx="329">
                  <c:v>52719.87</c:v>
                </c:pt>
                <c:pt idx="330">
                  <c:v>68177.34</c:v>
                </c:pt>
                <c:pt idx="331">
                  <c:v>187590.56</c:v>
                </c:pt>
                <c:pt idx="332">
                  <c:v>100856.15</c:v>
                </c:pt>
                <c:pt idx="333">
                  <c:v>26961.2</c:v>
                </c:pt>
                <c:pt idx="334">
                  <c:v>21903.58</c:v>
                </c:pt>
                <c:pt idx="335">
                  <c:v>58865.07</c:v>
                </c:pt>
                <c:pt idx="336">
                  <c:v>-14851.04</c:v>
                </c:pt>
                <c:pt idx="337">
                  <c:v>2569.09</c:v>
                </c:pt>
                <c:pt idx="338">
                  <c:v>25952.08</c:v>
                </c:pt>
                <c:pt idx="339">
                  <c:v>29736.13</c:v>
                </c:pt>
                <c:pt idx="340">
                  <c:v>40396.27</c:v>
                </c:pt>
                <c:pt idx="341">
                  <c:v>153511.93</c:v>
                </c:pt>
                <c:pt idx="342">
                  <c:v>12763.96</c:v>
                </c:pt>
                <c:pt idx="343">
                  <c:v>45454.61</c:v>
                </c:pt>
                <c:pt idx="344">
                  <c:v>145789.57</c:v>
                </c:pt>
                <c:pt idx="345">
                  <c:v>25302.93</c:v>
                </c:pt>
                <c:pt idx="346">
                  <c:v>2136.96</c:v>
                </c:pt>
                <c:pt idx="347">
                  <c:v>68713.92</c:v>
                </c:pt>
                <c:pt idx="348">
                  <c:v>88348.73</c:v>
                </c:pt>
                <c:pt idx="349">
                  <c:v>1647.05</c:v>
                </c:pt>
                <c:pt idx="350">
                  <c:v>15485.64</c:v>
                </c:pt>
                <c:pt idx="351">
                  <c:v>34108.73</c:v>
                </c:pt>
                <c:pt idx="352">
                  <c:v>80405.36</c:v>
                </c:pt>
                <c:pt idx="353">
                  <c:v>-24623.15</c:v>
                </c:pt>
                <c:pt idx="354">
                  <c:v>3789.39</c:v>
                </c:pt>
                <c:pt idx="355">
                  <c:v>58339.93</c:v>
                </c:pt>
                <c:pt idx="356">
                  <c:v>103533.06</c:v>
                </c:pt>
                <c:pt idx="357">
                  <c:v>29069.54</c:v>
                </c:pt>
                <c:pt idx="358">
                  <c:v>117769.56</c:v>
                </c:pt>
                <c:pt idx="359">
                  <c:v>56969.15</c:v>
                </c:pt>
                <c:pt idx="360">
                  <c:v>25894.81</c:v>
                </c:pt>
                <c:pt idx="361">
                  <c:v>110694.65</c:v>
                </c:pt>
                <c:pt idx="362">
                  <c:v>4724.71</c:v>
                </c:pt>
                <c:pt idx="363">
                  <c:v>126082.68</c:v>
                </c:pt>
                <c:pt idx="364">
                  <c:v>75798.22</c:v>
                </c:pt>
                <c:pt idx="365">
                  <c:v>-7599.19</c:v>
                </c:pt>
                <c:pt idx="366">
                  <c:v>-28504.88</c:v>
                </c:pt>
                <c:pt idx="367">
                  <c:v>134703.59</c:v>
                </c:pt>
                <c:pt idx="368">
                  <c:v>52365.95</c:v>
                </c:pt>
                <c:pt idx="369">
                  <c:v>21606.03</c:v>
                </c:pt>
                <c:pt idx="370">
                  <c:v>148986.78</c:v>
                </c:pt>
                <c:pt idx="371">
                  <c:v>50513.23</c:v>
                </c:pt>
                <c:pt idx="372">
                  <c:v>22831.63</c:v>
                </c:pt>
                <c:pt idx="373">
                  <c:v>-8477.37</c:v>
                </c:pt>
                <c:pt idx="374">
                  <c:v>76199.98</c:v>
                </c:pt>
                <c:pt idx="375">
                  <c:v>58157.32</c:v>
                </c:pt>
                <c:pt idx="376">
                  <c:v>117757.21</c:v>
                </c:pt>
                <c:pt idx="377">
                  <c:v>48913.63</c:v>
                </c:pt>
                <c:pt idx="378">
                  <c:v>57871.28</c:v>
                </c:pt>
                <c:pt idx="379">
                  <c:v>-27304.99</c:v>
                </c:pt>
                <c:pt idx="380">
                  <c:v>13320.23</c:v>
                </c:pt>
                <c:pt idx="381">
                  <c:v>48142.15</c:v>
                </c:pt>
                <c:pt idx="382">
                  <c:v>3455.05</c:v>
                </c:pt>
                <c:pt idx="383">
                  <c:v>104555.55</c:v>
                </c:pt>
                <c:pt idx="384">
                  <c:v>66323.35</c:v>
                </c:pt>
                <c:pt idx="385">
                  <c:v>4958.66</c:v>
                </c:pt>
                <c:pt idx="386">
                  <c:v>50101.99</c:v>
                </c:pt>
                <c:pt idx="387">
                  <c:v>118153.02</c:v>
                </c:pt>
                <c:pt idx="388">
                  <c:v>-4060.25</c:v>
                </c:pt>
                <c:pt idx="389">
                  <c:v>104560.36</c:v>
                </c:pt>
                <c:pt idx="390">
                  <c:v>55016.15</c:v>
                </c:pt>
                <c:pt idx="391">
                  <c:v>31602.31</c:v>
                </c:pt>
                <c:pt idx="392">
                  <c:v>32015.59</c:v>
                </c:pt>
                <c:pt idx="393">
                  <c:v>79270.43</c:v>
                </c:pt>
                <c:pt idx="394">
                  <c:v>162028.02</c:v>
                </c:pt>
                <c:pt idx="395">
                  <c:v>-34650.72</c:v>
                </c:pt>
                <c:pt idx="396">
                  <c:v>43398.31</c:v>
                </c:pt>
                <c:pt idx="397">
                  <c:v>-573.58</c:v>
                </c:pt>
                <c:pt idx="398">
                  <c:v>23313.46</c:v>
                </c:pt>
                <c:pt idx="399">
                  <c:v>-19680.9</c:v>
                </c:pt>
                <c:pt idx="400">
                  <c:v>116472.24</c:v>
                </c:pt>
                <c:pt idx="401">
                  <c:v>49410.24</c:v>
                </c:pt>
                <c:pt idx="402">
                  <c:v>8210.56</c:v>
                </c:pt>
                <c:pt idx="403">
                  <c:v>-13135.51</c:v>
                </c:pt>
                <c:pt idx="404">
                  <c:v>99865.4</c:v>
                </c:pt>
                <c:pt idx="405">
                  <c:v>129815.47</c:v>
                </c:pt>
                <c:pt idx="406">
                  <c:v>20881.06</c:v>
                </c:pt>
                <c:pt idx="407">
                  <c:v>202046.96</c:v>
                </c:pt>
                <c:pt idx="408">
                  <c:v>166008.6</c:v>
                </c:pt>
                <c:pt idx="409">
                  <c:v>126466.35</c:v>
                </c:pt>
                <c:pt idx="410">
                  <c:v>-19289.37</c:v>
                </c:pt>
                <c:pt idx="411">
                  <c:v>-40262.43</c:v>
                </c:pt>
                <c:pt idx="412">
                  <c:v>17802.24</c:v>
                </c:pt>
                <c:pt idx="413">
                  <c:v>90806.76</c:v>
                </c:pt>
                <c:pt idx="414">
                  <c:v>158761.07</c:v>
                </c:pt>
                <c:pt idx="415">
                  <c:v>-17497.75</c:v>
                </c:pt>
                <c:pt idx="416">
                  <c:v>3982.6</c:v>
                </c:pt>
                <c:pt idx="417">
                  <c:v>141456.75</c:v>
                </c:pt>
                <c:pt idx="418">
                  <c:v>-32256.41</c:v>
                </c:pt>
                <c:pt idx="419">
                  <c:v>29945.62</c:v>
                </c:pt>
                <c:pt idx="420">
                  <c:v>61443.24</c:v>
                </c:pt>
                <c:pt idx="421">
                  <c:v>153165.48</c:v>
                </c:pt>
                <c:pt idx="422">
                  <c:v>156201.76</c:v>
                </c:pt>
                <c:pt idx="423">
                  <c:v>-39803.85</c:v>
                </c:pt>
                <c:pt idx="424">
                  <c:v>8734.73</c:v>
                </c:pt>
                <c:pt idx="425">
                  <c:v>133684.81</c:v>
                </c:pt>
                <c:pt idx="426">
                  <c:v>8869.61</c:v>
                </c:pt>
                <c:pt idx="427">
                  <c:v>122577.5</c:v>
                </c:pt>
                <c:pt idx="428">
                  <c:v>-10900.68</c:v>
                </c:pt>
                <c:pt idx="429">
                  <c:v>-9188.74</c:v>
                </c:pt>
                <c:pt idx="430">
                  <c:v>11701.8</c:v>
                </c:pt>
                <c:pt idx="431">
                  <c:v>52645.7</c:v>
                </c:pt>
                <c:pt idx="432">
                  <c:v>-10290.88</c:v>
                </c:pt>
                <c:pt idx="433">
                  <c:v>7179.51</c:v>
                </c:pt>
                <c:pt idx="434">
                  <c:v>31932.38</c:v>
                </c:pt>
                <c:pt idx="435">
                  <c:v>-7819.07</c:v>
                </c:pt>
                <c:pt idx="436">
                  <c:v>45518.05</c:v>
                </c:pt>
                <c:pt idx="437">
                  <c:v>1553.37</c:v>
                </c:pt>
                <c:pt idx="438">
                  <c:v>-2246.48</c:v>
                </c:pt>
                <c:pt idx="439">
                  <c:v>114057.63</c:v>
                </c:pt>
                <c:pt idx="440">
                  <c:v>-11060.55</c:v>
                </c:pt>
                <c:pt idx="441">
                  <c:v>27022</c:v>
                </c:pt>
                <c:pt idx="442">
                  <c:v>-47864.3</c:v>
                </c:pt>
                <c:pt idx="443">
                  <c:v>125284.74</c:v>
                </c:pt>
                <c:pt idx="444">
                  <c:v>213734.02</c:v>
                </c:pt>
                <c:pt idx="445">
                  <c:v>-19827.16</c:v>
                </c:pt>
                <c:pt idx="446">
                  <c:v>118415.32</c:v>
                </c:pt>
                <c:pt idx="447">
                  <c:v>63164.68</c:v>
                </c:pt>
                <c:pt idx="448">
                  <c:v>108301.65</c:v>
                </c:pt>
                <c:pt idx="449">
                  <c:v>31844.87</c:v>
                </c:pt>
                <c:pt idx="450">
                  <c:v>72178.93</c:v>
                </c:pt>
                <c:pt idx="451">
                  <c:v>150713.56</c:v>
                </c:pt>
                <c:pt idx="452">
                  <c:v>65641.25</c:v>
                </c:pt>
                <c:pt idx="453">
                  <c:v>-29652.14</c:v>
                </c:pt>
                <c:pt idx="454">
                  <c:v>49533.25</c:v>
                </c:pt>
                <c:pt idx="455">
                  <c:v>10472.39</c:v>
                </c:pt>
                <c:pt idx="456">
                  <c:v>29028.86</c:v>
                </c:pt>
                <c:pt idx="457">
                  <c:v>18160.94</c:v>
                </c:pt>
                <c:pt idx="458">
                  <c:v>-3656.5</c:v>
                </c:pt>
                <c:pt idx="459">
                  <c:v>96059.87</c:v>
                </c:pt>
                <c:pt idx="460">
                  <c:v>140655.95</c:v>
                </c:pt>
                <c:pt idx="461">
                  <c:v>166637.27</c:v>
                </c:pt>
                <c:pt idx="462">
                  <c:v>19359.47</c:v>
                </c:pt>
                <c:pt idx="463">
                  <c:v>21720.74</c:v>
                </c:pt>
                <c:pt idx="464">
                  <c:v>134005.87</c:v>
                </c:pt>
                <c:pt idx="465">
                  <c:v>-13166.7</c:v>
                </c:pt>
                <c:pt idx="466">
                  <c:v>141155.95</c:v>
                </c:pt>
                <c:pt idx="467">
                  <c:v>94017.76</c:v>
                </c:pt>
                <c:pt idx="468">
                  <c:v>156207.52</c:v>
                </c:pt>
                <c:pt idx="469">
                  <c:v>86655.76</c:v>
                </c:pt>
                <c:pt idx="470">
                  <c:v>199169.45</c:v>
                </c:pt>
                <c:pt idx="471">
                  <c:v>-6651.08</c:v>
                </c:pt>
                <c:pt idx="472">
                  <c:v>-31069.46</c:v>
                </c:pt>
                <c:pt idx="473">
                  <c:v>-2861.58</c:v>
                </c:pt>
                <c:pt idx="474">
                  <c:v>86233.36</c:v>
                </c:pt>
                <c:pt idx="475">
                  <c:v>78969.48</c:v>
                </c:pt>
                <c:pt idx="476">
                  <c:v>152671.11</c:v>
                </c:pt>
                <c:pt idx="477">
                  <c:v>40166.47</c:v>
                </c:pt>
                <c:pt idx="478">
                  <c:v>43444.53</c:v>
                </c:pt>
                <c:pt idx="479">
                  <c:v>90796.05</c:v>
                </c:pt>
                <c:pt idx="480">
                  <c:v>-46819.35</c:v>
                </c:pt>
                <c:pt idx="481">
                  <c:v>-25558.99</c:v>
                </c:pt>
                <c:pt idx="482">
                  <c:v>43743.16</c:v>
                </c:pt>
                <c:pt idx="483">
                  <c:v>13597.25</c:v>
                </c:pt>
                <c:pt idx="484">
                  <c:v>63441</c:v>
                </c:pt>
                <c:pt idx="485">
                  <c:v>242440.67</c:v>
                </c:pt>
                <c:pt idx="486">
                  <c:v>37144.39</c:v>
                </c:pt>
                <c:pt idx="487">
                  <c:v>50204.2</c:v>
                </c:pt>
                <c:pt idx="488">
                  <c:v>29650.97</c:v>
                </c:pt>
                <c:pt idx="489">
                  <c:v>-18010.49</c:v>
                </c:pt>
                <c:pt idx="490">
                  <c:v>18487.24</c:v>
                </c:pt>
                <c:pt idx="491">
                  <c:v>67402.69</c:v>
                </c:pt>
                <c:pt idx="492">
                  <c:v>40607.78</c:v>
                </c:pt>
                <c:pt idx="493">
                  <c:v>3800.55</c:v>
                </c:pt>
                <c:pt idx="494">
                  <c:v>32455.48</c:v>
                </c:pt>
                <c:pt idx="495">
                  <c:v>45323.5</c:v>
                </c:pt>
                <c:pt idx="496">
                  <c:v>127782.23</c:v>
                </c:pt>
                <c:pt idx="497">
                  <c:v>-47689.34</c:v>
                </c:pt>
                <c:pt idx="498">
                  <c:v>15749.45</c:v>
                </c:pt>
                <c:pt idx="499">
                  <c:v>9626.1</c:v>
                </c:pt>
              </c:numCache>
            </c:numRef>
          </c:yVal>
          <c:smooth val="0"/>
        </c:ser>
        <c:dLbls>
          <c:showLegendKey val="0"/>
          <c:showVal val="0"/>
          <c:showCatName val="0"/>
          <c:showSerName val="0"/>
          <c:showPercent val="0"/>
          <c:showBubbleSize val="0"/>
        </c:dLbls>
        <c:axId val="772584787"/>
        <c:axId val="961255761"/>
      </c:scatterChart>
      <c:valAx>
        <c:axId val="772584787"/>
        <c:scaling>
          <c:orientation val="minMax"/>
        </c:scaling>
        <c:delete val="0"/>
        <c:axPos val="b"/>
        <c:majorGridlines>
          <c:spPr>
            <a:ln w="9525" cap="flat" cmpd="sng" algn="ctr">
              <a:solidFill>
                <a:schemeClr val="lt1">
                  <a:lumMod val="90200"/>
                </a:schemeClr>
              </a:solidFill>
              <a:round/>
            </a:ln>
            <a:effectLst/>
          </c:spPr>
        </c:majorGridlines>
        <c:title>
          <c:tx>
            <c:rich>
              <a:bodyPr rot="0" spcFirstLastPara="0" vertOverflow="ellipsis" vert="horz" wrap="square" anchor="ctr" anchorCtr="1"/>
              <a:lstStyle/>
              <a:p>
                <a:pPr defTabSz="914400">
                  <a:defRPr lang="en-US" sz="1000" b="1" i="0" u="none" strike="noStrike" kern="1200" baseline="0">
                    <a:solidFill>
                      <a:schemeClr val="tx1">
                        <a:lumMod val="65000"/>
                        <a:lumOff val="35000"/>
                      </a:schemeClr>
                    </a:solidFill>
                    <a:latin typeface="+mn-lt"/>
                    <a:ea typeface="+mn-ea"/>
                    <a:cs typeface="+mn-cs"/>
                  </a:defRPr>
                </a:pPr>
                <a:r>
                  <a:rPr b="1"/>
                  <a:t>Fuel Cost</a:t>
                </a:r>
                <a:endParaRPr b="1"/>
              </a:p>
            </c:rich>
          </c:tx>
          <c:layout/>
          <c:overlay val="0"/>
          <c:spPr>
            <a:noFill/>
            <a:ln>
              <a:noFill/>
            </a:ln>
            <a:effectLst/>
          </c:spPr>
        </c:title>
        <c:numFmt formatCode="General" sourceLinked="1"/>
        <c:majorTickMark val="none"/>
        <c:minorTickMark val="none"/>
        <c:tickLblPos val="low"/>
        <c:spPr>
          <a:noFill/>
          <a:ln w="9525" cap="flat" cmpd="sng" algn="ctr">
            <a:solidFill>
              <a:schemeClr val="tx1">
                <a:lumMod val="15000"/>
                <a:lumOff val="85000"/>
              </a:schemeClr>
            </a:solidFill>
            <a:miter lim="800000"/>
          </a:ln>
          <a:effectLst/>
        </c:spPr>
        <c:txPr>
          <a:bodyPr rot="-60000000" spcFirstLastPara="0"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p>
        </c:txPr>
        <c:crossAx val="961255761"/>
        <c:crosses val="autoZero"/>
        <c:crossBetween val="midCat"/>
      </c:valAx>
      <c:valAx>
        <c:axId val="961255761"/>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en-US" sz="1000" b="1" i="0" u="none" strike="noStrike" kern="1200" baseline="0">
                    <a:solidFill>
                      <a:schemeClr val="tx1">
                        <a:lumMod val="65000"/>
                        <a:lumOff val="35000"/>
                      </a:schemeClr>
                    </a:solidFill>
                    <a:latin typeface="+mn-lt"/>
                    <a:ea typeface="+mn-ea"/>
                    <a:cs typeface="+mn-cs"/>
                  </a:defRPr>
                </a:pPr>
                <a:r>
                  <a:rPr b="1"/>
                  <a:t>Proft</a:t>
                </a:r>
                <a:endParaRPr b="1"/>
              </a:p>
            </c:rich>
          </c:tx>
          <c:layout/>
          <c:overlay val="0"/>
          <c:spPr>
            <a:noFill/>
            <a:ln>
              <a:noFill/>
            </a:ln>
            <a:effectLst/>
          </c:spPr>
        </c:title>
        <c:numFmt formatCode="&quot;$&quot;#,##0_);[Red]\(&quot;$&quot;#,##0\)" sourceLinked="0"/>
        <c:majorTickMark val="none"/>
        <c:minorTickMark val="none"/>
        <c:tickLblPos val="nextTo"/>
        <c:spPr>
          <a:noFill/>
          <a:ln w="15875" cap="flat" cmpd="sng" algn="ctr">
            <a:solidFill>
              <a:schemeClr val="tx1">
                <a:lumMod val="15000"/>
                <a:lumOff val="85000"/>
                <a:alpha val="91000"/>
              </a:schemeClr>
            </a:solidFill>
            <a:round/>
          </a:ln>
          <a:effectLst/>
        </c:spPr>
        <c:txPr>
          <a:bodyPr rot="-60000000" spcFirstLastPara="0"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p>
        </c:txPr>
        <c:crossAx val="772584787"/>
        <c:crosses val="autoZero"/>
        <c:crossBetween val="midCat"/>
      </c:valAx>
      <c:spPr>
        <a:noFill/>
        <a:ln w="9525" cap="flat" cmpd="sng" algn="ctr">
          <a:solidFill>
            <a:schemeClr val="tx1">
              <a:lumMod val="15000"/>
              <a:lumOff val="85000"/>
            </a:schemeClr>
          </a:solidFill>
          <a:round/>
        </a:ln>
        <a:effectLst/>
      </c:spPr>
    </c:plotArea>
    <c:plotVisOnly val="1"/>
    <c:dispBlanksAs val="gap"/>
    <c:showDLblsOverMax val="0"/>
    <c:extLst>
      <c:ext uri="{0b15fc19-7d7d-44ad-8c2d-2c3a37ce22c3}">
        <chartProps xmlns="https://web.wps.cn/et/2018/main" chartId="{f2637ee8-7614-428e-bee2-2224ff4c3e54}"/>
      </c:ext>
    </c:extLst>
  </c:chart>
  <c:spPr>
    <a:solidFill>
      <a:schemeClr val="bg1"/>
    </a:solidFill>
    <a:ln w="9525" cap="flat" cmpd="sng" algn="ctr">
      <a:solidFill>
        <a:schemeClr val="tx1">
          <a:lumMod val="15000"/>
          <a:lumOff val="85000"/>
        </a:schemeClr>
      </a:solidFill>
      <a:round/>
    </a:ln>
    <a:effectLst/>
  </c:spPr>
  <c:txPr>
    <a:bodyPr/>
    <a:lstStyle/>
    <a:p>
      <a:pPr>
        <a:defRPr lang="en-US" b="1"/>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rPr b="1"/>
              <a:t>Top 5 Airlines by Total Revenue</a:t>
            </a:r>
            <a:endParaRPr b="1"/>
          </a:p>
        </c:rich>
      </c:tx>
      <c:layout>
        <c:manualLayout>
          <c:xMode val="edge"/>
          <c:yMode val="edge"/>
          <c:x val="0.209210526315789"/>
          <c:y val="0.0625"/>
        </c:manualLayout>
      </c:layout>
      <c:overlay val="0"/>
      <c:spPr>
        <a:noFill/>
        <a:ln>
          <a:noFill/>
        </a:ln>
        <a:effectLst/>
      </c:spPr>
    </c:title>
    <c:autoTitleDeleted val="0"/>
    <c:plotArea>
      <c:layout/>
      <c:barChart>
        <c:barDir val="bar"/>
        <c:grouping val="clustered"/>
        <c:varyColors val="0"/>
        <c:ser>
          <c:idx val="0"/>
          <c:order val="0"/>
          <c:tx>
            <c:strRef>
              <c:f>'[airline_dataset (2).xlsx]Stat Analysis'!$C$45</c:f>
              <c:strCache>
                <c:ptCount val="1"/>
                <c:pt idx="0">
                  <c:v>Sum of Total Revenue</c:v>
                </c:pt>
              </c:strCache>
            </c:strRef>
          </c:tx>
          <c:spPr>
            <a:solidFill>
              <a:schemeClr val="accent1"/>
            </a:solidFill>
            <a:ln>
              <a:noFill/>
            </a:ln>
            <a:effectLst/>
          </c:spPr>
          <c:invertIfNegative val="0"/>
          <c:dLbls>
            <c:numFmt formatCode="&quot;$&quot;#,##0.00_);[Red]\(&quot;$&quot;#,##0.00\)" sourceLinked="0"/>
            <c:spPr>
              <a:solidFill>
                <a:schemeClr val="accent6">
                  <a:lumMod val="40000"/>
                  <a:lumOff val="60000"/>
                </a:schemeClr>
              </a:solidFill>
              <a:ln>
                <a:noFill/>
              </a:ln>
              <a:effectLst/>
            </c:spPr>
            <c:txPr>
              <a:bodyPr rot="0" spcFirstLastPara="0" vertOverflow="ellipsis" vert="horz" wrap="square" lIns="38100" tIns="19050" rIns="38100" bIns="19050" anchor="ctr" anchorCtr="1"/>
              <a:lstStyle/>
              <a:p>
                <a:pPr>
                  <a:defRPr lang="en-US" sz="1000" b="1"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'C:\Users\AGATHA\Downloads\[airline_dataset (1).xlsx]Stat Analysis'!$B$46:$B$50</c:f>
              <c:strCache>
                <c:ptCount val="5"/>
                <c:pt idx="0">
                  <c:v>United</c:v>
                </c:pt>
                <c:pt idx="1">
                  <c:v>American</c:v>
                </c:pt>
                <c:pt idx="2">
                  <c:v>Alaska</c:v>
                </c:pt>
                <c:pt idx="3">
                  <c:v>Spirit</c:v>
                </c:pt>
                <c:pt idx="4">
                  <c:v>Southwest</c:v>
                </c:pt>
              </c:strCache>
            </c:strRef>
          </c:cat>
          <c:val>
            <c:numRef>
              <c:f>'C:\Users\AGATHA\Downloads\[airline_dataset (1).xlsx]Stat Analysis'!$C$46:$C$50</c:f>
              <c:numCache>
                <c:formatCode>_ * #,##0.00_ ;_ * \-#,##0.00_ ;_ * "-"??_ ;_ @_ </c:formatCode>
                <c:ptCount val="5"/>
                <c:pt idx="0">
                  <c:v>5204994.56334302</c:v>
                </c:pt>
                <c:pt idx="1">
                  <c:v>5403300.80713663</c:v>
                </c:pt>
                <c:pt idx="2">
                  <c:v>5660190.67807018</c:v>
                </c:pt>
                <c:pt idx="3">
                  <c:v>6084130.64828488</c:v>
                </c:pt>
                <c:pt idx="4">
                  <c:v>6470138.36</c:v>
                </c:pt>
              </c:numCache>
            </c:numRef>
          </c:val>
        </c:ser>
        <c:dLbls>
          <c:showLegendKey val="0"/>
          <c:showVal val="1"/>
          <c:showCatName val="0"/>
          <c:showSerName val="0"/>
          <c:showPercent val="0"/>
          <c:showBubbleSize val="0"/>
        </c:dLbls>
        <c:gapWidth val="140"/>
        <c:overlap val="-40"/>
        <c:axId val="70980376"/>
        <c:axId val="142618009"/>
      </c:barChart>
      <c:catAx>
        <c:axId val="70980376"/>
        <c:scaling>
          <c:orientation val="minMax"/>
        </c:scaling>
        <c:delete val="0"/>
        <c:axPos val="l"/>
        <c:title>
          <c:tx>
            <c:rich>
              <a:bodyPr rot="-5400000" spcFirstLastPara="0" vertOverflow="ellipsis" vert="horz" wrap="square" anchor="ctr" anchorCtr="1"/>
              <a:lstStyle/>
              <a:p>
                <a:pPr defTabSz="914400">
                  <a:defRPr lang="en-US" sz="1000" b="1" i="0" u="none" strike="noStrike" kern="1200" baseline="0">
                    <a:solidFill>
                      <a:schemeClr val="tx1">
                        <a:lumMod val="65000"/>
                        <a:lumOff val="35000"/>
                      </a:schemeClr>
                    </a:solidFill>
                    <a:latin typeface="+mn-lt"/>
                    <a:ea typeface="+mn-ea"/>
                    <a:cs typeface="+mn-cs"/>
                  </a:defRPr>
                </a:pPr>
                <a:r>
                  <a:rPr b="1"/>
                  <a:t>Airline</a:t>
                </a:r>
                <a:endParaRPr b="1"/>
              </a:p>
            </c:rich>
          </c:tx>
          <c:layout/>
          <c:overlay val="0"/>
          <c:spPr>
            <a:noFill/>
            <a:ln>
              <a:noFill/>
            </a:ln>
            <a:effectLst/>
          </c:sp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p>
        </c:txPr>
        <c:crossAx val="142618009"/>
        <c:crosses val="autoZero"/>
        <c:auto val="1"/>
        <c:lblAlgn val="ctr"/>
        <c:lblOffset val="100"/>
        <c:noMultiLvlLbl val="0"/>
      </c:catAx>
      <c:valAx>
        <c:axId val="142618009"/>
        <c:scaling>
          <c:orientation val="minMax"/>
        </c:scaling>
        <c:delete val="1"/>
        <c:axPos val="b"/>
        <c:majorGridlines>
          <c:spPr>
            <a:ln w="9525" cap="flat" cmpd="sng" algn="ctr">
              <a:solidFill>
                <a:schemeClr val="lt1">
                  <a:lumMod val="90200"/>
                </a:schemeClr>
              </a:solidFill>
              <a:round/>
            </a:ln>
            <a:effectLst/>
          </c:spPr>
        </c:majorGridlines>
        <c:title>
          <c:tx>
            <c:rich>
              <a:bodyPr rot="0" spcFirstLastPara="0" vertOverflow="ellipsis" vert="horz" wrap="square" anchor="ctr" anchorCtr="1"/>
              <a:lstStyle/>
              <a:p>
                <a:pPr defTabSz="914400">
                  <a:defRPr lang="en-US" sz="1000" b="1" i="0" u="none" strike="noStrike" kern="1200" baseline="0">
                    <a:solidFill>
                      <a:schemeClr val="tx1">
                        <a:lumMod val="65000"/>
                        <a:lumOff val="35000"/>
                      </a:schemeClr>
                    </a:solidFill>
                    <a:latin typeface="+mn-lt"/>
                    <a:ea typeface="+mn-ea"/>
                    <a:cs typeface="+mn-cs"/>
                  </a:defRPr>
                </a:pPr>
                <a:r>
                  <a:rPr b="1"/>
                  <a:t>Total Revenue ($)</a:t>
                </a:r>
                <a:endParaRPr b="1"/>
              </a:p>
            </c:rich>
          </c:tx>
          <c:layout/>
          <c:overlay val="0"/>
          <c:spPr>
            <a:noFill/>
            <a:ln>
              <a:noFill/>
            </a:ln>
            <a:effectLst/>
          </c:spPr>
        </c:title>
        <c:numFmt formatCode="_ * #,##0.00_ ;_ * \-#,##0.00_ ;_ * &quot;-&quot;??_ ;_ @_ " sourceLinked="1"/>
        <c:majorTickMark val="none"/>
        <c:minorTickMark val="none"/>
        <c:tickLblPos val="nextTo"/>
        <c:txPr>
          <a:bodyPr rot="-60000000" spcFirstLastPara="0"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p>
        </c:txPr>
        <c:crossAx val="70980376"/>
        <c:crosses val="autoZero"/>
        <c:crossBetween val="between"/>
      </c:valAx>
      <c:spPr>
        <a:noFill/>
        <a:ln>
          <a:noFill/>
        </a:ln>
        <a:effectLst/>
      </c:spPr>
    </c:plotArea>
    <c:plotVisOnly val="1"/>
    <c:dispBlanksAs val="gap"/>
    <c:showDLblsOverMax val="0"/>
    <c:extLst>
      <c:ext uri="{0b15fc19-7d7d-44ad-8c2d-2c3a37ce22c3}">
        <chartProps xmlns="https://web.wps.cn/et/2018/main" chartId="{702f7a50-dfe0-4a21-acd9-3dc388737185}"/>
      </c:ext>
    </c:extLst>
  </c:chart>
  <c:spPr>
    <a:solidFill>
      <a:schemeClr val="bg1"/>
    </a:solidFill>
    <a:ln w="9525" cap="flat" cmpd="sng" algn="ctr">
      <a:solidFill>
        <a:schemeClr val="tx1">
          <a:lumMod val="15000"/>
          <a:lumOff val="85000"/>
        </a:schemeClr>
      </a:solidFill>
      <a:round/>
    </a:ln>
    <a:effectLst/>
  </c:spPr>
  <c:txPr>
    <a:bodyPr/>
    <a:lstStyle/>
    <a:p>
      <a:pPr>
        <a:defRPr lang="en-US" b="1"/>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rPr b="1"/>
              <a:t>Average Occupancy Rate by Airline</a:t>
            </a:r>
            <a:endParaRPr b="1"/>
          </a:p>
        </c:rich>
      </c:tx>
      <c:layout/>
      <c:overlay val="0"/>
      <c:spPr>
        <a:noFill/>
        <a:ln>
          <a:noFill/>
        </a:ln>
        <a:effectLst/>
      </c:spPr>
    </c:title>
    <c:autoTitleDeleted val="0"/>
    <c:plotArea>
      <c:layout/>
      <c:barChart>
        <c:barDir val="col"/>
        <c:grouping val="clustered"/>
        <c:varyColors val="0"/>
        <c:ser>
          <c:idx val="0"/>
          <c:order val="0"/>
          <c:tx>
            <c:strRef>
              <c:f>'[airline_dataset (2).xlsx]Stat Analysis'!$C$66</c:f>
              <c:strCache>
                <c:ptCount val="1"/>
                <c:pt idx="0">
                  <c:v>Avg Occupancy Rate %</c:v>
                </c:pt>
              </c:strCache>
            </c:strRef>
          </c:tx>
          <c:spPr>
            <a:solidFill>
              <a:schemeClr val="accent1"/>
            </a:solidFill>
            <a:ln>
              <a:noFill/>
            </a:ln>
            <a:effectLst/>
          </c:spPr>
          <c:invertIfNegative val="0"/>
          <c:dLbls>
            <c:delete val="1"/>
          </c:dLbls>
          <c:cat>
            <c:strRef>
              <c:f>'[airline_dataset (2).xlsx]Stat Analysis'!$B$67:$B$74</c:f>
              <c:strCache>
                <c:ptCount val="8"/>
                <c:pt idx="0">
                  <c:v>Southwest</c:v>
                </c:pt>
                <c:pt idx="1">
                  <c:v>Alaska</c:v>
                </c:pt>
                <c:pt idx="2">
                  <c:v>Delta</c:v>
                </c:pt>
                <c:pt idx="3">
                  <c:v>Frontier</c:v>
                </c:pt>
                <c:pt idx="4">
                  <c:v>American</c:v>
                </c:pt>
                <c:pt idx="5">
                  <c:v>United</c:v>
                </c:pt>
                <c:pt idx="6">
                  <c:v>Spirit</c:v>
                </c:pt>
                <c:pt idx="7">
                  <c:v>JetBlue</c:v>
                </c:pt>
              </c:strCache>
            </c:strRef>
          </c:cat>
          <c:val>
            <c:numRef>
              <c:f>'[airline_dataset (2).xlsx]Stat Analysis'!$C$67:$C$74</c:f>
              <c:numCache>
                <c:formatCode>General</c:formatCode>
                <c:ptCount val="8"/>
                <c:pt idx="0">
                  <c:v>66.331758914476</c:v>
                </c:pt>
                <c:pt idx="1">
                  <c:v>64.4633363821712</c:v>
                </c:pt>
                <c:pt idx="2">
                  <c:v>62.6785982827572</c:v>
                </c:pt>
                <c:pt idx="3">
                  <c:v>62.0681507541629</c:v>
                </c:pt>
                <c:pt idx="4">
                  <c:v>61.6753402878073</c:v>
                </c:pt>
                <c:pt idx="5">
                  <c:v>61.6163376932479</c:v>
                </c:pt>
                <c:pt idx="6">
                  <c:v>60.5961707601319</c:v>
                </c:pt>
                <c:pt idx="7">
                  <c:v>58.7176561981851</c:v>
                </c:pt>
              </c:numCache>
            </c:numRef>
          </c:val>
        </c:ser>
        <c:dLbls>
          <c:showLegendKey val="0"/>
          <c:showVal val="0"/>
          <c:showCatName val="0"/>
          <c:showSerName val="0"/>
          <c:showPercent val="0"/>
          <c:showBubbleSize val="0"/>
        </c:dLbls>
        <c:gapWidth val="246"/>
        <c:overlap val="-28"/>
        <c:axId val="777136667"/>
        <c:axId val="980289022"/>
      </c:barChart>
      <c:catAx>
        <c:axId val="777136667"/>
        <c:scaling>
          <c:orientation val="minMax"/>
        </c:scaling>
        <c:delete val="0"/>
        <c:axPos val="b"/>
        <c:title>
          <c:tx>
            <c:rich>
              <a:bodyPr rot="0" spcFirstLastPara="0" vertOverflow="ellipsis" vert="horz" wrap="square" anchor="ctr" anchorCtr="1"/>
              <a:lstStyle/>
              <a:p>
                <a:pPr defTabSz="914400">
                  <a:defRPr lang="en-US" sz="1000" b="1" i="0" u="none" strike="noStrike" kern="1200" baseline="0">
                    <a:solidFill>
                      <a:schemeClr val="tx1">
                        <a:lumMod val="65000"/>
                        <a:lumOff val="35000"/>
                      </a:schemeClr>
                    </a:solidFill>
                    <a:latin typeface="+mn-lt"/>
                    <a:ea typeface="+mn-ea"/>
                    <a:cs typeface="+mn-cs"/>
                  </a:defRPr>
                </a:pPr>
                <a:r>
                  <a:rPr b="1"/>
                  <a:t>Airline</a:t>
                </a:r>
                <a:endParaRPr b="1"/>
              </a:p>
            </c:rich>
          </c:tx>
          <c:layout/>
          <c:overlay val="0"/>
          <c:spPr>
            <a:noFill/>
            <a:ln>
              <a:noFill/>
            </a:ln>
            <a:effectLst/>
          </c:sp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p>
        </c:txPr>
        <c:crossAx val="980289022"/>
        <c:crosses val="autoZero"/>
        <c:auto val="1"/>
        <c:lblAlgn val="ctr"/>
        <c:lblOffset val="100"/>
        <c:noMultiLvlLbl val="0"/>
      </c:catAx>
      <c:valAx>
        <c:axId val="980289022"/>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en-US" sz="1000" b="1" i="0" u="none" strike="noStrike" kern="1200" baseline="0">
                    <a:solidFill>
                      <a:schemeClr val="tx1">
                        <a:lumMod val="65000"/>
                        <a:lumOff val="35000"/>
                      </a:schemeClr>
                    </a:solidFill>
                    <a:latin typeface="+mn-lt"/>
                    <a:ea typeface="+mn-ea"/>
                    <a:cs typeface="+mn-cs"/>
                  </a:defRPr>
                </a:pPr>
                <a:r>
                  <a:rPr b="1"/>
                  <a:t>Occupancy Rate (%)</a:t>
                </a:r>
                <a:endParaRPr b="1"/>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p>
        </c:txPr>
        <c:crossAx val="777136667"/>
        <c:crosses val="autoZero"/>
        <c:crossBetween val="between"/>
      </c:valAx>
      <c:spPr>
        <a:noFill/>
        <a:ln>
          <a:noFill/>
        </a:ln>
        <a:effectLst/>
      </c:spPr>
    </c:plotArea>
    <c:plotVisOnly val="1"/>
    <c:dispBlanksAs val="gap"/>
    <c:showDLblsOverMax val="0"/>
    <c:extLst>
      <c:ext uri="{0b15fc19-7d7d-44ad-8c2d-2c3a37ce22c3}">
        <chartProps xmlns="https://web.wps.cn/et/2018/main" chartId="{59f28c5e-d330-4d7f-b54b-9f92657c8b3c}"/>
      </c:ext>
    </c:extLst>
  </c:chart>
  <c:spPr>
    <a:solidFill>
      <a:schemeClr val="bg1"/>
    </a:solidFill>
    <a:ln w="9525" cap="flat" cmpd="sng" algn="ctr">
      <a:solidFill>
        <a:schemeClr val="tx1">
          <a:lumMod val="15000"/>
          <a:lumOff val="85000"/>
        </a:schemeClr>
      </a:solidFill>
      <a:round/>
    </a:ln>
    <a:effectLst/>
  </c:spPr>
  <c:txPr>
    <a:bodyPr/>
    <a:lstStyle/>
    <a:p>
      <a:pPr>
        <a:defRPr lang="en-US" b="1"/>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Revenue Breakdown by Top 8 Airports</a:t>
            </a:r>
          </a:p>
        </c:rich>
      </c:tx>
      <c:layout/>
      <c:overlay val="0"/>
      <c:spPr>
        <a:noFill/>
        <a:ln>
          <a:noFill/>
        </a:ln>
        <a:effectLst/>
      </c:spPr>
    </c:title>
    <c:autoTitleDeleted val="0"/>
    <c:plotArea>
      <c:layout/>
      <c:barChart>
        <c:barDir val="bar"/>
        <c:grouping val="clustered"/>
        <c:varyColors val="0"/>
        <c:ser>
          <c:idx val="0"/>
          <c:order val="0"/>
          <c:tx>
            <c:strRef>
              <c:f>'[airline_dataset (2).xlsx]Stat Analysis'!$H$79</c:f>
              <c:strCache>
                <c:ptCount val="1"/>
                <c:pt idx="0">
                  <c:v>Total Revenue</c:v>
                </c:pt>
              </c:strCache>
            </c:strRef>
          </c:tx>
          <c:spPr>
            <a:solidFill>
              <a:schemeClr val="accent1"/>
            </a:solidFill>
            <a:ln>
              <a:noFill/>
            </a:ln>
            <a:effectLst/>
          </c:spPr>
          <c:invertIfNegative val="0"/>
          <c:dLbls>
            <c:numFmt formatCode="&quot;$&quot;#,##0.00_);[Red]\(&quot;$&quot;#,##0.00\)" sourceLinked="0"/>
            <c:spPr>
              <a:solidFill>
                <a:schemeClr val="accent6">
                  <a:lumMod val="60000"/>
                  <a:lumOff val="40000"/>
                </a:schemeClr>
              </a:solid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'[airline_dataset (2).xlsx]Stat Analysis'!$G$80:$G$87</c:f>
              <c:strCache>
                <c:ptCount val="8"/>
                <c:pt idx="0">
                  <c:v>Hartsfield-Jackson Atlanta</c:v>
                </c:pt>
                <c:pt idx="1">
                  <c:v>Charlotte Douglas International</c:v>
                </c:pt>
                <c:pt idx="2">
                  <c:v>Newark Liberty International</c:v>
                </c:pt>
                <c:pt idx="3">
                  <c:v>Los Angeles International</c:v>
                </c:pt>
                <c:pt idx="4">
                  <c:v>Phoenix Sky Harbor</c:v>
                </c:pt>
                <c:pt idx="5">
                  <c:v>Minneapolis-Saint Paul</c:v>
                </c:pt>
                <c:pt idx="6">
                  <c:v>George Bush Intercontinental</c:v>
                </c:pt>
                <c:pt idx="7">
                  <c:v>San Francisco International</c:v>
                </c:pt>
              </c:strCache>
            </c:strRef>
          </c:cat>
          <c:val>
            <c:numRef>
              <c:f>'[airline_dataset (2).xlsx]Stat Analysis'!$H$80:$H$87</c:f>
              <c:numCache>
                <c:formatCode>_ * #,##0.00_ ;_ * \-#,##0.00_ ;_ * "-"??_ ;_ @_ </c:formatCode>
                <c:ptCount val="8"/>
                <c:pt idx="0">
                  <c:v>3387371.02635506</c:v>
                </c:pt>
                <c:pt idx="1">
                  <c:v>2946509.17</c:v>
                </c:pt>
                <c:pt idx="2">
                  <c:v>2836290.68</c:v>
                </c:pt>
                <c:pt idx="3">
                  <c:v>2508592.42</c:v>
                </c:pt>
                <c:pt idx="4">
                  <c:v>2421244.60334302</c:v>
                </c:pt>
                <c:pt idx="5">
                  <c:v>2399596.95</c:v>
                </c:pt>
                <c:pt idx="6">
                  <c:v>2303107.14</c:v>
                </c:pt>
                <c:pt idx="7">
                  <c:v>2210055.64213663</c:v>
                </c:pt>
              </c:numCache>
            </c:numRef>
          </c:val>
        </c:ser>
        <c:ser>
          <c:idx val="1"/>
          <c:order val="1"/>
          <c:tx>
            <c:strRef>
              <c:f>'[airline_dataset (2).xlsx]Stat Analysis'!$I$79</c:f>
              <c:strCache>
                <c:ptCount val="1"/>
                <c:pt idx="0">
                  <c:v>Ancillary Revenue</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1000" b="1"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'[airline_dataset (2).xlsx]Stat Analysis'!$G$80:$G$87</c:f>
              <c:strCache>
                <c:ptCount val="8"/>
                <c:pt idx="0">
                  <c:v>Hartsfield-Jackson Atlanta</c:v>
                </c:pt>
                <c:pt idx="1">
                  <c:v>Charlotte Douglas International</c:v>
                </c:pt>
                <c:pt idx="2">
                  <c:v>Newark Liberty International</c:v>
                </c:pt>
                <c:pt idx="3">
                  <c:v>Los Angeles International</c:v>
                </c:pt>
                <c:pt idx="4">
                  <c:v>Phoenix Sky Harbor</c:v>
                </c:pt>
                <c:pt idx="5">
                  <c:v>Minneapolis-Saint Paul</c:v>
                </c:pt>
                <c:pt idx="6">
                  <c:v>George Bush Intercontinental</c:v>
                </c:pt>
                <c:pt idx="7">
                  <c:v>San Francisco International</c:v>
                </c:pt>
              </c:strCache>
            </c:strRef>
          </c:cat>
          <c:val>
            <c:numRef>
              <c:f>'[airline_dataset (2).xlsx]Stat Analysis'!$I$80:$I$87</c:f>
              <c:numCache>
                <c:formatCode>_ * #,##0.00_ ;_ * \-#,##0.00_ ;_ * "-"??_ ;_ @_ </c:formatCode>
                <c:ptCount val="8"/>
                <c:pt idx="0">
                  <c:v>116115.5</c:v>
                </c:pt>
                <c:pt idx="1">
                  <c:v>88849.48</c:v>
                </c:pt>
                <c:pt idx="2">
                  <c:v>91300.14</c:v>
                </c:pt>
                <c:pt idx="3">
                  <c:v>118911.55</c:v>
                </c:pt>
                <c:pt idx="4">
                  <c:v>112403.77</c:v>
                </c:pt>
                <c:pt idx="5">
                  <c:v>101833.3</c:v>
                </c:pt>
                <c:pt idx="6">
                  <c:v>92751.41</c:v>
                </c:pt>
                <c:pt idx="7">
                  <c:v>117783.71</c:v>
                </c:pt>
              </c:numCache>
            </c:numRef>
          </c:val>
        </c:ser>
        <c:dLbls>
          <c:showLegendKey val="0"/>
          <c:showVal val="0"/>
          <c:showCatName val="0"/>
          <c:showSerName val="0"/>
          <c:showPercent val="0"/>
          <c:showBubbleSize val="0"/>
        </c:dLbls>
        <c:gapWidth val="140"/>
        <c:overlap val="-40"/>
        <c:axId val="14914468"/>
        <c:axId val="105821937"/>
      </c:barChart>
      <c:catAx>
        <c:axId val="14914468"/>
        <c:scaling>
          <c:orientation val="minMax"/>
        </c:scaling>
        <c:delete val="0"/>
        <c:axPos val="l"/>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05821937"/>
        <c:crosses val="autoZero"/>
        <c:auto val="1"/>
        <c:lblAlgn val="ctr"/>
        <c:lblOffset val="100"/>
        <c:noMultiLvlLbl val="0"/>
      </c:catAx>
      <c:valAx>
        <c:axId val="105821937"/>
        <c:scaling>
          <c:orientation val="minMax"/>
        </c:scaling>
        <c:delete val="1"/>
        <c:axPos val="b"/>
        <c:majorGridlines>
          <c:spPr>
            <a:ln w="9525" cap="flat" cmpd="sng" algn="ctr">
              <a:solidFill>
                <a:schemeClr val="lt1">
                  <a:lumMod val="90200"/>
                </a:schemeClr>
              </a:solidFill>
              <a:round/>
            </a:ln>
            <a:effectLst/>
          </c:spPr>
        </c:majorGridlines>
        <c:numFmt formatCode="_ * #,##0.00_ ;_ * \-#,##0.00_ ;_ * &quot;-&quot;??_ ;_ @_ " sourceLinked="1"/>
        <c:majorTickMark val="none"/>
        <c:minorTickMark val="none"/>
        <c:tickLblPos val="nextTo"/>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4914468"/>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6b7a8dd8-f627-4436-98e5-57ecb29f50f7}"/>
      </c:ext>
    </c:extLst>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1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17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w="19050" cap="rnd">
        <a:no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spPr>
      <a:ln w="9525" cap="flat" cmpd="sng" algn="ctr">
        <a:solidFill>
          <a:schemeClr val="tx1">
            <a:lumMod val="15000"/>
            <a:lumOff val="85000"/>
          </a:schemeClr>
        </a:solidFill>
        <a:round/>
      </a:ln>
    </cs:spPr>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11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1011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title">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column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and title">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and title">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ly-arranged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3.jpeg"/><Relationship Id="rId2" Type="http://schemas.openxmlformats.org/officeDocument/2006/relationships/chart" Target="../charts/chart2.xml"/><Relationship Id="rId1" Type="http://schemas.openxmlformats.org/officeDocument/2006/relationships/chart" Target="../charts/chart1.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3.jpeg"/><Relationship Id="rId2" Type="http://schemas.openxmlformats.org/officeDocument/2006/relationships/chart" Target="../charts/chart4.xml"/><Relationship Id="rId1" Type="http://schemas.openxmlformats.org/officeDocument/2006/relationships/chart" Target="../charts/chart3.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3.jpeg"/><Relationship Id="rId2" Type="http://schemas.openxmlformats.org/officeDocument/2006/relationships/chart" Target="../charts/chart6.xml"/><Relationship Id="rId1" Type="http://schemas.openxmlformats.org/officeDocument/2006/relationships/chart" Target="../charts/chart5.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3.jpeg"/><Relationship Id="rId2" Type="http://schemas.openxmlformats.org/officeDocument/2006/relationships/chart" Target="../charts/chart8.xml"/><Relationship Id="rId1" Type="http://schemas.openxmlformats.org/officeDocument/2006/relationships/chart" Target="../charts/char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43884" y="1660912"/>
            <a:ext cx="11304232" cy="3684233"/>
          </a:xfrm>
          <a:prstGeom prst="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0152203" y="1986451"/>
            <a:ext cx="1811045" cy="461639"/>
          </a:xfrm>
          <a:prstGeom prst="rect">
            <a:avLst/>
          </a:prstGeom>
          <a:solidFill>
            <a:srgbClr val="ABE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9"/>
          <p:cNvSpPr txBox="1"/>
          <p:nvPr/>
        </p:nvSpPr>
        <p:spPr>
          <a:xfrm>
            <a:off x="4723765" y="2641600"/>
            <a:ext cx="6629400" cy="938530"/>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2800" dirty="0">
                <a:latin typeface="Arial Black" panose="020B0A04020102020204" pitchFamily="34" charset="0"/>
                <a:cs typeface="Aharoni" panose="02010803020104030203" pitchFamily="2" charset="-79"/>
              </a:rPr>
              <a:t>Airline Dataset: Data Cleaning, Analysis &amp; Dashboard.</a:t>
            </a:r>
            <a:endParaRPr lang="en-US" altLang="en-US" sz="2800" dirty="0">
              <a:latin typeface="Arial Black" panose="020B0A04020102020204" pitchFamily="34" charset="0"/>
              <a:cs typeface="Aharoni" panose="02010803020104030203" pitchFamily="2" charset="-79"/>
            </a:endParaRPr>
          </a:p>
        </p:txBody>
      </p:sp>
      <p:pic>
        <p:nvPicPr>
          <p:cNvPr id="2" name="Picture 1" descr="airline"/>
          <p:cNvPicPr>
            <a:picLocks noChangeAspect="1"/>
          </p:cNvPicPr>
          <p:nvPr/>
        </p:nvPicPr>
        <p:blipFill>
          <a:blip r:embed="rId1"/>
          <a:stretch>
            <a:fillRect/>
          </a:stretch>
        </p:blipFill>
        <p:spPr>
          <a:xfrm rot="5400000" flipH="1" flipV="1">
            <a:off x="443865" y="1660525"/>
            <a:ext cx="3654425" cy="3684905"/>
          </a:xfrm>
          <a:prstGeom prst="rect">
            <a:avLst/>
          </a:prstGeom>
        </p:spPr>
      </p:pic>
      <p:sp>
        <p:nvSpPr>
          <p:cNvPr id="3" name="Text Box 2"/>
          <p:cNvSpPr txBox="1"/>
          <p:nvPr/>
        </p:nvSpPr>
        <p:spPr>
          <a:xfrm>
            <a:off x="4779010" y="3745230"/>
            <a:ext cx="2713990" cy="645160"/>
          </a:xfrm>
          <a:prstGeom prst="rect">
            <a:avLst/>
          </a:prstGeom>
          <a:noFill/>
        </p:spPr>
        <p:txBody>
          <a:bodyPr wrap="square" rtlCol="0">
            <a:spAutoFit/>
          </a:bodyPr>
          <a:p>
            <a:r>
              <a:rPr lang="en-US" altLang="en-US" sz="3600" b="1"/>
              <a:t>Group 2</a:t>
            </a:r>
            <a:endParaRPr lang="en-US" altLang="en-US" sz="3600" b="1"/>
          </a:p>
        </p:txBody>
      </p:sp>
      <p:sp>
        <p:nvSpPr>
          <p:cNvPr id="4" name="Text Box 3"/>
          <p:cNvSpPr txBox="1"/>
          <p:nvPr/>
        </p:nvSpPr>
        <p:spPr>
          <a:xfrm>
            <a:off x="9615170" y="3773805"/>
            <a:ext cx="1966595" cy="1198880"/>
          </a:xfrm>
          <a:prstGeom prst="rect">
            <a:avLst/>
          </a:prstGeom>
          <a:solidFill>
            <a:schemeClr val="accent1">
              <a:lumMod val="40000"/>
              <a:lumOff val="60000"/>
            </a:schemeClr>
          </a:solidFill>
        </p:spPr>
        <p:txBody>
          <a:bodyPr wrap="square" rtlCol="0">
            <a:spAutoFit/>
          </a:bodyPr>
          <a:p>
            <a:r>
              <a:rPr lang="en-US" altLang="en-US" b="1"/>
              <a:t>Ngene Christian </a:t>
            </a:r>
            <a:endParaRPr lang="en-US" altLang="en-US" b="1"/>
          </a:p>
          <a:p>
            <a:r>
              <a:rPr lang="en-US" altLang="en-US" b="1"/>
              <a:t>Onyinye Alago </a:t>
            </a:r>
            <a:endParaRPr lang="en-US" altLang="en-US" b="1"/>
          </a:p>
          <a:p>
            <a:r>
              <a:rPr lang="en-US" altLang="en-US" b="1"/>
              <a:t>Okoye Ogechi </a:t>
            </a:r>
            <a:endParaRPr lang="en-US" altLang="en-US" b="1"/>
          </a:p>
          <a:p>
            <a:r>
              <a:rPr lang="en-US" altLang="en-US" b="1"/>
              <a:t>Onyekachi Mavis</a:t>
            </a:r>
            <a:endParaRPr lang="en-US" altLang="en-US"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20932" y="1163655"/>
            <a:ext cx="9457677" cy="4734029"/>
          </a:xfrm>
          <a:prstGeom prst="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460655" y="5135989"/>
            <a:ext cx="1811045" cy="461639"/>
          </a:xfrm>
          <a:prstGeom prst="rect">
            <a:avLst/>
          </a:prstGeom>
          <a:solidFill>
            <a:srgbClr val="ABE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2996883" y="2084022"/>
            <a:ext cx="4721150" cy="23996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2000" b="1" dirty="0"/>
              <a:t>1 in 3 flights in this dataset never arrived on time."</a:t>
            </a:r>
            <a:endParaRPr lang="en-US" altLang="en-US" sz="2000" b="1" dirty="0"/>
          </a:p>
          <a:p>
            <a:pPr>
              <a:lnSpc>
                <a:spcPct val="150000"/>
              </a:lnSpc>
            </a:pPr>
            <a:r>
              <a:rPr lang="en-US" altLang="en-US" sz="2000" b="1" dirty="0"/>
              <a:t>We cleaned 500 flight records across 8 airlines to find out why,  and who is responsible.</a:t>
            </a:r>
            <a:endParaRPr lang="en-US" altLang="en-US" sz="2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3865" y="1661160"/>
            <a:ext cx="11304270" cy="4939030"/>
          </a:xfrm>
          <a:prstGeom prst="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0152203" y="1986451"/>
            <a:ext cx="1811045" cy="461639"/>
          </a:xfrm>
          <a:prstGeom prst="rect">
            <a:avLst/>
          </a:prstGeom>
          <a:solidFill>
            <a:srgbClr val="ABE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11"/>
          <p:cNvSpPr txBox="1"/>
          <p:nvPr/>
        </p:nvSpPr>
        <p:spPr>
          <a:xfrm>
            <a:off x="1129665" y="2508250"/>
            <a:ext cx="9478010" cy="7067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000" b="1" dirty="0">
                <a:latin typeface="Calibri" panose="020F0502020204030204" pitchFamily="34" charset="0"/>
                <a:ea typeface="汉仪良品线简" panose="00020600040101010101" pitchFamily="18" charset="-122"/>
                <a:cs typeface="Calibri" panose="020F0502020204030204" pitchFamily="34" charset="0"/>
              </a:rPr>
              <a:t>Airlines generate billions, but dirty, incomplete data makes it impossible to track performance, identify delays, or optimise revenue.</a:t>
            </a:r>
            <a:endParaRPr lang="en-US" altLang="en-US" sz="2000" b="1" dirty="0">
              <a:latin typeface="Calibri" panose="020F0502020204030204" pitchFamily="34" charset="0"/>
              <a:ea typeface="汉仪良品线简" panose="00020600040101010101" pitchFamily="18" charset="-122"/>
              <a:cs typeface="Calibri" panose="020F0502020204030204" pitchFamily="34" charset="0"/>
            </a:endParaRPr>
          </a:p>
        </p:txBody>
      </p:sp>
      <p:sp>
        <p:nvSpPr>
          <p:cNvPr id="7" name="矩形 6"/>
          <p:cNvSpPr/>
          <p:nvPr/>
        </p:nvSpPr>
        <p:spPr>
          <a:xfrm>
            <a:off x="4193201" y="1925833"/>
            <a:ext cx="3049270" cy="52197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u="sng" dirty="0"/>
              <a:t>Problem Statement</a:t>
            </a:r>
            <a:endParaRPr lang="en-US" altLang="zh-CN" sz="2800" b="1" u="sng" dirty="0"/>
          </a:p>
        </p:txBody>
      </p:sp>
      <p:sp>
        <p:nvSpPr>
          <p:cNvPr id="8" name="矩形 7"/>
          <p:cNvSpPr/>
          <p:nvPr/>
        </p:nvSpPr>
        <p:spPr>
          <a:xfrm>
            <a:off x="1174115" y="3429000"/>
            <a:ext cx="9778365" cy="258445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b="1" dirty="0"/>
              <a:t>Airlines generate billions in revenue, yet dirty, incomplete data makes it impossible to track performance, identify delays, or optimise revenue. Without reliable data, airlines cannot identify underperforming routes, make informed pricing decisions, or reduce operational delays that cost them passengers and profit. This dataset of 500 flight records across 8 airlines contained inconsistent formats, duplicates, missing values and zero revenue entries masking true performance. Our goal was to clean the data, analyse performance and surface insights that actually drive decisions.</a:t>
            </a:r>
            <a:endParaRPr lang="en-US" alt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23"/>
          <p:cNvGrpSpPr/>
          <p:nvPr/>
        </p:nvGrpSpPr>
        <p:grpSpPr bwMode="auto">
          <a:xfrm>
            <a:off x="4889831" y="1240481"/>
            <a:ext cx="379548" cy="330794"/>
            <a:chOff x="0" y="0"/>
            <a:chExt cx="389342" cy="339426"/>
          </a:xfrm>
        </p:grpSpPr>
        <p:sp>
          <p:nvSpPr>
            <p:cNvPr id="43" name="Freeform 110"/>
            <p:cNvSpPr>
              <a:spLocks noChangeArrowheads="1"/>
            </p:cNvSpPr>
            <p:nvPr/>
          </p:nvSpPr>
          <p:spPr bwMode="auto">
            <a:xfrm>
              <a:off x="259561" y="102327"/>
              <a:ext cx="102328" cy="102328"/>
            </a:xfrm>
            <a:custGeom>
              <a:avLst/>
              <a:gdLst>
                <a:gd name="T0" fmla="*/ 0 w 41"/>
                <a:gd name="T1" fmla="*/ 97336 h 41"/>
                <a:gd name="T2" fmla="*/ 7487 w 41"/>
                <a:gd name="T3" fmla="*/ 102328 h 41"/>
                <a:gd name="T4" fmla="*/ 102328 w 41"/>
                <a:gd name="T5" fmla="*/ 7487 h 41"/>
                <a:gd name="T6" fmla="*/ 97336 w 41"/>
                <a:gd name="T7" fmla="*/ 0 h 41"/>
                <a:gd name="T8" fmla="*/ 0 w 41"/>
                <a:gd name="T9" fmla="*/ 97336 h 41"/>
                <a:gd name="T10" fmla="*/ 0 60000 65536"/>
                <a:gd name="T11" fmla="*/ 0 60000 65536"/>
                <a:gd name="T12" fmla="*/ 0 60000 65536"/>
                <a:gd name="T13" fmla="*/ 0 60000 65536"/>
                <a:gd name="T14" fmla="*/ 0 60000 65536"/>
                <a:gd name="T15" fmla="*/ 0 w 41"/>
                <a:gd name="T16" fmla="*/ 0 h 41"/>
                <a:gd name="T17" fmla="*/ 41 w 41"/>
                <a:gd name="T18" fmla="*/ 41 h 41"/>
              </a:gdLst>
              <a:ahLst/>
              <a:cxnLst>
                <a:cxn ang="T10">
                  <a:pos x="T0" y="T1"/>
                </a:cxn>
                <a:cxn ang="T11">
                  <a:pos x="T2" y="T3"/>
                </a:cxn>
                <a:cxn ang="T12">
                  <a:pos x="T4" y="T5"/>
                </a:cxn>
                <a:cxn ang="T13">
                  <a:pos x="T6" y="T7"/>
                </a:cxn>
                <a:cxn ang="T14">
                  <a:pos x="T8" y="T9"/>
                </a:cxn>
              </a:cxnLst>
              <a:rect l="T15" t="T16" r="T17" b="T18"/>
              <a:pathLst>
                <a:path w="41" h="41">
                  <a:moveTo>
                    <a:pt x="0" y="39"/>
                  </a:moveTo>
                  <a:lnTo>
                    <a:pt x="3" y="41"/>
                  </a:lnTo>
                  <a:lnTo>
                    <a:pt x="41" y="3"/>
                  </a:lnTo>
                  <a:lnTo>
                    <a:pt x="39" y="0"/>
                  </a:lnTo>
                  <a:lnTo>
                    <a:pt x="0" y="39"/>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4" name="Freeform 111"/>
            <p:cNvSpPr>
              <a:spLocks noChangeArrowheads="1"/>
            </p:cNvSpPr>
            <p:nvPr/>
          </p:nvSpPr>
          <p:spPr bwMode="auto">
            <a:xfrm>
              <a:off x="237098" y="74873"/>
              <a:ext cx="109814" cy="114806"/>
            </a:xfrm>
            <a:custGeom>
              <a:avLst/>
              <a:gdLst>
                <a:gd name="T0" fmla="*/ 92344 w 44"/>
                <a:gd name="T1" fmla="*/ 0 h 46"/>
                <a:gd name="T2" fmla="*/ 0 w 44"/>
                <a:gd name="T3" fmla="*/ 97336 h 46"/>
                <a:gd name="T4" fmla="*/ 14975 w 44"/>
                <a:gd name="T5" fmla="*/ 114806 h 46"/>
                <a:gd name="T6" fmla="*/ 109814 w 44"/>
                <a:gd name="T7" fmla="*/ 19966 h 46"/>
                <a:gd name="T8" fmla="*/ 92344 w 44"/>
                <a:gd name="T9" fmla="*/ 0 h 46"/>
                <a:gd name="T10" fmla="*/ 0 60000 65536"/>
                <a:gd name="T11" fmla="*/ 0 60000 65536"/>
                <a:gd name="T12" fmla="*/ 0 60000 65536"/>
                <a:gd name="T13" fmla="*/ 0 60000 65536"/>
                <a:gd name="T14" fmla="*/ 0 60000 65536"/>
                <a:gd name="T15" fmla="*/ 0 w 44"/>
                <a:gd name="T16" fmla="*/ 0 h 46"/>
                <a:gd name="T17" fmla="*/ 44 w 44"/>
                <a:gd name="T18" fmla="*/ 46 h 46"/>
              </a:gdLst>
              <a:ahLst/>
              <a:cxnLst>
                <a:cxn ang="T10">
                  <a:pos x="T0" y="T1"/>
                </a:cxn>
                <a:cxn ang="T11">
                  <a:pos x="T2" y="T3"/>
                </a:cxn>
                <a:cxn ang="T12">
                  <a:pos x="T4" y="T5"/>
                </a:cxn>
                <a:cxn ang="T13">
                  <a:pos x="T6" y="T7"/>
                </a:cxn>
                <a:cxn ang="T14">
                  <a:pos x="T8" y="T9"/>
                </a:cxn>
              </a:cxnLst>
              <a:rect l="T15" t="T16" r="T17" b="T18"/>
              <a:pathLst>
                <a:path w="44" h="46">
                  <a:moveTo>
                    <a:pt x="37" y="0"/>
                  </a:moveTo>
                  <a:lnTo>
                    <a:pt x="0" y="39"/>
                  </a:lnTo>
                  <a:lnTo>
                    <a:pt x="6" y="46"/>
                  </a:lnTo>
                  <a:lnTo>
                    <a:pt x="44" y="8"/>
                  </a:lnTo>
                  <a:lnTo>
                    <a:pt x="37" y="0"/>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5" name="Freeform 112"/>
            <p:cNvSpPr>
              <a:spLocks noChangeArrowheads="1"/>
            </p:cNvSpPr>
            <p:nvPr/>
          </p:nvSpPr>
          <p:spPr bwMode="auto">
            <a:xfrm>
              <a:off x="217132" y="59898"/>
              <a:ext cx="104823" cy="104823"/>
            </a:xfrm>
            <a:custGeom>
              <a:avLst/>
              <a:gdLst>
                <a:gd name="T0" fmla="*/ 0 w 42"/>
                <a:gd name="T1" fmla="*/ 94840 h 42"/>
                <a:gd name="T2" fmla="*/ 9983 w 42"/>
                <a:gd name="T3" fmla="*/ 104823 h 42"/>
                <a:gd name="T4" fmla="*/ 104823 w 42"/>
                <a:gd name="T5" fmla="*/ 9983 h 42"/>
                <a:gd name="T6" fmla="*/ 94840 w 42"/>
                <a:gd name="T7" fmla="*/ 0 h 42"/>
                <a:gd name="T8" fmla="*/ 0 w 42"/>
                <a:gd name="T9" fmla="*/ 94840 h 42"/>
                <a:gd name="T10" fmla="*/ 0 60000 65536"/>
                <a:gd name="T11" fmla="*/ 0 60000 65536"/>
                <a:gd name="T12" fmla="*/ 0 60000 65536"/>
                <a:gd name="T13" fmla="*/ 0 60000 65536"/>
                <a:gd name="T14" fmla="*/ 0 60000 65536"/>
                <a:gd name="T15" fmla="*/ 0 w 42"/>
                <a:gd name="T16" fmla="*/ 0 h 42"/>
                <a:gd name="T17" fmla="*/ 42 w 42"/>
                <a:gd name="T18" fmla="*/ 42 h 42"/>
              </a:gdLst>
              <a:ahLst/>
              <a:cxnLst>
                <a:cxn ang="T10">
                  <a:pos x="T0" y="T1"/>
                </a:cxn>
                <a:cxn ang="T11">
                  <a:pos x="T2" y="T3"/>
                </a:cxn>
                <a:cxn ang="T12">
                  <a:pos x="T4" y="T5"/>
                </a:cxn>
                <a:cxn ang="T13">
                  <a:pos x="T6" y="T7"/>
                </a:cxn>
                <a:cxn ang="T14">
                  <a:pos x="T8" y="T9"/>
                </a:cxn>
              </a:cxnLst>
              <a:rect l="T15" t="T16" r="T17" b="T18"/>
              <a:pathLst>
                <a:path w="42" h="42">
                  <a:moveTo>
                    <a:pt x="0" y="38"/>
                  </a:moveTo>
                  <a:lnTo>
                    <a:pt x="4" y="42"/>
                  </a:lnTo>
                  <a:lnTo>
                    <a:pt x="42" y="4"/>
                  </a:lnTo>
                  <a:lnTo>
                    <a:pt x="38" y="0"/>
                  </a:lnTo>
                  <a:lnTo>
                    <a:pt x="0" y="38"/>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6" name="Freeform 113"/>
            <p:cNvSpPr>
              <a:spLocks noChangeArrowheads="1"/>
            </p:cNvSpPr>
            <p:nvPr/>
          </p:nvSpPr>
          <p:spPr bwMode="auto">
            <a:xfrm>
              <a:off x="189679" y="162226"/>
              <a:ext cx="69882" cy="69882"/>
            </a:xfrm>
            <a:custGeom>
              <a:avLst/>
              <a:gdLst>
                <a:gd name="T0" fmla="*/ 69882 w 28"/>
                <a:gd name="T1" fmla="*/ 49916 h 28"/>
                <a:gd name="T2" fmla="*/ 19966 w 28"/>
                <a:gd name="T3" fmla="*/ 0 h 28"/>
                <a:gd name="T4" fmla="*/ 0 w 28"/>
                <a:gd name="T5" fmla="*/ 49916 h 28"/>
                <a:gd name="T6" fmla="*/ 22462 w 28"/>
                <a:gd name="T7" fmla="*/ 69882 h 28"/>
                <a:gd name="T8" fmla="*/ 69882 w 28"/>
                <a:gd name="T9" fmla="*/ 49916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28" y="20"/>
                  </a:moveTo>
                  <a:lnTo>
                    <a:pt x="8" y="0"/>
                  </a:lnTo>
                  <a:lnTo>
                    <a:pt x="0" y="20"/>
                  </a:lnTo>
                  <a:lnTo>
                    <a:pt x="9" y="28"/>
                  </a:lnTo>
                  <a:lnTo>
                    <a:pt x="28" y="20"/>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7" name="Freeform 114"/>
            <p:cNvSpPr>
              <a:spLocks noChangeArrowheads="1"/>
            </p:cNvSpPr>
            <p:nvPr/>
          </p:nvSpPr>
          <p:spPr bwMode="auto">
            <a:xfrm>
              <a:off x="172208" y="219628"/>
              <a:ext cx="34941" cy="32446"/>
            </a:xfrm>
            <a:custGeom>
              <a:avLst/>
              <a:gdLst>
                <a:gd name="T0" fmla="*/ 0 w 14"/>
                <a:gd name="T1" fmla="*/ 32446 h 13"/>
                <a:gd name="T2" fmla="*/ 34941 w 14"/>
                <a:gd name="T3" fmla="*/ 14975 h 13"/>
                <a:gd name="T4" fmla="*/ 14975 w 14"/>
                <a:gd name="T5" fmla="*/ 0 h 13"/>
                <a:gd name="T6" fmla="*/ 0 w 14"/>
                <a:gd name="T7" fmla="*/ 32446 h 13"/>
                <a:gd name="T8" fmla="*/ 0 60000 65536"/>
                <a:gd name="T9" fmla="*/ 0 60000 65536"/>
                <a:gd name="T10" fmla="*/ 0 60000 65536"/>
                <a:gd name="T11" fmla="*/ 0 60000 65536"/>
                <a:gd name="T12" fmla="*/ 0 w 14"/>
                <a:gd name="T13" fmla="*/ 0 h 13"/>
                <a:gd name="T14" fmla="*/ 14 w 14"/>
                <a:gd name="T15" fmla="*/ 13 h 13"/>
              </a:gdLst>
              <a:ahLst/>
              <a:cxnLst>
                <a:cxn ang="T8">
                  <a:pos x="T0" y="T1"/>
                </a:cxn>
                <a:cxn ang="T9">
                  <a:pos x="T2" y="T3"/>
                </a:cxn>
                <a:cxn ang="T10">
                  <a:pos x="T4" y="T5"/>
                </a:cxn>
                <a:cxn ang="T11">
                  <a:pos x="T6" y="T7"/>
                </a:cxn>
              </a:cxnLst>
              <a:rect l="T12" t="T13" r="T14" b="T15"/>
              <a:pathLst>
                <a:path w="14" h="13">
                  <a:moveTo>
                    <a:pt x="0" y="13"/>
                  </a:moveTo>
                  <a:lnTo>
                    <a:pt x="14" y="6"/>
                  </a:lnTo>
                  <a:lnTo>
                    <a:pt x="6" y="0"/>
                  </a:lnTo>
                  <a:lnTo>
                    <a:pt x="0" y="13"/>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8" name="Freeform 115"/>
            <p:cNvSpPr>
              <a:spLocks noChangeArrowheads="1"/>
            </p:cNvSpPr>
            <p:nvPr/>
          </p:nvSpPr>
          <p:spPr bwMode="auto">
            <a:xfrm>
              <a:off x="319460" y="34941"/>
              <a:ext cx="69882" cy="69882"/>
            </a:xfrm>
            <a:custGeom>
              <a:avLst/>
              <a:gdLst>
                <a:gd name="T0" fmla="*/ 17471 w 28"/>
                <a:gd name="T1" fmla="*/ 0 h 28"/>
                <a:gd name="T2" fmla="*/ 0 w 28"/>
                <a:gd name="T3" fmla="*/ 19966 h 28"/>
                <a:gd name="T4" fmla="*/ 49916 w 28"/>
                <a:gd name="T5" fmla="*/ 69882 h 28"/>
                <a:gd name="T6" fmla="*/ 69882 w 28"/>
                <a:gd name="T7" fmla="*/ 49916 h 28"/>
                <a:gd name="T8" fmla="*/ 17471 w 28"/>
                <a:gd name="T9" fmla="*/ 0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7" y="0"/>
                  </a:moveTo>
                  <a:lnTo>
                    <a:pt x="0" y="8"/>
                  </a:lnTo>
                  <a:lnTo>
                    <a:pt x="20" y="28"/>
                  </a:lnTo>
                  <a:lnTo>
                    <a:pt x="28" y="20"/>
                  </a:lnTo>
                  <a:lnTo>
                    <a:pt x="7" y="0"/>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9" name="Freeform 116"/>
            <p:cNvSpPr>
              <a:spLocks noChangeArrowheads="1"/>
            </p:cNvSpPr>
            <p:nvPr/>
          </p:nvSpPr>
          <p:spPr bwMode="auto">
            <a:xfrm>
              <a:off x="0" y="0"/>
              <a:ext cx="279527" cy="339426"/>
            </a:xfrm>
            <a:custGeom>
              <a:avLst/>
              <a:gdLst>
                <a:gd name="T0" fmla="*/ 259561 w 112"/>
                <a:gd name="T1" fmla="*/ 252074 h 136"/>
                <a:gd name="T2" fmla="*/ 207149 w 112"/>
                <a:gd name="T3" fmla="*/ 252074 h 136"/>
                <a:gd name="T4" fmla="*/ 207149 w 112"/>
                <a:gd name="T5" fmla="*/ 321956 h 136"/>
                <a:gd name="T6" fmla="*/ 17470 w 112"/>
                <a:gd name="T7" fmla="*/ 321956 h 136"/>
                <a:gd name="T8" fmla="*/ 17470 w 112"/>
                <a:gd name="T9" fmla="*/ 79865 h 136"/>
                <a:gd name="T10" fmla="*/ 259561 w 112"/>
                <a:gd name="T11" fmla="*/ 79865 h 136"/>
                <a:gd name="T12" fmla="*/ 259561 w 112"/>
                <a:gd name="T13" fmla="*/ 99831 h 136"/>
                <a:gd name="T14" fmla="*/ 279527 w 112"/>
                <a:gd name="T15" fmla="*/ 79865 h 136"/>
                <a:gd name="T16" fmla="*/ 279527 w 112"/>
                <a:gd name="T17" fmla="*/ 14975 h 136"/>
                <a:gd name="T18" fmla="*/ 242090 w 112"/>
                <a:gd name="T19" fmla="*/ 14975 h 136"/>
                <a:gd name="T20" fmla="*/ 242090 w 112"/>
                <a:gd name="T21" fmla="*/ 49916 h 136"/>
                <a:gd name="T22" fmla="*/ 237099 w 112"/>
                <a:gd name="T23" fmla="*/ 49916 h 136"/>
                <a:gd name="T24" fmla="*/ 237099 w 112"/>
                <a:gd name="T25" fmla="*/ 0 h 136"/>
                <a:gd name="T26" fmla="*/ 222124 w 112"/>
                <a:gd name="T27" fmla="*/ 0 h 136"/>
                <a:gd name="T28" fmla="*/ 222124 w 112"/>
                <a:gd name="T29" fmla="*/ 49916 h 136"/>
                <a:gd name="T30" fmla="*/ 217133 w 112"/>
                <a:gd name="T31" fmla="*/ 49916 h 136"/>
                <a:gd name="T32" fmla="*/ 217133 w 112"/>
                <a:gd name="T33" fmla="*/ 14975 h 136"/>
                <a:gd name="T34" fmla="*/ 197166 w 112"/>
                <a:gd name="T35" fmla="*/ 14975 h 136"/>
                <a:gd name="T36" fmla="*/ 197166 w 112"/>
                <a:gd name="T37" fmla="*/ 49916 h 136"/>
                <a:gd name="T38" fmla="*/ 189679 w 112"/>
                <a:gd name="T39" fmla="*/ 49916 h 136"/>
                <a:gd name="T40" fmla="*/ 189679 w 112"/>
                <a:gd name="T41" fmla="*/ 0 h 136"/>
                <a:gd name="T42" fmla="*/ 179696 w 112"/>
                <a:gd name="T43" fmla="*/ 0 h 136"/>
                <a:gd name="T44" fmla="*/ 179696 w 112"/>
                <a:gd name="T45" fmla="*/ 49916 h 136"/>
                <a:gd name="T46" fmla="*/ 169713 w 112"/>
                <a:gd name="T47" fmla="*/ 49916 h 136"/>
                <a:gd name="T48" fmla="*/ 169713 w 112"/>
                <a:gd name="T49" fmla="*/ 14975 h 136"/>
                <a:gd name="T50" fmla="*/ 149747 w 112"/>
                <a:gd name="T51" fmla="*/ 14975 h 136"/>
                <a:gd name="T52" fmla="*/ 149747 w 112"/>
                <a:gd name="T53" fmla="*/ 49916 h 136"/>
                <a:gd name="T54" fmla="*/ 142259 w 112"/>
                <a:gd name="T55" fmla="*/ 49916 h 136"/>
                <a:gd name="T56" fmla="*/ 142259 w 112"/>
                <a:gd name="T57" fmla="*/ 0 h 136"/>
                <a:gd name="T58" fmla="*/ 132276 w 112"/>
                <a:gd name="T59" fmla="*/ 0 h 136"/>
                <a:gd name="T60" fmla="*/ 132276 w 112"/>
                <a:gd name="T61" fmla="*/ 49916 h 136"/>
                <a:gd name="T62" fmla="*/ 127285 w 112"/>
                <a:gd name="T63" fmla="*/ 49916 h 136"/>
                <a:gd name="T64" fmla="*/ 127285 w 112"/>
                <a:gd name="T65" fmla="*/ 14975 h 136"/>
                <a:gd name="T66" fmla="*/ 107318 w 112"/>
                <a:gd name="T67" fmla="*/ 14975 h 136"/>
                <a:gd name="T68" fmla="*/ 107318 w 112"/>
                <a:gd name="T69" fmla="*/ 49916 h 136"/>
                <a:gd name="T70" fmla="*/ 99831 w 112"/>
                <a:gd name="T71" fmla="*/ 49916 h 136"/>
                <a:gd name="T72" fmla="*/ 99831 w 112"/>
                <a:gd name="T73" fmla="*/ 0 h 136"/>
                <a:gd name="T74" fmla="*/ 87352 w 112"/>
                <a:gd name="T75" fmla="*/ 0 h 136"/>
                <a:gd name="T76" fmla="*/ 87352 w 112"/>
                <a:gd name="T77" fmla="*/ 49916 h 136"/>
                <a:gd name="T78" fmla="*/ 79865 w 112"/>
                <a:gd name="T79" fmla="*/ 49916 h 136"/>
                <a:gd name="T80" fmla="*/ 79865 w 112"/>
                <a:gd name="T81" fmla="*/ 14975 h 136"/>
                <a:gd name="T82" fmla="*/ 62394 w 112"/>
                <a:gd name="T83" fmla="*/ 14975 h 136"/>
                <a:gd name="T84" fmla="*/ 62394 w 112"/>
                <a:gd name="T85" fmla="*/ 49916 h 136"/>
                <a:gd name="T86" fmla="*/ 57403 w 112"/>
                <a:gd name="T87" fmla="*/ 49916 h 136"/>
                <a:gd name="T88" fmla="*/ 57403 w 112"/>
                <a:gd name="T89" fmla="*/ 0 h 136"/>
                <a:gd name="T90" fmla="*/ 42428 w 112"/>
                <a:gd name="T91" fmla="*/ 0 h 136"/>
                <a:gd name="T92" fmla="*/ 42428 w 112"/>
                <a:gd name="T93" fmla="*/ 49916 h 136"/>
                <a:gd name="T94" fmla="*/ 37437 w 112"/>
                <a:gd name="T95" fmla="*/ 49916 h 136"/>
                <a:gd name="T96" fmla="*/ 37437 w 112"/>
                <a:gd name="T97" fmla="*/ 14975 h 136"/>
                <a:gd name="T98" fmla="*/ 0 w 112"/>
                <a:gd name="T99" fmla="*/ 14975 h 136"/>
                <a:gd name="T100" fmla="*/ 0 w 112"/>
                <a:gd name="T101" fmla="*/ 59899 h 136"/>
                <a:gd name="T102" fmla="*/ 0 w 112"/>
                <a:gd name="T103" fmla="*/ 69882 h 136"/>
                <a:gd name="T104" fmla="*/ 0 w 112"/>
                <a:gd name="T105" fmla="*/ 339426 h 136"/>
                <a:gd name="T106" fmla="*/ 222124 w 112"/>
                <a:gd name="T107" fmla="*/ 339426 h 136"/>
                <a:gd name="T108" fmla="*/ 279527 w 112"/>
                <a:gd name="T109" fmla="*/ 274536 h 136"/>
                <a:gd name="T110" fmla="*/ 279527 w 112"/>
                <a:gd name="T111" fmla="*/ 209645 h 136"/>
                <a:gd name="T112" fmla="*/ 259561 w 112"/>
                <a:gd name="T113" fmla="*/ 229612 h 136"/>
                <a:gd name="T114" fmla="*/ 259561 w 112"/>
                <a:gd name="T115" fmla="*/ 252074 h 1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
                <a:gd name="T175" fmla="*/ 0 h 136"/>
                <a:gd name="T176" fmla="*/ 112 w 112"/>
                <a:gd name="T177" fmla="*/ 136 h 1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 h="136">
                  <a:moveTo>
                    <a:pt x="104" y="101"/>
                  </a:moveTo>
                  <a:lnTo>
                    <a:pt x="83" y="101"/>
                  </a:lnTo>
                  <a:lnTo>
                    <a:pt x="83" y="129"/>
                  </a:lnTo>
                  <a:lnTo>
                    <a:pt x="7" y="129"/>
                  </a:lnTo>
                  <a:lnTo>
                    <a:pt x="7" y="32"/>
                  </a:lnTo>
                  <a:lnTo>
                    <a:pt x="104" y="32"/>
                  </a:lnTo>
                  <a:lnTo>
                    <a:pt x="104" y="40"/>
                  </a:lnTo>
                  <a:lnTo>
                    <a:pt x="112" y="32"/>
                  </a:lnTo>
                  <a:lnTo>
                    <a:pt x="112" y="6"/>
                  </a:lnTo>
                  <a:lnTo>
                    <a:pt x="97" y="6"/>
                  </a:lnTo>
                  <a:lnTo>
                    <a:pt x="97" y="20"/>
                  </a:lnTo>
                  <a:lnTo>
                    <a:pt x="95" y="20"/>
                  </a:lnTo>
                  <a:lnTo>
                    <a:pt x="95" y="0"/>
                  </a:lnTo>
                  <a:lnTo>
                    <a:pt x="89" y="0"/>
                  </a:lnTo>
                  <a:lnTo>
                    <a:pt x="89" y="20"/>
                  </a:lnTo>
                  <a:lnTo>
                    <a:pt x="87" y="20"/>
                  </a:lnTo>
                  <a:lnTo>
                    <a:pt x="87" y="6"/>
                  </a:lnTo>
                  <a:lnTo>
                    <a:pt x="79" y="6"/>
                  </a:lnTo>
                  <a:lnTo>
                    <a:pt x="79" y="20"/>
                  </a:lnTo>
                  <a:lnTo>
                    <a:pt x="76" y="20"/>
                  </a:lnTo>
                  <a:lnTo>
                    <a:pt x="76" y="0"/>
                  </a:lnTo>
                  <a:lnTo>
                    <a:pt x="72" y="0"/>
                  </a:lnTo>
                  <a:lnTo>
                    <a:pt x="72" y="20"/>
                  </a:lnTo>
                  <a:lnTo>
                    <a:pt x="68" y="20"/>
                  </a:lnTo>
                  <a:lnTo>
                    <a:pt x="68" y="6"/>
                  </a:lnTo>
                  <a:lnTo>
                    <a:pt x="60" y="6"/>
                  </a:lnTo>
                  <a:lnTo>
                    <a:pt x="60" y="20"/>
                  </a:lnTo>
                  <a:lnTo>
                    <a:pt x="57" y="20"/>
                  </a:lnTo>
                  <a:lnTo>
                    <a:pt x="57" y="0"/>
                  </a:lnTo>
                  <a:lnTo>
                    <a:pt x="53" y="0"/>
                  </a:lnTo>
                  <a:lnTo>
                    <a:pt x="53" y="20"/>
                  </a:lnTo>
                  <a:lnTo>
                    <a:pt x="51" y="20"/>
                  </a:lnTo>
                  <a:lnTo>
                    <a:pt x="51" y="6"/>
                  </a:lnTo>
                  <a:lnTo>
                    <a:pt x="43" y="6"/>
                  </a:lnTo>
                  <a:lnTo>
                    <a:pt x="43" y="20"/>
                  </a:lnTo>
                  <a:lnTo>
                    <a:pt x="40" y="20"/>
                  </a:lnTo>
                  <a:lnTo>
                    <a:pt x="40" y="0"/>
                  </a:lnTo>
                  <a:lnTo>
                    <a:pt x="35" y="0"/>
                  </a:lnTo>
                  <a:lnTo>
                    <a:pt x="35" y="20"/>
                  </a:lnTo>
                  <a:lnTo>
                    <a:pt x="32" y="20"/>
                  </a:lnTo>
                  <a:lnTo>
                    <a:pt x="32" y="6"/>
                  </a:lnTo>
                  <a:lnTo>
                    <a:pt x="25" y="6"/>
                  </a:lnTo>
                  <a:lnTo>
                    <a:pt x="25" y="20"/>
                  </a:lnTo>
                  <a:lnTo>
                    <a:pt x="23" y="20"/>
                  </a:lnTo>
                  <a:lnTo>
                    <a:pt x="23" y="0"/>
                  </a:lnTo>
                  <a:lnTo>
                    <a:pt x="17" y="0"/>
                  </a:lnTo>
                  <a:lnTo>
                    <a:pt x="17" y="20"/>
                  </a:lnTo>
                  <a:lnTo>
                    <a:pt x="15" y="20"/>
                  </a:lnTo>
                  <a:lnTo>
                    <a:pt x="15" y="6"/>
                  </a:lnTo>
                  <a:lnTo>
                    <a:pt x="0" y="6"/>
                  </a:lnTo>
                  <a:lnTo>
                    <a:pt x="0" y="24"/>
                  </a:lnTo>
                  <a:lnTo>
                    <a:pt x="0" y="28"/>
                  </a:lnTo>
                  <a:lnTo>
                    <a:pt x="0" y="136"/>
                  </a:lnTo>
                  <a:lnTo>
                    <a:pt x="89" y="136"/>
                  </a:lnTo>
                  <a:lnTo>
                    <a:pt x="112" y="110"/>
                  </a:lnTo>
                  <a:lnTo>
                    <a:pt x="112" y="84"/>
                  </a:lnTo>
                  <a:lnTo>
                    <a:pt x="104" y="92"/>
                  </a:lnTo>
                  <a:lnTo>
                    <a:pt x="104" y="101"/>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50" name="Rectangle 117"/>
            <p:cNvSpPr>
              <a:spLocks noChangeArrowheads="1"/>
            </p:cNvSpPr>
            <p:nvPr/>
          </p:nvSpPr>
          <p:spPr bwMode="auto">
            <a:xfrm>
              <a:off x="49916" y="114806"/>
              <a:ext cx="109814" cy="17471"/>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51" name="Rectangle 118"/>
            <p:cNvSpPr>
              <a:spLocks noChangeArrowheads="1"/>
            </p:cNvSpPr>
            <p:nvPr/>
          </p:nvSpPr>
          <p:spPr bwMode="auto">
            <a:xfrm>
              <a:off x="49916" y="154738"/>
              <a:ext cx="109814" cy="17471"/>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52" name="Rectangle 119"/>
            <p:cNvSpPr>
              <a:spLocks noChangeArrowheads="1"/>
            </p:cNvSpPr>
            <p:nvPr/>
          </p:nvSpPr>
          <p:spPr bwMode="auto">
            <a:xfrm>
              <a:off x="49916" y="199662"/>
              <a:ext cx="109814" cy="14975"/>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53" name="Rectangle 120"/>
            <p:cNvSpPr>
              <a:spLocks noChangeArrowheads="1"/>
            </p:cNvSpPr>
            <p:nvPr/>
          </p:nvSpPr>
          <p:spPr bwMode="auto">
            <a:xfrm>
              <a:off x="49916" y="242091"/>
              <a:ext cx="109814" cy="17471"/>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grpSp>
      <p:grpSp>
        <p:nvGrpSpPr>
          <p:cNvPr id="8" name="Group 35"/>
          <p:cNvGrpSpPr/>
          <p:nvPr/>
        </p:nvGrpSpPr>
        <p:grpSpPr bwMode="auto">
          <a:xfrm>
            <a:off x="9810829" y="1204494"/>
            <a:ext cx="370263" cy="366780"/>
            <a:chOff x="0" y="0"/>
            <a:chExt cx="379359" cy="376864"/>
          </a:xfrm>
        </p:grpSpPr>
        <p:sp>
          <p:nvSpPr>
            <p:cNvPr id="25" name="Freeform 150"/>
            <p:cNvSpPr>
              <a:spLocks noEditPoints="1" noChangeArrowheads="1"/>
            </p:cNvSpPr>
            <p:nvPr/>
          </p:nvSpPr>
          <p:spPr bwMode="auto">
            <a:xfrm>
              <a:off x="0" y="0"/>
              <a:ext cx="379359" cy="376864"/>
            </a:xfrm>
            <a:custGeom>
              <a:avLst/>
              <a:gdLst>
                <a:gd name="T0" fmla="*/ 189680 w 114"/>
                <a:gd name="T1" fmla="*/ 0 h 114"/>
                <a:gd name="T2" fmla="*/ 0 w 114"/>
                <a:gd name="T3" fmla="*/ 188432 h 114"/>
                <a:gd name="T4" fmla="*/ 189680 w 114"/>
                <a:gd name="T5" fmla="*/ 376864 h 114"/>
                <a:gd name="T6" fmla="*/ 379359 w 114"/>
                <a:gd name="T7" fmla="*/ 188432 h 114"/>
                <a:gd name="T8" fmla="*/ 189680 w 114"/>
                <a:gd name="T9" fmla="*/ 0 h 114"/>
                <a:gd name="T10" fmla="*/ 189680 w 114"/>
                <a:gd name="T11" fmla="*/ 357029 h 114"/>
                <a:gd name="T12" fmla="*/ 19966 w 114"/>
                <a:gd name="T13" fmla="*/ 188432 h 114"/>
                <a:gd name="T14" fmla="*/ 189680 w 114"/>
                <a:gd name="T15" fmla="*/ 19835 h 114"/>
                <a:gd name="T16" fmla="*/ 359393 w 114"/>
                <a:gd name="T17" fmla="*/ 188432 h 114"/>
                <a:gd name="T18" fmla="*/ 189680 w 114"/>
                <a:gd name="T19" fmla="*/ 357029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114"/>
                <a:gd name="T32" fmla="*/ 114 w 114"/>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114">
                  <a:moveTo>
                    <a:pt x="57" y="0"/>
                  </a:moveTo>
                  <a:cubicBezTo>
                    <a:pt x="25" y="0"/>
                    <a:pt x="0" y="25"/>
                    <a:pt x="0" y="57"/>
                  </a:cubicBezTo>
                  <a:cubicBezTo>
                    <a:pt x="0" y="89"/>
                    <a:pt x="25" y="114"/>
                    <a:pt x="57" y="114"/>
                  </a:cubicBezTo>
                  <a:cubicBezTo>
                    <a:pt x="89" y="114"/>
                    <a:pt x="114" y="89"/>
                    <a:pt x="114" y="57"/>
                  </a:cubicBezTo>
                  <a:cubicBezTo>
                    <a:pt x="114" y="25"/>
                    <a:pt x="89" y="0"/>
                    <a:pt x="57" y="0"/>
                  </a:cubicBezTo>
                  <a:close/>
                  <a:moveTo>
                    <a:pt x="57" y="108"/>
                  </a:moveTo>
                  <a:cubicBezTo>
                    <a:pt x="29" y="108"/>
                    <a:pt x="6" y="85"/>
                    <a:pt x="6" y="57"/>
                  </a:cubicBezTo>
                  <a:cubicBezTo>
                    <a:pt x="6" y="29"/>
                    <a:pt x="29" y="6"/>
                    <a:pt x="57" y="6"/>
                  </a:cubicBezTo>
                  <a:cubicBezTo>
                    <a:pt x="85" y="6"/>
                    <a:pt x="108" y="29"/>
                    <a:pt x="108" y="57"/>
                  </a:cubicBezTo>
                  <a:cubicBezTo>
                    <a:pt x="108" y="85"/>
                    <a:pt x="85" y="108"/>
                    <a:pt x="57" y="108"/>
                  </a:cubicBez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26" name="Rectangle 151"/>
            <p:cNvSpPr>
              <a:spLocks noChangeArrowheads="1"/>
            </p:cNvSpPr>
            <p:nvPr/>
          </p:nvSpPr>
          <p:spPr bwMode="auto">
            <a:xfrm>
              <a:off x="144756" y="272040"/>
              <a:ext cx="22463" cy="42429"/>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27" name="Rectangle 152"/>
            <p:cNvSpPr>
              <a:spLocks noChangeArrowheads="1"/>
            </p:cNvSpPr>
            <p:nvPr/>
          </p:nvSpPr>
          <p:spPr bwMode="auto">
            <a:xfrm>
              <a:off x="179697" y="272040"/>
              <a:ext cx="19966" cy="42429"/>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28" name="Rectangle 153"/>
            <p:cNvSpPr>
              <a:spLocks noChangeArrowheads="1"/>
            </p:cNvSpPr>
            <p:nvPr/>
          </p:nvSpPr>
          <p:spPr bwMode="auto">
            <a:xfrm>
              <a:off x="214638" y="272040"/>
              <a:ext cx="19966" cy="42429"/>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29" name="Freeform 154"/>
            <p:cNvSpPr>
              <a:spLocks noChangeArrowheads="1"/>
            </p:cNvSpPr>
            <p:nvPr/>
          </p:nvSpPr>
          <p:spPr bwMode="auto">
            <a:xfrm>
              <a:off x="117303" y="107318"/>
              <a:ext cx="82362" cy="84857"/>
            </a:xfrm>
            <a:custGeom>
              <a:avLst/>
              <a:gdLst>
                <a:gd name="T0" fmla="*/ 62595 w 25"/>
                <a:gd name="T1" fmla="*/ 74674 h 25"/>
                <a:gd name="T2" fmla="*/ 72479 w 25"/>
                <a:gd name="T3" fmla="*/ 84857 h 25"/>
                <a:gd name="T4" fmla="*/ 82362 w 25"/>
                <a:gd name="T5" fmla="*/ 74674 h 25"/>
                <a:gd name="T6" fmla="*/ 72479 w 25"/>
                <a:gd name="T7" fmla="*/ 64491 h 25"/>
                <a:gd name="T8" fmla="*/ 69184 w 25"/>
                <a:gd name="T9" fmla="*/ 64491 h 25"/>
                <a:gd name="T10" fmla="*/ 0 w 25"/>
                <a:gd name="T11" fmla="*/ 0 h 25"/>
                <a:gd name="T12" fmla="*/ 62595 w 25"/>
                <a:gd name="T13" fmla="*/ 74674 h 25"/>
                <a:gd name="T14" fmla="*/ 62595 w 25"/>
                <a:gd name="T15" fmla="*/ 74674 h 25"/>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5"/>
                <a:gd name="T26" fmla="*/ 25 w 25"/>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5">
                  <a:moveTo>
                    <a:pt x="19" y="22"/>
                  </a:moveTo>
                  <a:cubicBezTo>
                    <a:pt x="19" y="24"/>
                    <a:pt x="20" y="25"/>
                    <a:pt x="22" y="25"/>
                  </a:cubicBezTo>
                  <a:cubicBezTo>
                    <a:pt x="24" y="25"/>
                    <a:pt x="25" y="24"/>
                    <a:pt x="25" y="22"/>
                  </a:cubicBezTo>
                  <a:cubicBezTo>
                    <a:pt x="25" y="21"/>
                    <a:pt x="24" y="19"/>
                    <a:pt x="22" y="19"/>
                  </a:cubicBezTo>
                  <a:cubicBezTo>
                    <a:pt x="22" y="19"/>
                    <a:pt x="22" y="19"/>
                    <a:pt x="21" y="19"/>
                  </a:cubicBezTo>
                  <a:cubicBezTo>
                    <a:pt x="0" y="0"/>
                    <a:pt x="0" y="0"/>
                    <a:pt x="0" y="0"/>
                  </a:cubicBezTo>
                  <a:cubicBezTo>
                    <a:pt x="19" y="22"/>
                    <a:pt x="19" y="22"/>
                    <a:pt x="19" y="22"/>
                  </a:cubicBezTo>
                  <a:cubicBezTo>
                    <a:pt x="19" y="22"/>
                    <a:pt x="19" y="22"/>
                    <a:pt x="19" y="22"/>
                  </a:cubicBez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0" name="Freeform 155"/>
            <p:cNvSpPr>
              <a:spLocks noChangeArrowheads="1"/>
            </p:cNvSpPr>
            <p:nvPr/>
          </p:nvSpPr>
          <p:spPr bwMode="auto">
            <a:xfrm>
              <a:off x="67387" y="272040"/>
              <a:ext cx="22463" cy="19966"/>
            </a:xfrm>
            <a:custGeom>
              <a:avLst/>
              <a:gdLst>
                <a:gd name="T0" fmla="*/ 0 w 9"/>
                <a:gd name="T1" fmla="*/ 14974 h 8"/>
                <a:gd name="T2" fmla="*/ 7488 w 9"/>
                <a:gd name="T3" fmla="*/ 19966 h 8"/>
                <a:gd name="T4" fmla="*/ 22463 w 9"/>
                <a:gd name="T5" fmla="*/ 2496 h 8"/>
                <a:gd name="T6" fmla="*/ 17471 w 9"/>
                <a:gd name="T7" fmla="*/ 0 h 8"/>
                <a:gd name="T8" fmla="*/ 0 w 9"/>
                <a:gd name="T9" fmla="*/ 14974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6"/>
                  </a:moveTo>
                  <a:lnTo>
                    <a:pt x="3" y="8"/>
                  </a:lnTo>
                  <a:lnTo>
                    <a:pt x="9" y="1"/>
                  </a:lnTo>
                  <a:lnTo>
                    <a:pt x="7" y="0"/>
                  </a:lnTo>
                  <a:lnTo>
                    <a:pt x="0" y="6"/>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1" name="Freeform 156"/>
            <p:cNvSpPr>
              <a:spLocks noChangeArrowheads="1"/>
            </p:cNvSpPr>
            <p:nvPr/>
          </p:nvSpPr>
          <p:spPr bwMode="auto">
            <a:xfrm>
              <a:off x="47421" y="227116"/>
              <a:ext cx="27454" cy="14975"/>
            </a:xfrm>
            <a:custGeom>
              <a:avLst/>
              <a:gdLst>
                <a:gd name="T0" fmla="*/ 22462 w 11"/>
                <a:gd name="T1" fmla="*/ 0 h 6"/>
                <a:gd name="T2" fmla="*/ 0 w 11"/>
                <a:gd name="T3" fmla="*/ 7488 h 6"/>
                <a:gd name="T4" fmla="*/ 2496 w 11"/>
                <a:gd name="T5" fmla="*/ 14975 h 6"/>
                <a:gd name="T6" fmla="*/ 27454 w 11"/>
                <a:gd name="T7" fmla="*/ 7488 h 6"/>
                <a:gd name="T8" fmla="*/ 22462 w 11"/>
                <a:gd name="T9" fmla="*/ 0 h 6"/>
                <a:gd name="T10" fmla="*/ 0 60000 65536"/>
                <a:gd name="T11" fmla="*/ 0 60000 65536"/>
                <a:gd name="T12" fmla="*/ 0 60000 65536"/>
                <a:gd name="T13" fmla="*/ 0 60000 65536"/>
                <a:gd name="T14" fmla="*/ 0 60000 65536"/>
                <a:gd name="T15" fmla="*/ 0 w 11"/>
                <a:gd name="T16" fmla="*/ 0 h 6"/>
                <a:gd name="T17" fmla="*/ 11 w 11"/>
                <a:gd name="T18" fmla="*/ 6 h 6"/>
              </a:gdLst>
              <a:ahLst/>
              <a:cxnLst>
                <a:cxn ang="T10">
                  <a:pos x="T0" y="T1"/>
                </a:cxn>
                <a:cxn ang="T11">
                  <a:pos x="T2" y="T3"/>
                </a:cxn>
                <a:cxn ang="T12">
                  <a:pos x="T4" y="T5"/>
                </a:cxn>
                <a:cxn ang="T13">
                  <a:pos x="T6" y="T7"/>
                </a:cxn>
                <a:cxn ang="T14">
                  <a:pos x="T8" y="T9"/>
                </a:cxn>
              </a:cxnLst>
              <a:rect l="T15" t="T16" r="T17" b="T18"/>
              <a:pathLst>
                <a:path w="11" h="6">
                  <a:moveTo>
                    <a:pt x="9" y="0"/>
                  </a:moveTo>
                  <a:lnTo>
                    <a:pt x="0" y="3"/>
                  </a:lnTo>
                  <a:lnTo>
                    <a:pt x="1" y="6"/>
                  </a:lnTo>
                  <a:lnTo>
                    <a:pt x="11" y="3"/>
                  </a:lnTo>
                  <a:lnTo>
                    <a:pt x="9" y="0"/>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2" name="Freeform 157"/>
            <p:cNvSpPr>
              <a:spLocks noChangeArrowheads="1"/>
            </p:cNvSpPr>
            <p:nvPr/>
          </p:nvSpPr>
          <p:spPr bwMode="auto">
            <a:xfrm>
              <a:off x="79865" y="74874"/>
              <a:ext cx="19966" cy="22463"/>
            </a:xfrm>
            <a:custGeom>
              <a:avLst/>
              <a:gdLst>
                <a:gd name="T0" fmla="*/ 0 w 8"/>
                <a:gd name="T1" fmla="*/ 7488 h 9"/>
                <a:gd name="T2" fmla="*/ 17470 w 8"/>
                <a:gd name="T3" fmla="*/ 22463 h 9"/>
                <a:gd name="T4" fmla="*/ 19966 w 8"/>
                <a:gd name="T5" fmla="*/ 17471 h 9"/>
                <a:gd name="T6" fmla="*/ 4992 w 8"/>
                <a:gd name="T7" fmla="*/ 0 h 9"/>
                <a:gd name="T8" fmla="*/ 0 w 8"/>
                <a:gd name="T9" fmla="*/ 748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0" y="3"/>
                  </a:moveTo>
                  <a:lnTo>
                    <a:pt x="7" y="9"/>
                  </a:lnTo>
                  <a:lnTo>
                    <a:pt x="8" y="7"/>
                  </a:lnTo>
                  <a:lnTo>
                    <a:pt x="2" y="0"/>
                  </a:lnTo>
                  <a:lnTo>
                    <a:pt x="0" y="3"/>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3" name="Freeform 158"/>
            <p:cNvSpPr>
              <a:spLocks noChangeArrowheads="1"/>
            </p:cNvSpPr>
            <p:nvPr/>
          </p:nvSpPr>
          <p:spPr bwMode="auto">
            <a:xfrm>
              <a:off x="49916" y="124789"/>
              <a:ext cx="27454" cy="12480"/>
            </a:xfrm>
            <a:custGeom>
              <a:avLst/>
              <a:gdLst>
                <a:gd name="T0" fmla="*/ 27454 w 11"/>
                <a:gd name="T1" fmla="*/ 7488 h 5"/>
                <a:gd name="T2" fmla="*/ 4992 w 11"/>
                <a:gd name="T3" fmla="*/ 0 h 5"/>
                <a:gd name="T4" fmla="*/ 0 w 11"/>
                <a:gd name="T5" fmla="*/ 7488 h 5"/>
                <a:gd name="T6" fmla="*/ 24958 w 11"/>
                <a:gd name="T7" fmla="*/ 12480 h 5"/>
                <a:gd name="T8" fmla="*/ 27454 w 11"/>
                <a:gd name="T9" fmla="*/ 7488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1" y="3"/>
                  </a:moveTo>
                  <a:lnTo>
                    <a:pt x="2" y="0"/>
                  </a:lnTo>
                  <a:lnTo>
                    <a:pt x="0" y="3"/>
                  </a:lnTo>
                  <a:lnTo>
                    <a:pt x="10" y="5"/>
                  </a:lnTo>
                  <a:lnTo>
                    <a:pt x="11" y="3"/>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4" name="Rectangle 159"/>
            <p:cNvSpPr>
              <a:spLocks noChangeArrowheads="1"/>
            </p:cNvSpPr>
            <p:nvPr/>
          </p:nvSpPr>
          <p:spPr bwMode="auto">
            <a:xfrm>
              <a:off x="187185" y="34941"/>
              <a:ext cx="7488" cy="22463"/>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5" name="Freeform 160"/>
            <p:cNvSpPr>
              <a:spLocks noChangeArrowheads="1"/>
            </p:cNvSpPr>
            <p:nvPr/>
          </p:nvSpPr>
          <p:spPr bwMode="auto">
            <a:xfrm>
              <a:off x="119798" y="44924"/>
              <a:ext cx="17471" cy="22463"/>
            </a:xfrm>
            <a:custGeom>
              <a:avLst/>
              <a:gdLst>
                <a:gd name="T0" fmla="*/ 17471 w 7"/>
                <a:gd name="T1" fmla="*/ 19967 h 9"/>
                <a:gd name="T2" fmla="*/ 7488 w 7"/>
                <a:gd name="T3" fmla="*/ 0 h 9"/>
                <a:gd name="T4" fmla="*/ 0 w 7"/>
                <a:gd name="T5" fmla="*/ 4992 h 9"/>
                <a:gd name="T6" fmla="*/ 9983 w 7"/>
                <a:gd name="T7" fmla="*/ 22463 h 9"/>
                <a:gd name="T8" fmla="*/ 17471 w 7"/>
                <a:gd name="T9" fmla="*/ 19967 h 9"/>
                <a:gd name="T10" fmla="*/ 0 60000 65536"/>
                <a:gd name="T11" fmla="*/ 0 60000 65536"/>
                <a:gd name="T12" fmla="*/ 0 60000 65536"/>
                <a:gd name="T13" fmla="*/ 0 60000 65536"/>
                <a:gd name="T14" fmla="*/ 0 60000 65536"/>
                <a:gd name="T15" fmla="*/ 0 w 7"/>
                <a:gd name="T16" fmla="*/ 0 h 9"/>
                <a:gd name="T17" fmla="*/ 7 w 7"/>
                <a:gd name="T18" fmla="*/ 9 h 9"/>
              </a:gdLst>
              <a:ahLst/>
              <a:cxnLst>
                <a:cxn ang="T10">
                  <a:pos x="T0" y="T1"/>
                </a:cxn>
                <a:cxn ang="T11">
                  <a:pos x="T2" y="T3"/>
                </a:cxn>
                <a:cxn ang="T12">
                  <a:pos x="T4" y="T5"/>
                </a:cxn>
                <a:cxn ang="T13">
                  <a:pos x="T6" y="T7"/>
                </a:cxn>
                <a:cxn ang="T14">
                  <a:pos x="T8" y="T9"/>
                </a:cxn>
              </a:cxnLst>
              <a:rect l="T15" t="T16" r="T17" b="T18"/>
              <a:pathLst>
                <a:path w="7" h="9">
                  <a:moveTo>
                    <a:pt x="7" y="8"/>
                  </a:moveTo>
                  <a:lnTo>
                    <a:pt x="3" y="0"/>
                  </a:lnTo>
                  <a:lnTo>
                    <a:pt x="0" y="2"/>
                  </a:lnTo>
                  <a:lnTo>
                    <a:pt x="4" y="9"/>
                  </a:lnTo>
                  <a:lnTo>
                    <a:pt x="7" y="8"/>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6" name="Freeform 161"/>
            <p:cNvSpPr>
              <a:spLocks noChangeArrowheads="1"/>
            </p:cNvSpPr>
            <p:nvPr/>
          </p:nvSpPr>
          <p:spPr bwMode="auto">
            <a:xfrm>
              <a:off x="234604" y="44924"/>
              <a:ext cx="12480" cy="27454"/>
            </a:xfrm>
            <a:custGeom>
              <a:avLst/>
              <a:gdLst>
                <a:gd name="T0" fmla="*/ 0 w 5"/>
                <a:gd name="T1" fmla="*/ 22462 h 11"/>
                <a:gd name="T2" fmla="*/ 4992 w 5"/>
                <a:gd name="T3" fmla="*/ 27454 h 11"/>
                <a:gd name="T4" fmla="*/ 12480 w 5"/>
                <a:gd name="T5" fmla="*/ 4992 h 11"/>
                <a:gd name="T6" fmla="*/ 4992 w 5"/>
                <a:gd name="T7" fmla="*/ 0 h 11"/>
                <a:gd name="T8" fmla="*/ 0 w 5"/>
                <a:gd name="T9" fmla="*/ 22462 h 11"/>
                <a:gd name="T10" fmla="*/ 0 60000 65536"/>
                <a:gd name="T11" fmla="*/ 0 60000 65536"/>
                <a:gd name="T12" fmla="*/ 0 60000 65536"/>
                <a:gd name="T13" fmla="*/ 0 60000 65536"/>
                <a:gd name="T14" fmla="*/ 0 60000 65536"/>
                <a:gd name="T15" fmla="*/ 0 w 5"/>
                <a:gd name="T16" fmla="*/ 0 h 11"/>
                <a:gd name="T17" fmla="*/ 5 w 5"/>
                <a:gd name="T18" fmla="*/ 11 h 11"/>
              </a:gdLst>
              <a:ahLst/>
              <a:cxnLst>
                <a:cxn ang="T10">
                  <a:pos x="T0" y="T1"/>
                </a:cxn>
                <a:cxn ang="T11">
                  <a:pos x="T2" y="T3"/>
                </a:cxn>
                <a:cxn ang="T12">
                  <a:pos x="T4" y="T5"/>
                </a:cxn>
                <a:cxn ang="T13">
                  <a:pos x="T6" y="T7"/>
                </a:cxn>
                <a:cxn ang="T14">
                  <a:pos x="T8" y="T9"/>
                </a:cxn>
              </a:cxnLst>
              <a:rect l="T15" t="T16" r="T17" b="T18"/>
              <a:pathLst>
                <a:path w="5" h="11">
                  <a:moveTo>
                    <a:pt x="0" y="9"/>
                  </a:moveTo>
                  <a:lnTo>
                    <a:pt x="2" y="11"/>
                  </a:lnTo>
                  <a:lnTo>
                    <a:pt x="5" y="2"/>
                  </a:lnTo>
                  <a:lnTo>
                    <a:pt x="2" y="0"/>
                  </a:lnTo>
                  <a:lnTo>
                    <a:pt x="0" y="9"/>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7" name="Freeform 162"/>
            <p:cNvSpPr>
              <a:spLocks noChangeArrowheads="1"/>
            </p:cNvSpPr>
            <p:nvPr/>
          </p:nvSpPr>
          <p:spPr bwMode="auto">
            <a:xfrm>
              <a:off x="277033" y="272040"/>
              <a:ext cx="22463" cy="19966"/>
            </a:xfrm>
            <a:custGeom>
              <a:avLst/>
              <a:gdLst>
                <a:gd name="T0" fmla="*/ 0 w 9"/>
                <a:gd name="T1" fmla="*/ 2496 h 8"/>
                <a:gd name="T2" fmla="*/ 19967 w 9"/>
                <a:gd name="T3" fmla="*/ 19966 h 8"/>
                <a:gd name="T4" fmla="*/ 22463 w 9"/>
                <a:gd name="T5" fmla="*/ 14974 h 8"/>
                <a:gd name="T6" fmla="*/ 7488 w 9"/>
                <a:gd name="T7" fmla="*/ 0 h 8"/>
                <a:gd name="T8" fmla="*/ 0 w 9"/>
                <a:gd name="T9" fmla="*/ 2496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1"/>
                  </a:moveTo>
                  <a:lnTo>
                    <a:pt x="8" y="8"/>
                  </a:lnTo>
                  <a:lnTo>
                    <a:pt x="9" y="6"/>
                  </a:lnTo>
                  <a:lnTo>
                    <a:pt x="3" y="0"/>
                  </a:lnTo>
                  <a:lnTo>
                    <a:pt x="0" y="1"/>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8" name="Freeform 163"/>
            <p:cNvSpPr>
              <a:spLocks noChangeArrowheads="1"/>
            </p:cNvSpPr>
            <p:nvPr/>
          </p:nvSpPr>
          <p:spPr bwMode="auto">
            <a:xfrm>
              <a:off x="304486" y="227116"/>
              <a:ext cx="24958" cy="14975"/>
            </a:xfrm>
            <a:custGeom>
              <a:avLst/>
              <a:gdLst>
                <a:gd name="T0" fmla="*/ 0 w 10"/>
                <a:gd name="T1" fmla="*/ 7488 h 6"/>
                <a:gd name="T2" fmla="*/ 22462 w 10"/>
                <a:gd name="T3" fmla="*/ 14975 h 6"/>
                <a:gd name="T4" fmla="*/ 24958 w 10"/>
                <a:gd name="T5" fmla="*/ 7488 h 6"/>
                <a:gd name="T6" fmla="*/ 2496 w 10"/>
                <a:gd name="T7" fmla="*/ 0 h 6"/>
                <a:gd name="T8" fmla="*/ 0 w 10"/>
                <a:gd name="T9" fmla="*/ 7488 h 6"/>
                <a:gd name="T10" fmla="*/ 0 60000 65536"/>
                <a:gd name="T11" fmla="*/ 0 60000 65536"/>
                <a:gd name="T12" fmla="*/ 0 60000 65536"/>
                <a:gd name="T13" fmla="*/ 0 60000 65536"/>
                <a:gd name="T14" fmla="*/ 0 60000 65536"/>
                <a:gd name="T15" fmla="*/ 0 w 10"/>
                <a:gd name="T16" fmla="*/ 0 h 6"/>
                <a:gd name="T17" fmla="*/ 10 w 10"/>
                <a:gd name="T18" fmla="*/ 6 h 6"/>
              </a:gdLst>
              <a:ahLst/>
              <a:cxnLst>
                <a:cxn ang="T10">
                  <a:pos x="T0" y="T1"/>
                </a:cxn>
                <a:cxn ang="T11">
                  <a:pos x="T2" y="T3"/>
                </a:cxn>
                <a:cxn ang="T12">
                  <a:pos x="T4" y="T5"/>
                </a:cxn>
                <a:cxn ang="T13">
                  <a:pos x="T6" y="T7"/>
                </a:cxn>
                <a:cxn ang="T14">
                  <a:pos x="T8" y="T9"/>
                </a:cxn>
              </a:cxnLst>
              <a:rect l="T15" t="T16" r="T17" b="T18"/>
              <a:pathLst>
                <a:path w="10" h="6">
                  <a:moveTo>
                    <a:pt x="0" y="3"/>
                  </a:moveTo>
                  <a:lnTo>
                    <a:pt x="9" y="6"/>
                  </a:lnTo>
                  <a:lnTo>
                    <a:pt x="10" y="3"/>
                  </a:lnTo>
                  <a:lnTo>
                    <a:pt x="1" y="0"/>
                  </a:lnTo>
                  <a:lnTo>
                    <a:pt x="0" y="3"/>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9" name="Freeform 164"/>
            <p:cNvSpPr>
              <a:spLocks noChangeArrowheads="1"/>
            </p:cNvSpPr>
            <p:nvPr/>
          </p:nvSpPr>
          <p:spPr bwMode="auto">
            <a:xfrm>
              <a:off x="274536" y="74874"/>
              <a:ext cx="22463" cy="22463"/>
            </a:xfrm>
            <a:custGeom>
              <a:avLst/>
              <a:gdLst>
                <a:gd name="T0" fmla="*/ 22463 w 9"/>
                <a:gd name="T1" fmla="*/ 7488 h 9"/>
                <a:gd name="T2" fmla="*/ 19967 w 9"/>
                <a:gd name="T3" fmla="*/ 0 h 9"/>
                <a:gd name="T4" fmla="*/ 0 w 9"/>
                <a:gd name="T5" fmla="*/ 17471 h 9"/>
                <a:gd name="T6" fmla="*/ 4992 w 9"/>
                <a:gd name="T7" fmla="*/ 22463 h 9"/>
                <a:gd name="T8" fmla="*/ 22463 w 9"/>
                <a:gd name="T9" fmla="*/ 7488 h 9"/>
                <a:gd name="T10" fmla="*/ 0 60000 65536"/>
                <a:gd name="T11" fmla="*/ 0 60000 65536"/>
                <a:gd name="T12" fmla="*/ 0 60000 65536"/>
                <a:gd name="T13" fmla="*/ 0 60000 65536"/>
                <a:gd name="T14" fmla="*/ 0 60000 65536"/>
                <a:gd name="T15" fmla="*/ 0 w 9"/>
                <a:gd name="T16" fmla="*/ 0 h 9"/>
                <a:gd name="T17" fmla="*/ 9 w 9"/>
                <a:gd name="T18" fmla="*/ 9 h 9"/>
              </a:gdLst>
              <a:ahLst/>
              <a:cxnLst>
                <a:cxn ang="T10">
                  <a:pos x="T0" y="T1"/>
                </a:cxn>
                <a:cxn ang="T11">
                  <a:pos x="T2" y="T3"/>
                </a:cxn>
                <a:cxn ang="T12">
                  <a:pos x="T4" y="T5"/>
                </a:cxn>
                <a:cxn ang="T13">
                  <a:pos x="T6" y="T7"/>
                </a:cxn>
                <a:cxn ang="T14">
                  <a:pos x="T8" y="T9"/>
                </a:cxn>
              </a:cxnLst>
              <a:rect l="T15" t="T16" r="T17" b="T18"/>
              <a:pathLst>
                <a:path w="9" h="9">
                  <a:moveTo>
                    <a:pt x="9" y="3"/>
                  </a:moveTo>
                  <a:lnTo>
                    <a:pt x="8" y="0"/>
                  </a:lnTo>
                  <a:lnTo>
                    <a:pt x="0" y="7"/>
                  </a:lnTo>
                  <a:lnTo>
                    <a:pt x="2" y="9"/>
                  </a:lnTo>
                  <a:lnTo>
                    <a:pt x="9" y="3"/>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0" name="Freeform 165"/>
            <p:cNvSpPr>
              <a:spLocks noChangeArrowheads="1"/>
            </p:cNvSpPr>
            <p:nvPr/>
          </p:nvSpPr>
          <p:spPr bwMode="auto">
            <a:xfrm>
              <a:off x="299494" y="124789"/>
              <a:ext cx="27454" cy="12480"/>
            </a:xfrm>
            <a:custGeom>
              <a:avLst/>
              <a:gdLst>
                <a:gd name="T0" fmla="*/ 24958 w 11"/>
                <a:gd name="T1" fmla="*/ 0 h 5"/>
                <a:gd name="T2" fmla="*/ 0 w 11"/>
                <a:gd name="T3" fmla="*/ 7488 h 5"/>
                <a:gd name="T4" fmla="*/ 4992 w 11"/>
                <a:gd name="T5" fmla="*/ 12480 h 5"/>
                <a:gd name="T6" fmla="*/ 27454 w 11"/>
                <a:gd name="T7" fmla="*/ 7488 h 5"/>
                <a:gd name="T8" fmla="*/ 24958 w 11"/>
                <a:gd name="T9" fmla="*/ 0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0" y="0"/>
                  </a:moveTo>
                  <a:lnTo>
                    <a:pt x="0" y="3"/>
                  </a:lnTo>
                  <a:lnTo>
                    <a:pt x="2" y="5"/>
                  </a:lnTo>
                  <a:lnTo>
                    <a:pt x="11" y="3"/>
                  </a:lnTo>
                  <a:lnTo>
                    <a:pt x="10" y="0"/>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1" name="Rectangle 166"/>
            <p:cNvSpPr>
              <a:spLocks noChangeArrowheads="1"/>
            </p:cNvSpPr>
            <p:nvPr/>
          </p:nvSpPr>
          <p:spPr bwMode="auto">
            <a:xfrm>
              <a:off x="39933" y="174705"/>
              <a:ext cx="24958" cy="7488"/>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2" name="Rectangle 167"/>
            <p:cNvSpPr>
              <a:spLocks noChangeArrowheads="1"/>
            </p:cNvSpPr>
            <p:nvPr/>
          </p:nvSpPr>
          <p:spPr bwMode="auto">
            <a:xfrm>
              <a:off x="316965" y="177200"/>
              <a:ext cx="27454" cy="7488"/>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grpSp>
      <p:sp>
        <p:nvSpPr>
          <p:cNvPr id="20" name="剪去对角的矩形 149"/>
          <p:cNvSpPr/>
          <p:nvPr/>
        </p:nvSpPr>
        <p:spPr>
          <a:xfrm>
            <a:off x="1282065" y="2938145"/>
            <a:ext cx="2985135" cy="1451610"/>
          </a:xfrm>
          <a:prstGeom prst="snip2Diag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lIns="91421" tIns="45711" rIns="91421" bIns="45711"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solidFill>
                <a:srgbClr val="007FDE"/>
              </a:solidFill>
            </a:endParaRPr>
          </a:p>
        </p:txBody>
      </p:sp>
      <p:sp>
        <p:nvSpPr>
          <p:cNvPr id="56" name="矩形 55"/>
          <p:cNvSpPr/>
          <p:nvPr/>
        </p:nvSpPr>
        <p:spPr>
          <a:xfrm>
            <a:off x="1391070" y="3071100"/>
            <a:ext cx="1911985" cy="46037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400" b="1" dirty="0"/>
              <a:t>✈ 500 Flights</a:t>
            </a:r>
            <a:endParaRPr lang="en-US" altLang="en-US" sz="2400" b="1" dirty="0"/>
          </a:p>
        </p:txBody>
      </p:sp>
      <p:sp>
        <p:nvSpPr>
          <p:cNvPr id="57" name="矩形 56"/>
          <p:cNvSpPr/>
          <p:nvPr/>
        </p:nvSpPr>
        <p:spPr>
          <a:xfrm>
            <a:off x="1447538" y="3607020"/>
            <a:ext cx="4927957" cy="50673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b="1" dirty="0"/>
              <a:t>After removing 8 duplicates</a:t>
            </a:r>
            <a:endParaRPr lang="en-US" altLang="en-US" b="1" dirty="0"/>
          </a:p>
        </p:txBody>
      </p:sp>
      <p:sp>
        <p:nvSpPr>
          <p:cNvPr id="58" name="矩形 57"/>
          <p:cNvSpPr/>
          <p:nvPr/>
        </p:nvSpPr>
        <p:spPr>
          <a:xfrm>
            <a:off x="1282065" y="2258060"/>
            <a:ext cx="5093970" cy="4603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altLang="en-US" sz="1600" b="1" dirty="0"/>
              <a:t>500 flights. 8 airlines. 3 years of data. One messy dataset.</a:t>
            </a:r>
            <a:endParaRPr lang="en-US" altLang="en-US" sz="1600" b="1" dirty="0"/>
          </a:p>
        </p:txBody>
      </p:sp>
      <p:sp>
        <p:nvSpPr>
          <p:cNvPr id="59" name="矩形 58"/>
          <p:cNvSpPr/>
          <p:nvPr/>
        </p:nvSpPr>
        <p:spPr>
          <a:xfrm>
            <a:off x="1391504" y="1599619"/>
            <a:ext cx="2541905" cy="46037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t>About The Dataset</a:t>
            </a:r>
            <a:endParaRPr lang="en-US" altLang="zh-CN" sz="2400" b="1" dirty="0"/>
          </a:p>
        </p:txBody>
      </p:sp>
      <p:sp>
        <p:nvSpPr>
          <p:cNvPr id="11" name="剪去对角的矩形 149"/>
          <p:cNvSpPr/>
          <p:nvPr/>
        </p:nvSpPr>
        <p:spPr>
          <a:xfrm>
            <a:off x="4961890" y="2916555"/>
            <a:ext cx="2985135" cy="1451610"/>
          </a:xfrm>
          <a:prstGeom prst="snip2Diag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lIns="91421" tIns="45711" rIns="91421" bIns="45711"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solidFill>
                <a:srgbClr val="007FDE"/>
              </a:solidFill>
            </a:endParaRPr>
          </a:p>
        </p:txBody>
      </p:sp>
      <p:sp>
        <p:nvSpPr>
          <p:cNvPr id="12" name="剪去对角的矩形 149"/>
          <p:cNvSpPr/>
          <p:nvPr/>
        </p:nvSpPr>
        <p:spPr>
          <a:xfrm>
            <a:off x="8641715" y="2938145"/>
            <a:ext cx="2985135" cy="1451610"/>
          </a:xfrm>
          <a:prstGeom prst="snip2Diag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lIns="91421" tIns="45711" rIns="91421" bIns="45711"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solidFill>
                <a:srgbClr val="007FDE"/>
              </a:solidFill>
            </a:endParaRPr>
          </a:p>
        </p:txBody>
      </p:sp>
      <p:sp>
        <p:nvSpPr>
          <p:cNvPr id="13" name="Text Box 12"/>
          <p:cNvSpPr txBox="1"/>
          <p:nvPr/>
        </p:nvSpPr>
        <p:spPr>
          <a:xfrm>
            <a:off x="5471160" y="3180715"/>
            <a:ext cx="1915160" cy="460375"/>
          </a:xfrm>
          <a:prstGeom prst="rect">
            <a:avLst/>
          </a:prstGeom>
          <a:noFill/>
        </p:spPr>
        <p:txBody>
          <a:bodyPr wrap="square" rtlCol="0">
            <a:spAutoFit/>
          </a:bodyPr>
          <a:p>
            <a:r>
              <a:rPr lang="zh-CN" altLang="en-US" sz="2400" b="1"/>
              <a:t>🏢</a:t>
            </a:r>
            <a:r>
              <a:rPr lang="en-US" altLang="en-US" sz="2400" b="1"/>
              <a:t>  8 Airlines</a:t>
            </a:r>
            <a:endParaRPr lang="en-US" altLang="en-US" sz="2400" b="1"/>
          </a:p>
        </p:txBody>
      </p:sp>
      <p:sp>
        <p:nvSpPr>
          <p:cNvPr id="14" name="Text Box 13"/>
          <p:cNvSpPr txBox="1"/>
          <p:nvPr/>
        </p:nvSpPr>
        <p:spPr>
          <a:xfrm>
            <a:off x="5057775" y="3634105"/>
            <a:ext cx="3147695" cy="521970"/>
          </a:xfrm>
          <a:prstGeom prst="rect">
            <a:avLst/>
          </a:prstGeom>
          <a:noFill/>
        </p:spPr>
        <p:txBody>
          <a:bodyPr wrap="square" rtlCol="0">
            <a:spAutoFit/>
          </a:bodyPr>
          <a:p>
            <a:r>
              <a:rPr lang="en-US" altLang="en-US" sz="1400" b="1"/>
              <a:t>Delta, Southwest, Alaska, American, Spirit, United, Frontier, JetBlue</a:t>
            </a:r>
            <a:endParaRPr lang="en-US" altLang="en-US" sz="1400" b="1"/>
          </a:p>
        </p:txBody>
      </p:sp>
      <p:sp>
        <p:nvSpPr>
          <p:cNvPr id="15" name="Text Box 14"/>
          <p:cNvSpPr txBox="1"/>
          <p:nvPr/>
        </p:nvSpPr>
        <p:spPr>
          <a:xfrm>
            <a:off x="8924290" y="3052445"/>
            <a:ext cx="1784985" cy="368300"/>
          </a:xfrm>
          <a:prstGeom prst="rect">
            <a:avLst/>
          </a:prstGeom>
          <a:noFill/>
        </p:spPr>
        <p:txBody>
          <a:bodyPr wrap="square" rtlCol="0">
            <a:spAutoFit/>
          </a:bodyPr>
          <a:p>
            <a:r>
              <a:rPr lang="zh-CN" altLang="en-US" b="1"/>
              <a:t>📅</a:t>
            </a:r>
            <a:r>
              <a:rPr lang="en-US" altLang="en-US" b="1"/>
              <a:t>  2022 – 2024</a:t>
            </a:r>
            <a:endParaRPr lang="en-US" altLang="en-US" b="1"/>
          </a:p>
        </p:txBody>
      </p:sp>
      <p:sp>
        <p:nvSpPr>
          <p:cNvPr id="16" name="Text Box 15"/>
          <p:cNvSpPr txBox="1"/>
          <p:nvPr/>
        </p:nvSpPr>
        <p:spPr>
          <a:xfrm>
            <a:off x="8996045" y="3745230"/>
            <a:ext cx="2787015" cy="527050"/>
          </a:xfrm>
          <a:prstGeom prst="rect">
            <a:avLst/>
          </a:prstGeom>
          <a:noFill/>
        </p:spPr>
        <p:txBody>
          <a:bodyPr wrap="square" rtlCol="0">
            <a:noAutofit/>
          </a:bodyPr>
          <a:p>
            <a:r>
              <a:rPr lang="en-US" altLang="en-US" b="1"/>
              <a:t>August 2022 – May 2024</a:t>
            </a:r>
            <a:endParaRPr lang="en-US" altLang="en-US"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23"/>
          <p:cNvGrpSpPr/>
          <p:nvPr/>
        </p:nvGrpSpPr>
        <p:grpSpPr bwMode="auto">
          <a:xfrm>
            <a:off x="4889831" y="1240481"/>
            <a:ext cx="379548" cy="330794"/>
            <a:chOff x="0" y="0"/>
            <a:chExt cx="389342" cy="339426"/>
          </a:xfrm>
        </p:grpSpPr>
        <p:sp>
          <p:nvSpPr>
            <p:cNvPr id="43" name="Freeform 110"/>
            <p:cNvSpPr>
              <a:spLocks noChangeArrowheads="1"/>
            </p:cNvSpPr>
            <p:nvPr/>
          </p:nvSpPr>
          <p:spPr bwMode="auto">
            <a:xfrm>
              <a:off x="259561" y="102327"/>
              <a:ext cx="102328" cy="102328"/>
            </a:xfrm>
            <a:custGeom>
              <a:avLst/>
              <a:gdLst>
                <a:gd name="T0" fmla="*/ 0 w 41"/>
                <a:gd name="T1" fmla="*/ 97336 h 41"/>
                <a:gd name="T2" fmla="*/ 7487 w 41"/>
                <a:gd name="T3" fmla="*/ 102328 h 41"/>
                <a:gd name="T4" fmla="*/ 102328 w 41"/>
                <a:gd name="T5" fmla="*/ 7487 h 41"/>
                <a:gd name="T6" fmla="*/ 97336 w 41"/>
                <a:gd name="T7" fmla="*/ 0 h 41"/>
                <a:gd name="T8" fmla="*/ 0 w 41"/>
                <a:gd name="T9" fmla="*/ 97336 h 41"/>
                <a:gd name="T10" fmla="*/ 0 60000 65536"/>
                <a:gd name="T11" fmla="*/ 0 60000 65536"/>
                <a:gd name="T12" fmla="*/ 0 60000 65536"/>
                <a:gd name="T13" fmla="*/ 0 60000 65536"/>
                <a:gd name="T14" fmla="*/ 0 60000 65536"/>
                <a:gd name="T15" fmla="*/ 0 w 41"/>
                <a:gd name="T16" fmla="*/ 0 h 41"/>
                <a:gd name="T17" fmla="*/ 41 w 41"/>
                <a:gd name="T18" fmla="*/ 41 h 41"/>
              </a:gdLst>
              <a:ahLst/>
              <a:cxnLst>
                <a:cxn ang="T10">
                  <a:pos x="T0" y="T1"/>
                </a:cxn>
                <a:cxn ang="T11">
                  <a:pos x="T2" y="T3"/>
                </a:cxn>
                <a:cxn ang="T12">
                  <a:pos x="T4" y="T5"/>
                </a:cxn>
                <a:cxn ang="T13">
                  <a:pos x="T6" y="T7"/>
                </a:cxn>
                <a:cxn ang="T14">
                  <a:pos x="T8" y="T9"/>
                </a:cxn>
              </a:cxnLst>
              <a:rect l="T15" t="T16" r="T17" b="T18"/>
              <a:pathLst>
                <a:path w="41" h="41">
                  <a:moveTo>
                    <a:pt x="0" y="39"/>
                  </a:moveTo>
                  <a:lnTo>
                    <a:pt x="3" y="41"/>
                  </a:lnTo>
                  <a:lnTo>
                    <a:pt x="41" y="3"/>
                  </a:lnTo>
                  <a:lnTo>
                    <a:pt x="39" y="0"/>
                  </a:lnTo>
                  <a:lnTo>
                    <a:pt x="0" y="39"/>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4" name="Freeform 111"/>
            <p:cNvSpPr>
              <a:spLocks noChangeArrowheads="1"/>
            </p:cNvSpPr>
            <p:nvPr/>
          </p:nvSpPr>
          <p:spPr bwMode="auto">
            <a:xfrm>
              <a:off x="237098" y="74873"/>
              <a:ext cx="109814" cy="114806"/>
            </a:xfrm>
            <a:custGeom>
              <a:avLst/>
              <a:gdLst>
                <a:gd name="T0" fmla="*/ 92344 w 44"/>
                <a:gd name="T1" fmla="*/ 0 h 46"/>
                <a:gd name="T2" fmla="*/ 0 w 44"/>
                <a:gd name="T3" fmla="*/ 97336 h 46"/>
                <a:gd name="T4" fmla="*/ 14975 w 44"/>
                <a:gd name="T5" fmla="*/ 114806 h 46"/>
                <a:gd name="T6" fmla="*/ 109814 w 44"/>
                <a:gd name="T7" fmla="*/ 19966 h 46"/>
                <a:gd name="T8" fmla="*/ 92344 w 44"/>
                <a:gd name="T9" fmla="*/ 0 h 46"/>
                <a:gd name="T10" fmla="*/ 0 60000 65536"/>
                <a:gd name="T11" fmla="*/ 0 60000 65536"/>
                <a:gd name="T12" fmla="*/ 0 60000 65536"/>
                <a:gd name="T13" fmla="*/ 0 60000 65536"/>
                <a:gd name="T14" fmla="*/ 0 60000 65536"/>
                <a:gd name="T15" fmla="*/ 0 w 44"/>
                <a:gd name="T16" fmla="*/ 0 h 46"/>
                <a:gd name="T17" fmla="*/ 44 w 44"/>
                <a:gd name="T18" fmla="*/ 46 h 46"/>
              </a:gdLst>
              <a:ahLst/>
              <a:cxnLst>
                <a:cxn ang="T10">
                  <a:pos x="T0" y="T1"/>
                </a:cxn>
                <a:cxn ang="T11">
                  <a:pos x="T2" y="T3"/>
                </a:cxn>
                <a:cxn ang="T12">
                  <a:pos x="T4" y="T5"/>
                </a:cxn>
                <a:cxn ang="T13">
                  <a:pos x="T6" y="T7"/>
                </a:cxn>
                <a:cxn ang="T14">
                  <a:pos x="T8" y="T9"/>
                </a:cxn>
              </a:cxnLst>
              <a:rect l="T15" t="T16" r="T17" b="T18"/>
              <a:pathLst>
                <a:path w="44" h="46">
                  <a:moveTo>
                    <a:pt x="37" y="0"/>
                  </a:moveTo>
                  <a:lnTo>
                    <a:pt x="0" y="39"/>
                  </a:lnTo>
                  <a:lnTo>
                    <a:pt x="6" y="46"/>
                  </a:lnTo>
                  <a:lnTo>
                    <a:pt x="44" y="8"/>
                  </a:lnTo>
                  <a:lnTo>
                    <a:pt x="37" y="0"/>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5" name="Freeform 112"/>
            <p:cNvSpPr>
              <a:spLocks noChangeArrowheads="1"/>
            </p:cNvSpPr>
            <p:nvPr/>
          </p:nvSpPr>
          <p:spPr bwMode="auto">
            <a:xfrm>
              <a:off x="217132" y="59898"/>
              <a:ext cx="104823" cy="104823"/>
            </a:xfrm>
            <a:custGeom>
              <a:avLst/>
              <a:gdLst>
                <a:gd name="T0" fmla="*/ 0 w 42"/>
                <a:gd name="T1" fmla="*/ 94840 h 42"/>
                <a:gd name="T2" fmla="*/ 9983 w 42"/>
                <a:gd name="T3" fmla="*/ 104823 h 42"/>
                <a:gd name="T4" fmla="*/ 104823 w 42"/>
                <a:gd name="T5" fmla="*/ 9983 h 42"/>
                <a:gd name="T6" fmla="*/ 94840 w 42"/>
                <a:gd name="T7" fmla="*/ 0 h 42"/>
                <a:gd name="T8" fmla="*/ 0 w 42"/>
                <a:gd name="T9" fmla="*/ 94840 h 42"/>
                <a:gd name="T10" fmla="*/ 0 60000 65536"/>
                <a:gd name="T11" fmla="*/ 0 60000 65536"/>
                <a:gd name="T12" fmla="*/ 0 60000 65536"/>
                <a:gd name="T13" fmla="*/ 0 60000 65536"/>
                <a:gd name="T14" fmla="*/ 0 60000 65536"/>
                <a:gd name="T15" fmla="*/ 0 w 42"/>
                <a:gd name="T16" fmla="*/ 0 h 42"/>
                <a:gd name="T17" fmla="*/ 42 w 42"/>
                <a:gd name="T18" fmla="*/ 42 h 42"/>
              </a:gdLst>
              <a:ahLst/>
              <a:cxnLst>
                <a:cxn ang="T10">
                  <a:pos x="T0" y="T1"/>
                </a:cxn>
                <a:cxn ang="T11">
                  <a:pos x="T2" y="T3"/>
                </a:cxn>
                <a:cxn ang="T12">
                  <a:pos x="T4" y="T5"/>
                </a:cxn>
                <a:cxn ang="T13">
                  <a:pos x="T6" y="T7"/>
                </a:cxn>
                <a:cxn ang="T14">
                  <a:pos x="T8" y="T9"/>
                </a:cxn>
              </a:cxnLst>
              <a:rect l="T15" t="T16" r="T17" b="T18"/>
              <a:pathLst>
                <a:path w="42" h="42">
                  <a:moveTo>
                    <a:pt x="0" y="38"/>
                  </a:moveTo>
                  <a:lnTo>
                    <a:pt x="4" y="42"/>
                  </a:lnTo>
                  <a:lnTo>
                    <a:pt x="42" y="4"/>
                  </a:lnTo>
                  <a:lnTo>
                    <a:pt x="38" y="0"/>
                  </a:lnTo>
                  <a:lnTo>
                    <a:pt x="0" y="38"/>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6" name="Freeform 113"/>
            <p:cNvSpPr>
              <a:spLocks noChangeArrowheads="1"/>
            </p:cNvSpPr>
            <p:nvPr/>
          </p:nvSpPr>
          <p:spPr bwMode="auto">
            <a:xfrm>
              <a:off x="189679" y="162226"/>
              <a:ext cx="69882" cy="69882"/>
            </a:xfrm>
            <a:custGeom>
              <a:avLst/>
              <a:gdLst>
                <a:gd name="T0" fmla="*/ 69882 w 28"/>
                <a:gd name="T1" fmla="*/ 49916 h 28"/>
                <a:gd name="T2" fmla="*/ 19966 w 28"/>
                <a:gd name="T3" fmla="*/ 0 h 28"/>
                <a:gd name="T4" fmla="*/ 0 w 28"/>
                <a:gd name="T5" fmla="*/ 49916 h 28"/>
                <a:gd name="T6" fmla="*/ 22462 w 28"/>
                <a:gd name="T7" fmla="*/ 69882 h 28"/>
                <a:gd name="T8" fmla="*/ 69882 w 28"/>
                <a:gd name="T9" fmla="*/ 49916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28" y="20"/>
                  </a:moveTo>
                  <a:lnTo>
                    <a:pt x="8" y="0"/>
                  </a:lnTo>
                  <a:lnTo>
                    <a:pt x="0" y="20"/>
                  </a:lnTo>
                  <a:lnTo>
                    <a:pt x="9" y="28"/>
                  </a:lnTo>
                  <a:lnTo>
                    <a:pt x="28" y="20"/>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7" name="Freeform 114"/>
            <p:cNvSpPr>
              <a:spLocks noChangeArrowheads="1"/>
            </p:cNvSpPr>
            <p:nvPr/>
          </p:nvSpPr>
          <p:spPr bwMode="auto">
            <a:xfrm>
              <a:off x="172208" y="219628"/>
              <a:ext cx="34941" cy="32446"/>
            </a:xfrm>
            <a:custGeom>
              <a:avLst/>
              <a:gdLst>
                <a:gd name="T0" fmla="*/ 0 w 14"/>
                <a:gd name="T1" fmla="*/ 32446 h 13"/>
                <a:gd name="T2" fmla="*/ 34941 w 14"/>
                <a:gd name="T3" fmla="*/ 14975 h 13"/>
                <a:gd name="T4" fmla="*/ 14975 w 14"/>
                <a:gd name="T5" fmla="*/ 0 h 13"/>
                <a:gd name="T6" fmla="*/ 0 w 14"/>
                <a:gd name="T7" fmla="*/ 32446 h 13"/>
                <a:gd name="T8" fmla="*/ 0 60000 65536"/>
                <a:gd name="T9" fmla="*/ 0 60000 65536"/>
                <a:gd name="T10" fmla="*/ 0 60000 65536"/>
                <a:gd name="T11" fmla="*/ 0 60000 65536"/>
                <a:gd name="T12" fmla="*/ 0 w 14"/>
                <a:gd name="T13" fmla="*/ 0 h 13"/>
                <a:gd name="T14" fmla="*/ 14 w 14"/>
                <a:gd name="T15" fmla="*/ 13 h 13"/>
              </a:gdLst>
              <a:ahLst/>
              <a:cxnLst>
                <a:cxn ang="T8">
                  <a:pos x="T0" y="T1"/>
                </a:cxn>
                <a:cxn ang="T9">
                  <a:pos x="T2" y="T3"/>
                </a:cxn>
                <a:cxn ang="T10">
                  <a:pos x="T4" y="T5"/>
                </a:cxn>
                <a:cxn ang="T11">
                  <a:pos x="T6" y="T7"/>
                </a:cxn>
              </a:cxnLst>
              <a:rect l="T12" t="T13" r="T14" b="T15"/>
              <a:pathLst>
                <a:path w="14" h="13">
                  <a:moveTo>
                    <a:pt x="0" y="13"/>
                  </a:moveTo>
                  <a:lnTo>
                    <a:pt x="14" y="6"/>
                  </a:lnTo>
                  <a:lnTo>
                    <a:pt x="6" y="0"/>
                  </a:lnTo>
                  <a:lnTo>
                    <a:pt x="0" y="13"/>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8" name="Freeform 115"/>
            <p:cNvSpPr>
              <a:spLocks noChangeArrowheads="1"/>
            </p:cNvSpPr>
            <p:nvPr/>
          </p:nvSpPr>
          <p:spPr bwMode="auto">
            <a:xfrm>
              <a:off x="319460" y="34941"/>
              <a:ext cx="69882" cy="69882"/>
            </a:xfrm>
            <a:custGeom>
              <a:avLst/>
              <a:gdLst>
                <a:gd name="T0" fmla="*/ 17471 w 28"/>
                <a:gd name="T1" fmla="*/ 0 h 28"/>
                <a:gd name="T2" fmla="*/ 0 w 28"/>
                <a:gd name="T3" fmla="*/ 19966 h 28"/>
                <a:gd name="T4" fmla="*/ 49916 w 28"/>
                <a:gd name="T5" fmla="*/ 69882 h 28"/>
                <a:gd name="T6" fmla="*/ 69882 w 28"/>
                <a:gd name="T7" fmla="*/ 49916 h 28"/>
                <a:gd name="T8" fmla="*/ 17471 w 28"/>
                <a:gd name="T9" fmla="*/ 0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7" y="0"/>
                  </a:moveTo>
                  <a:lnTo>
                    <a:pt x="0" y="8"/>
                  </a:lnTo>
                  <a:lnTo>
                    <a:pt x="20" y="28"/>
                  </a:lnTo>
                  <a:lnTo>
                    <a:pt x="28" y="20"/>
                  </a:lnTo>
                  <a:lnTo>
                    <a:pt x="7" y="0"/>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9" name="Freeform 116"/>
            <p:cNvSpPr>
              <a:spLocks noChangeArrowheads="1"/>
            </p:cNvSpPr>
            <p:nvPr/>
          </p:nvSpPr>
          <p:spPr bwMode="auto">
            <a:xfrm>
              <a:off x="0" y="0"/>
              <a:ext cx="279527" cy="339426"/>
            </a:xfrm>
            <a:custGeom>
              <a:avLst/>
              <a:gdLst>
                <a:gd name="T0" fmla="*/ 259561 w 112"/>
                <a:gd name="T1" fmla="*/ 252074 h 136"/>
                <a:gd name="T2" fmla="*/ 207149 w 112"/>
                <a:gd name="T3" fmla="*/ 252074 h 136"/>
                <a:gd name="T4" fmla="*/ 207149 w 112"/>
                <a:gd name="T5" fmla="*/ 321956 h 136"/>
                <a:gd name="T6" fmla="*/ 17470 w 112"/>
                <a:gd name="T7" fmla="*/ 321956 h 136"/>
                <a:gd name="T8" fmla="*/ 17470 w 112"/>
                <a:gd name="T9" fmla="*/ 79865 h 136"/>
                <a:gd name="T10" fmla="*/ 259561 w 112"/>
                <a:gd name="T11" fmla="*/ 79865 h 136"/>
                <a:gd name="T12" fmla="*/ 259561 w 112"/>
                <a:gd name="T13" fmla="*/ 99831 h 136"/>
                <a:gd name="T14" fmla="*/ 279527 w 112"/>
                <a:gd name="T15" fmla="*/ 79865 h 136"/>
                <a:gd name="T16" fmla="*/ 279527 w 112"/>
                <a:gd name="T17" fmla="*/ 14975 h 136"/>
                <a:gd name="T18" fmla="*/ 242090 w 112"/>
                <a:gd name="T19" fmla="*/ 14975 h 136"/>
                <a:gd name="T20" fmla="*/ 242090 w 112"/>
                <a:gd name="T21" fmla="*/ 49916 h 136"/>
                <a:gd name="T22" fmla="*/ 237099 w 112"/>
                <a:gd name="T23" fmla="*/ 49916 h 136"/>
                <a:gd name="T24" fmla="*/ 237099 w 112"/>
                <a:gd name="T25" fmla="*/ 0 h 136"/>
                <a:gd name="T26" fmla="*/ 222124 w 112"/>
                <a:gd name="T27" fmla="*/ 0 h 136"/>
                <a:gd name="T28" fmla="*/ 222124 w 112"/>
                <a:gd name="T29" fmla="*/ 49916 h 136"/>
                <a:gd name="T30" fmla="*/ 217133 w 112"/>
                <a:gd name="T31" fmla="*/ 49916 h 136"/>
                <a:gd name="T32" fmla="*/ 217133 w 112"/>
                <a:gd name="T33" fmla="*/ 14975 h 136"/>
                <a:gd name="T34" fmla="*/ 197166 w 112"/>
                <a:gd name="T35" fmla="*/ 14975 h 136"/>
                <a:gd name="T36" fmla="*/ 197166 w 112"/>
                <a:gd name="T37" fmla="*/ 49916 h 136"/>
                <a:gd name="T38" fmla="*/ 189679 w 112"/>
                <a:gd name="T39" fmla="*/ 49916 h 136"/>
                <a:gd name="T40" fmla="*/ 189679 w 112"/>
                <a:gd name="T41" fmla="*/ 0 h 136"/>
                <a:gd name="T42" fmla="*/ 179696 w 112"/>
                <a:gd name="T43" fmla="*/ 0 h 136"/>
                <a:gd name="T44" fmla="*/ 179696 w 112"/>
                <a:gd name="T45" fmla="*/ 49916 h 136"/>
                <a:gd name="T46" fmla="*/ 169713 w 112"/>
                <a:gd name="T47" fmla="*/ 49916 h 136"/>
                <a:gd name="T48" fmla="*/ 169713 w 112"/>
                <a:gd name="T49" fmla="*/ 14975 h 136"/>
                <a:gd name="T50" fmla="*/ 149747 w 112"/>
                <a:gd name="T51" fmla="*/ 14975 h 136"/>
                <a:gd name="T52" fmla="*/ 149747 w 112"/>
                <a:gd name="T53" fmla="*/ 49916 h 136"/>
                <a:gd name="T54" fmla="*/ 142259 w 112"/>
                <a:gd name="T55" fmla="*/ 49916 h 136"/>
                <a:gd name="T56" fmla="*/ 142259 w 112"/>
                <a:gd name="T57" fmla="*/ 0 h 136"/>
                <a:gd name="T58" fmla="*/ 132276 w 112"/>
                <a:gd name="T59" fmla="*/ 0 h 136"/>
                <a:gd name="T60" fmla="*/ 132276 w 112"/>
                <a:gd name="T61" fmla="*/ 49916 h 136"/>
                <a:gd name="T62" fmla="*/ 127285 w 112"/>
                <a:gd name="T63" fmla="*/ 49916 h 136"/>
                <a:gd name="T64" fmla="*/ 127285 w 112"/>
                <a:gd name="T65" fmla="*/ 14975 h 136"/>
                <a:gd name="T66" fmla="*/ 107318 w 112"/>
                <a:gd name="T67" fmla="*/ 14975 h 136"/>
                <a:gd name="T68" fmla="*/ 107318 w 112"/>
                <a:gd name="T69" fmla="*/ 49916 h 136"/>
                <a:gd name="T70" fmla="*/ 99831 w 112"/>
                <a:gd name="T71" fmla="*/ 49916 h 136"/>
                <a:gd name="T72" fmla="*/ 99831 w 112"/>
                <a:gd name="T73" fmla="*/ 0 h 136"/>
                <a:gd name="T74" fmla="*/ 87352 w 112"/>
                <a:gd name="T75" fmla="*/ 0 h 136"/>
                <a:gd name="T76" fmla="*/ 87352 w 112"/>
                <a:gd name="T77" fmla="*/ 49916 h 136"/>
                <a:gd name="T78" fmla="*/ 79865 w 112"/>
                <a:gd name="T79" fmla="*/ 49916 h 136"/>
                <a:gd name="T80" fmla="*/ 79865 w 112"/>
                <a:gd name="T81" fmla="*/ 14975 h 136"/>
                <a:gd name="T82" fmla="*/ 62394 w 112"/>
                <a:gd name="T83" fmla="*/ 14975 h 136"/>
                <a:gd name="T84" fmla="*/ 62394 w 112"/>
                <a:gd name="T85" fmla="*/ 49916 h 136"/>
                <a:gd name="T86" fmla="*/ 57403 w 112"/>
                <a:gd name="T87" fmla="*/ 49916 h 136"/>
                <a:gd name="T88" fmla="*/ 57403 w 112"/>
                <a:gd name="T89" fmla="*/ 0 h 136"/>
                <a:gd name="T90" fmla="*/ 42428 w 112"/>
                <a:gd name="T91" fmla="*/ 0 h 136"/>
                <a:gd name="T92" fmla="*/ 42428 w 112"/>
                <a:gd name="T93" fmla="*/ 49916 h 136"/>
                <a:gd name="T94" fmla="*/ 37437 w 112"/>
                <a:gd name="T95" fmla="*/ 49916 h 136"/>
                <a:gd name="T96" fmla="*/ 37437 w 112"/>
                <a:gd name="T97" fmla="*/ 14975 h 136"/>
                <a:gd name="T98" fmla="*/ 0 w 112"/>
                <a:gd name="T99" fmla="*/ 14975 h 136"/>
                <a:gd name="T100" fmla="*/ 0 w 112"/>
                <a:gd name="T101" fmla="*/ 59899 h 136"/>
                <a:gd name="T102" fmla="*/ 0 w 112"/>
                <a:gd name="T103" fmla="*/ 69882 h 136"/>
                <a:gd name="T104" fmla="*/ 0 w 112"/>
                <a:gd name="T105" fmla="*/ 339426 h 136"/>
                <a:gd name="T106" fmla="*/ 222124 w 112"/>
                <a:gd name="T107" fmla="*/ 339426 h 136"/>
                <a:gd name="T108" fmla="*/ 279527 w 112"/>
                <a:gd name="T109" fmla="*/ 274536 h 136"/>
                <a:gd name="T110" fmla="*/ 279527 w 112"/>
                <a:gd name="T111" fmla="*/ 209645 h 136"/>
                <a:gd name="T112" fmla="*/ 259561 w 112"/>
                <a:gd name="T113" fmla="*/ 229612 h 136"/>
                <a:gd name="T114" fmla="*/ 259561 w 112"/>
                <a:gd name="T115" fmla="*/ 252074 h 1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
                <a:gd name="T175" fmla="*/ 0 h 136"/>
                <a:gd name="T176" fmla="*/ 112 w 112"/>
                <a:gd name="T177" fmla="*/ 136 h 1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 h="136">
                  <a:moveTo>
                    <a:pt x="104" y="101"/>
                  </a:moveTo>
                  <a:lnTo>
                    <a:pt x="83" y="101"/>
                  </a:lnTo>
                  <a:lnTo>
                    <a:pt x="83" y="129"/>
                  </a:lnTo>
                  <a:lnTo>
                    <a:pt x="7" y="129"/>
                  </a:lnTo>
                  <a:lnTo>
                    <a:pt x="7" y="32"/>
                  </a:lnTo>
                  <a:lnTo>
                    <a:pt x="104" y="32"/>
                  </a:lnTo>
                  <a:lnTo>
                    <a:pt x="104" y="40"/>
                  </a:lnTo>
                  <a:lnTo>
                    <a:pt x="112" y="32"/>
                  </a:lnTo>
                  <a:lnTo>
                    <a:pt x="112" y="6"/>
                  </a:lnTo>
                  <a:lnTo>
                    <a:pt x="97" y="6"/>
                  </a:lnTo>
                  <a:lnTo>
                    <a:pt x="97" y="20"/>
                  </a:lnTo>
                  <a:lnTo>
                    <a:pt x="95" y="20"/>
                  </a:lnTo>
                  <a:lnTo>
                    <a:pt x="95" y="0"/>
                  </a:lnTo>
                  <a:lnTo>
                    <a:pt x="89" y="0"/>
                  </a:lnTo>
                  <a:lnTo>
                    <a:pt x="89" y="20"/>
                  </a:lnTo>
                  <a:lnTo>
                    <a:pt x="87" y="20"/>
                  </a:lnTo>
                  <a:lnTo>
                    <a:pt x="87" y="6"/>
                  </a:lnTo>
                  <a:lnTo>
                    <a:pt x="79" y="6"/>
                  </a:lnTo>
                  <a:lnTo>
                    <a:pt x="79" y="20"/>
                  </a:lnTo>
                  <a:lnTo>
                    <a:pt x="76" y="20"/>
                  </a:lnTo>
                  <a:lnTo>
                    <a:pt x="76" y="0"/>
                  </a:lnTo>
                  <a:lnTo>
                    <a:pt x="72" y="0"/>
                  </a:lnTo>
                  <a:lnTo>
                    <a:pt x="72" y="20"/>
                  </a:lnTo>
                  <a:lnTo>
                    <a:pt x="68" y="20"/>
                  </a:lnTo>
                  <a:lnTo>
                    <a:pt x="68" y="6"/>
                  </a:lnTo>
                  <a:lnTo>
                    <a:pt x="60" y="6"/>
                  </a:lnTo>
                  <a:lnTo>
                    <a:pt x="60" y="20"/>
                  </a:lnTo>
                  <a:lnTo>
                    <a:pt x="57" y="20"/>
                  </a:lnTo>
                  <a:lnTo>
                    <a:pt x="57" y="0"/>
                  </a:lnTo>
                  <a:lnTo>
                    <a:pt x="53" y="0"/>
                  </a:lnTo>
                  <a:lnTo>
                    <a:pt x="53" y="20"/>
                  </a:lnTo>
                  <a:lnTo>
                    <a:pt x="51" y="20"/>
                  </a:lnTo>
                  <a:lnTo>
                    <a:pt x="51" y="6"/>
                  </a:lnTo>
                  <a:lnTo>
                    <a:pt x="43" y="6"/>
                  </a:lnTo>
                  <a:lnTo>
                    <a:pt x="43" y="20"/>
                  </a:lnTo>
                  <a:lnTo>
                    <a:pt x="40" y="20"/>
                  </a:lnTo>
                  <a:lnTo>
                    <a:pt x="40" y="0"/>
                  </a:lnTo>
                  <a:lnTo>
                    <a:pt x="35" y="0"/>
                  </a:lnTo>
                  <a:lnTo>
                    <a:pt x="35" y="20"/>
                  </a:lnTo>
                  <a:lnTo>
                    <a:pt x="32" y="20"/>
                  </a:lnTo>
                  <a:lnTo>
                    <a:pt x="32" y="6"/>
                  </a:lnTo>
                  <a:lnTo>
                    <a:pt x="25" y="6"/>
                  </a:lnTo>
                  <a:lnTo>
                    <a:pt x="25" y="20"/>
                  </a:lnTo>
                  <a:lnTo>
                    <a:pt x="23" y="20"/>
                  </a:lnTo>
                  <a:lnTo>
                    <a:pt x="23" y="0"/>
                  </a:lnTo>
                  <a:lnTo>
                    <a:pt x="17" y="0"/>
                  </a:lnTo>
                  <a:lnTo>
                    <a:pt x="17" y="20"/>
                  </a:lnTo>
                  <a:lnTo>
                    <a:pt x="15" y="20"/>
                  </a:lnTo>
                  <a:lnTo>
                    <a:pt x="15" y="6"/>
                  </a:lnTo>
                  <a:lnTo>
                    <a:pt x="0" y="6"/>
                  </a:lnTo>
                  <a:lnTo>
                    <a:pt x="0" y="24"/>
                  </a:lnTo>
                  <a:lnTo>
                    <a:pt x="0" y="28"/>
                  </a:lnTo>
                  <a:lnTo>
                    <a:pt x="0" y="136"/>
                  </a:lnTo>
                  <a:lnTo>
                    <a:pt x="89" y="136"/>
                  </a:lnTo>
                  <a:lnTo>
                    <a:pt x="112" y="110"/>
                  </a:lnTo>
                  <a:lnTo>
                    <a:pt x="112" y="84"/>
                  </a:lnTo>
                  <a:lnTo>
                    <a:pt x="104" y="92"/>
                  </a:lnTo>
                  <a:lnTo>
                    <a:pt x="104" y="101"/>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50" name="Rectangle 117"/>
            <p:cNvSpPr>
              <a:spLocks noChangeArrowheads="1"/>
            </p:cNvSpPr>
            <p:nvPr/>
          </p:nvSpPr>
          <p:spPr bwMode="auto">
            <a:xfrm>
              <a:off x="49916" y="114806"/>
              <a:ext cx="109814" cy="17471"/>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51" name="Rectangle 118"/>
            <p:cNvSpPr>
              <a:spLocks noChangeArrowheads="1"/>
            </p:cNvSpPr>
            <p:nvPr/>
          </p:nvSpPr>
          <p:spPr bwMode="auto">
            <a:xfrm>
              <a:off x="49916" y="154738"/>
              <a:ext cx="109814" cy="17471"/>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52" name="Rectangle 119"/>
            <p:cNvSpPr>
              <a:spLocks noChangeArrowheads="1"/>
            </p:cNvSpPr>
            <p:nvPr/>
          </p:nvSpPr>
          <p:spPr bwMode="auto">
            <a:xfrm>
              <a:off x="49916" y="199662"/>
              <a:ext cx="109814" cy="14975"/>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53" name="Rectangle 120"/>
            <p:cNvSpPr>
              <a:spLocks noChangeArrowheads="1"/>
            </p:cNvSpPr>
            <p:nvPr/>
          </p:nvSpPr>
          <p:spPr bwMode="auto">
            <a:xfrm>
              <a:off x="49916" y="242091"/>
              <a:ext cx="109814" cy="17471"/>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grpSp>
      <p:grpSp>
        <p:nvGrpSpPr>
          <p:cNvPr id="8" name="Group 35"/>
          <p:cNvGrpSpPr/>
          <p:nvPr/>
        </p:nvGrpSpPr>
        <p:grpSpPr bwMode="auto">
          <a:xfrm>
            <a:off x="9810829" y="1204494"/>
            <a:ext cx="370263" cy="366780"/>
            <a:chOff x="0" y="0"/>
            <a:chExt cx="379359" cy="376864"/>
          </a:xfrm>
        </p:grpSpPr>
        <p:sp>
          <p:nvSpPr>
            <p:cNvPr id="25" name="Freeform 150"/>
            <p:cNvSpPr>
              <a:spLocks noEditPoints="1" noChangeArrowheads="1"/>
            </p:cNvSpPr>
            <p:nvPr/>
          </p:nvSpPr>
          <p:spPr bwMode="auto">
            <a:xfrm>
              <a:off x="0" y="0"/>
              <a:ext cx="379359" cy="376864"/>
            </a:xfrm>
            <a:custGeom>
              <a:avLst/>
              <a:gdLst>
                <a:gd name="T0" fmla="*/ 189680 w 114"/>
                <a:gd name="T1" fmla="*/ 0 h 114"/>
                <a:gd name="T2" fmla="*/ 0 w 114"/>
                <a:gd name="T3" fmla="*/ 188432 h 114"/>
                <a:gd name="T4" fmla="*/ 189680 w 114"/>
                <a:gd name="T5" fmla="*/ 376864 h 114"/>
                <a:gd name="T6" fmla="*/ 379359 w 114"/>
                <a:gd name="T7" fmla="*/ 188432 h 114"/>
                <a:gd name="T8" fmla="*/ 189680 w 114"/>
                <a:gd name="T9" fmla="*/ 0 h 114"/>
                <a:gd name="T10" fmla="*/ 189680 w 114"/>
                <a:gd name="T11" fmla="*/ 357029 h 114"/>
                <a:gd name="T12" fmla="*/ 19966 w 114"/>
                <a:gd name="T13" fmla="*/ 188432 h 114"/>
                <a:gd name="T14" fmla="*/ 189680 w 114"/>
                <a:gd name="T15" fmla="*/ 19835 h 114"/>
                <a:gd name="T16" fmla="*/ 359393 w 114"/>
                <a:gd name="T17" fmla="*/ 188432 h 114"/>
                <a:gd name="T18" fmla="*/ 189680 w 114"/>
                <a:gd name="T19" fmla="*/ 357029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114"/>
                <a:gd name="T32" fmla="*/ 114 w 114"/>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114">
                  <a:moveTo>
                    <a:pt x="57" y="0"/>
                  </a:moveTo>
                  <a:cubicBezTo>
                    <a:pt x="25" y="0"/>
                    <a:pt x="0" y="25"/>
                    <a:pt x="0" y="57"/>
                  </a:cubicBezTo>
                  <a:cubicBezTo>
                    <a:pt x="0" y="89"/>
                    <a:pt x="25" y="114"/>
                    <a:pt x="57" y="114"/>
                  </a:cubicBezTo>
                  <a:cubicBezTo>
                    <a:pt x="89" y="114"/>
                    <a:pt x="114" y="89"/>
                    <a:pt x="114" y="57"/>
                  </a:cubicBezTo>
                  <a:cubicBezTo>
                    <a:pt x="114" y="25"/>
                    <a:pt x="89" y="0"/>
                    <a:pt x="57" y="0"/>
                  </a:cubicBezTo>
                  <a:close/>
                  <a:moveTo>
                    <a:pt x="57" y="108"/>
                  </a:moveTo>
                  <a:cubicBezTo>
                    <a:pt x="29" y="108"/>
                    <a:pt x="6" y="85"/>
                    <a:pt x="6" y="57"/>
                  </a:cubicBezTo>
                  <a:cubicBezTo>
                    <a:pt x="6" y="29"/>
                    <a:pt x="29" y="6"/>
                    <a:pt x="57" y="6"/>
                  </a:cubicBezTo>
                  <a:cubicBezTo>
                    <a:pt x="85" y="6"/>
                    <a:pt x="108" y="29"/>
                    <a:pt x="108" y="57"/>
                  </a:cubicBezTo>
                  <a:cubicBezTo>
                    <a:pt x="108" y="85"/>
                    <a:pt x="85" y="108"/>
                    <a:pt x="57" y="108"/>
                  </a:cubicBez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26" name="Rectangle 151"/>
            <p:cNvSpPr>
              <a:spLocks noChangeArrowheads="1"/>
            </p:cNvSpPr>
            <p:nvPr/>
          </p:nvSpPr>
          <p:spPr bwMode="auto">
            <a:xfrm>
              <a:off x="144756" y="272040"/>
              <a:ext cx="22463" cy="42429"/>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27" name="Rectangle 152"/>
            <p:cNvSpPr>
              <a:spLocks noChangeArrowheads="1"/>
            </p:cNvSpPr>
            <p:nvPr/>
          </p:nvSpPr>
          <p:spPr bwMode="auto">
            <a:xfrm>
              <a:off x="179697" y="272040"/>
              <a:ext cx="19966" cy="42429"/>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28" name="Rectangle 153"/>
            <p:cNvSpPr>
              <a:spLocks noChangeArrowheads="1"/>
            </p:cNvSpPr>
            <p:nvPr/>
          </p:nvSpPr>
          <p:spPr bwMode="auto">
            <a:xfrm>
              <a:off x="214638" y="272040"/>
              <a:ext cx="19966" cy="42429"/>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29" name="Freeform 154"/>
            <p:cNvSpPr>
              <a:spLocks noChangeArrowheads="1"/>
            </p:cNvSpPr>
            <p:nvPr/>
          </p:nvSpPr>
          <p:spPr bwMode="auto">
            <a:xfrm>
              <a:off x="117303" y="107318"/>
              <a:ext cx="82362" cy="84857"/>
            </a:xfrm>
            <a:custGeom>
              <a:avLst/>
              <a:gdLst>
                <a:gd name="T0" fmla="*/ 62595 w 25"/>
                <a:gd name="T1" fmla="*/ 74674 h 25"/>
                <a:gd name="T2" fmla="*/ 72479 w 25"/>
                <a:gd name="T3" fmla="*/ 84857 h 25"/>
                <a:gd name="T4" fmla="*/ 82362 w 25"/>
                <a:gd name="T5" fmla="*/ 74674 h 25"/>
                <a:gd name="T6" fmla="*/ 72479 w 25"/>
                <a:gd name="T7" fmla="*/ 64491 h 25"/>
                <a:gd name="T8" fmla="*/ 69184 w 25"/>
                <a:gd name="T9" fmla="*/ 64491 h 25"/>
                <a:gd name="T10" fmla="*/ 0 w 25"/>
                <a:gd name="T11" fmla="*/ 0 h 25"/>
                <a:gd name="T12" fmla="*/ 62595 w 25"/>
                <a:gd name="T13" fmla="*/ 74674 h 25"/>
                <a:gd name="T14" fmla="*/ 62595 w 25"/>
                <a:gd name="T15" fmla="*/ 74674 h 25"/>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5"/>
                <a:gd name="T26" fmla="*/ 25 w 25"/>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5">
                  <a:moveTo>
                    <a:pt x="19" y="22"/>
                  </a:moveTo>
                  <a:cubicBezTo>
                    <a:pt x="19" y="24"/>
                    <a:pt x="20" y="25"/>
                    <a:pt x="22" y="25"/>
                  </a:cubicBezTo>
                  <a:cubicBezTo>
                    <a:pt x="24" y="25"/>
                    <a:pt x="25" y="24"/>
                    <a:pt x="25" y="22"/>
                  </a:cubicBezTo>
                  <a:cubicBezTo>
                    <a:pt x="25" y="21"/>
                    <a:pt x="24" y="19"/>
                    <a:pt x="22" y="19"/>
                  </a:cubicBezTo>
                  <a:cubicBezTo>
                    <a:pt x="22" y="19"/>
                    <a:pt x="22" y="19"/>
                    <a:pt x="21" y="19"/>
                  </a:cubicBezTo>
                  <a:cubicBezTo>
                    <a:pt x="0" y="0"/>
                    <a:pt x="0" y="0"/>
                    <a:pt x="0" y="0"/>
                  </a:cubicBezTo>
                  <a:cubicBezTo>
                    <a:pt x="19" y="22"/>
                    <a:pt x="19" y="22"/>
                    <a:pt x="19" y="22"/>
                  </a:cubicBezTo>
                  <a:cubicBezTo>
                    <a:pt x="19" y="22"/>
                    <a:pt x="19" y="22"/>
                    <a:pt x="19" y="22"/>
                  </a:cubicBez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0" name="Freeform 155"/>
            <p:cNvSpPr>
              <a:spLocks noChangeArrowheads="1"/>
            </p:cNvSpPr>
            <p:nvPr/>
          </p:nvSpPr>
          <p:spPr bwMode="auto">
            <a:xfrm>
              <a:off x="67387" y="272040"/>
              <a:ext cx="22463" cy="19966"/>
            </a:xfrm>
            <a:custGeom>
              <a:avLst/>
              <a:gdLst>
                <a:gd name="T0" fmla="*/ 0 w 9"/>
                <a:gd name="T1" fmla="*/ 14974 h 8"/>
                <a:gd name="T2" fmla="*/ 7488 w 9"/>
                <a:gd name="T3" fmla="*/ 19966 h 8"/>
                <a:gd name="T4" fmla="*/ 22463 w 9"/>
                <a:gd name="T5" fmla="*/ 2496 h 8"/>
                <a:gd name="T6" fmla="*/ 17471 w 9"/>
                <a:gd name="T7" fmla="*/ 0 h 8"/>
                <a:gd name="T8" fmla="*/ 0 w 9"/>
                <a:gd name="T9" fmla="*/ 14974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6"/>
                  </a:moveTo>
                  <a:lnTo>
                    <a:pt x="3" y="8"/>
                  </a:lnTo>
                  <a:lnTo>
                    <a:pt x="9" y="1"/>
                  </a:lnTo>
                  <a:lnTo>
                    <a:pt x="7" y="0"/>
                  </a:lnTo>
                  <a:lnTo>
                    <a:pt x="0" y="6"/>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1" name="Freeform 156"/>
            <p:cNvSpPr>
              <a:spLocks noChangeArrowheads="1"/>
            </p:cNvSpPr>
            <p:nvPr/>
          </p:nvSpPr>
          <p:spPr bwMode="auto">
            <a:xfrm>
              <a:off x="47421" y="227116"/>
              <a:ext cx="27454" cy="14975"/>
            </a:xfrm>
            <a:custGeom>
              <a:avLst/>
              <a:gdLst>
                <a:gd name="T0" fmla="*/ 22462 w 11"/>
                <a:gd name="T1" fmla="*/ 0 h 6"/>
                <a:gd name="T2" fmla="*/ 0 w 11"/>
                <a:gd name="T3" fmla="*/ 7488 h 6"/>
                <a:gd name="T4" fmla="*/ 2496 w 11"/>
                <a:gd name="T5" fmla="*/ 14975 h 6"/>
                <a:gd name="T6" fmla="*/ 27454 w 11"/>
                <a:gd name="T7" fmla="*/ 7488 h 6"/>
                <a:gd name="T8" fmla="*/ 22462 w 11"/>
                <a:gd name="T9" fmla="*/ 0 h 6"/>
                <a:gd name="T10" fmla="*/ 0 60000 65536"/>
                <a:gd name="T11" fmla="*/ 0 60000 65536"/>
                <a:gd name="T12" fmla="*/ 0 60000 65536"/>
                <a:gd name="T13" fmla="*/ 0 60000 65536"/>
                <a:gd name="T14" fmla="*/ 0 60000 65536"/>
                <a:gd name="T15" fmla="*/ 0 w 11"/>
                <a:gd name="T16" fmla="*/ 0 h 6"/>
                <a:gd name="T17" fmla="*/ 11 w 11"/>
                <a:gd name="T18" fmla="*/ 6 h 6"/>
              </a:gdLst>
              <a:ahLst/>
              <a:cxnLst>
                <a:cxn ang="T10">
                  <a:pos x="T0" y="T1"/>
                </a:cxn>
                <a:cxn ang="T11">
                  <a:pos x="T2" y="T3"/>
                </a:cxn>
                <a:cxn ang="T12">
                  <a:pos x="T4" y="T5"/>
                </a:cxn>
                <a:cxn ang="T13">
                  <a:pos x="T6" y="T7"/>
                </a:cxn>
                <a:cxn ang="T14">
                  <a:pos x="T8" y="T9"/>
                </a:cxn>
              </a:cxnLst>
              <a:rect l="T15" t="T16" r="T17" b="T18"/>
              <a:pathLst>
                <a:path w="11" h="6">
                  <a:moveTo>
                    <a:pt x="9" y="0"/>
                  </a:moveTo>
                  <a:lnTo>
                    <a:pt x="0" y="3"/>
                  </a:lnTo>
                  <a:lnTo>
                    <a:pt x="1" y="6"/>
                  </a:lnTo>
                  <a:lnTo>
                    <a:pt x="11" y="3"/>
                  </a:lnTo>
                  <a:lnTo>
                    <a:pt x="9" y="0"/>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2" name="Freeform 157"/>
            <p:cNvSpPr>
              <a:spLocks noChangeArrowheads="1"/>
            </p:cNvSpPr>
            <p:nvPr/>
          </p:nvSpPr>
          <p:spPr bwMode="auto">
            <a:xfrm>
              <a:off x="79865" y="74874"/>
              <a:ext cx="19966" cy="22463"/>
            </a:xfrm>
            <a:custGeom>
              <a:avLst/>
              <a:gdLst>
                <a:gd name="T0" fmla="*/ 0 w 8"/>
                <a:gd name="T1" fmla="*/ 7488 h 9"/>
                <a:gd name="T2" fmla="*/ 17470 w 8"/>
                <a:gd name="T3" fmla="*/ 22463 h 9"/>
                <a:gd name="T4" fmla="*/ 19966 w 8"/>
                <a:gd name="T5" fmla="*/ 17471 h 9"/>
                <a:gd name="T6" fmla="*/ 4992 w 8"/>
                <a:gd name="T7" fmla="*/ 0 h 9"/>
                <a:gd name="T8" fmla="*/ 0 w 8"/>
                <a:gd name="T9" fmla="*/ 748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0" y="3"/>
                  </a:moveTo>
                  <a:lnTo>
                    <a:pt x="7" y="9"/>
                  </a:lnTo>
                  <a:lnTo>
                    <a:pt x="8" y="7"/>
                  </a:lnTo>
                  <a:lnTo>
                    <a:pt x="2" y="0"/>
                  </a:lnTo>
                  <a:lnTo>
                    <a:pt x="0" y="3"/>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3" name="Freeform 158"/>
            <p:cNvSpPr>
              <a:spLocks noChangeArrowheads="1"/>
            </p:cNvSpPr>
            <p:nvPr/>
          </p:nvSpPr>
          <p:spPr bwMode="auto">
            <a:xfrm>
              <a:off x="49916" y="124789"/>
              <a:ext cx="27454" cy="12480"/>
            </a:xfrm>
            <a:custGeom>
              <a:avLst/>
              <a:gdLst>
                <a:gd name="T0" fmla="*/ 27454 w 11"/>
                <a:gd name="T1" fmla="*/ 7488 h 5"/>
                <a:gd name="T2" fmla="*/ 4992 w 11"/>
                <a:gd name="T3" fmla="*/ 0 h 5"/>
                <a:gd name="T4" fmla="*/ 0 w 11"/>
                <a:gd name="T5" fmla="*/ 7488 h 5"/>
                <a:gd name="T6" fmla="*/ 24958 w 11"/>
                <a:gd name="T7" fmla="*/ 12480 h 5"/>
                <a:gd name="T8" fmla="*/ 27454 w 11"/>
                <a:gd name="T9" fmla="*/ 7488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1" y="3"/>
                  </a:moveTo>
                  <a:lnTo>
                    <a:pt x="2" y="0"/>
                  </a:lnTo>
                  <a:lnTo>
                    <a:pt x="0" y="3"/>
                  </a:lnTo>
                  <a:lnTo>
                    <a:pt x="10" y="5"/>
                  </a:lnTo>
                  <a:lnTo>
                    <a:pt x="11" y="3"/>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4" name="Rectangle 159"/>
            <p:cNvSpPr>
              <a:spLocks noChangeArrowheads="1"/>
            </p:cNvSpPr>
            <p:nvPr/>
          </p:nvSpPr>
          <p:spPr bwMode="auto">
            <a:xfrm>
              <a:off x="187185" y="34941"/>
              <a:ext cx="7488" cy="22463"/>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5" name="Freeform 160"/>
            <p:cNvSpPr>
              <a:spLocks noChangeArrowheads="1"/>
            </p:cNvSpPr>
            <p:nvPr/>
          </p:nvSpPr>
          <p:spPr bwMode="auto">
            <a:xfrm>
              <a:off x="119798" y="44924"/>
              <a:ext cx="17471" cy="22463"/>
            </a:xfrm>
            <a:custGeom>
              <a:avLst/>
              <a:gdLst>
                <a:gd name="T0" fmla="*/ 17471 w 7"/>
                <a:gd name="T1" fmla="*/ 19967 h 9"/>
                <a:gd name="T2" fmla="*/ 7488 w 7"/>
                <a:gd name="T3" fmla="*/ 0 h 9"/>
                <a:gd name="T4" fmla="*/ 0 w 7"/>
                <a:gd name="T5" fmla="*/ 4992 h 9"/>
                <a:gd name="T6" fmla="*/ 9983 w 7"/>
                <a:gd name="T7" fmla="*/ 22463 h 9"/>
                <a:gd name="T8" fmla="*/ 17471 w 7"/>
                <a:gd name="T9" fmla="*/ 19967 h 9"/>
                <a:gd name="T10" fmla="*/ 0 60000 65536"/>
                <a:gd name="T11" fmla="*/ 0 60000 65536"/>
                <a:gd name="T12" fmla="*/ 0 60000 65536"/>
                <a:gd name="T13" fmla="*/ 0 60000 65536"/>
                <a:gd name="T14" fmla="*/ 0 60000 65536"/>
                <a:gd name="T15" fmla="*/ 0 w 7"/>
                <a:gd name="T16" fmla="*/ 0 h 9"/>
                <a:gd name="T17" fmla="*/ 7 w 7"/>
                <a:gd name="T18" fmla="*/ 9 h 9"/>
              </a:gdLst>
              <a:ahLst/>
              <a:cxnLst>
                <a:cxn ang="T10">
                  <a:pos x="T0" y="T1"/>
                </a:cxn>
                <a:cxn ang="T11">
                  <a:pos x="T2" y="T3"/>
                </a:cxn>
                <a:cxn ang="T12">
                  <a:pos x="T4" y="T5"/>
                </a:cxn>
                <a:cxn ang="T13">
                  <a:pos x="T6" y="T7"/>
                </a:cxn>
                <a:cxn ang="T14">
                  <a:pos x="T8" y="T9"/>
                </a:cxn>
              </a:cxnLst>
              <a:rect l="T15" t="T16" r="T17" b="T18"/>
              <a:pathLst>
                <a:path w="7" h="9">
                  <a:moveTo>
                    <a:pt x="7" y="8"/>
                  </a:moveTo>
                  <a:lnTo>
                    <a:pt x="3" y="0"/>
                  </a:lnTo>
                  <a:lnTo>
                    <a:pt x="0" y="2"/>
                  </a:lnTo>
                  <a:lnTo>
                    <a:pt x="4" y="9"/>
                  </a:lnTo>
                  <a:lnTo>
                    <a:pt x="7" y="8"/>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6" name="Freeform 161"/>
            <p:cNvSpPr>
              <a:spLocks noChangeArrowheads="1"/>
            </p:cNvSpPr>
            <p:nvPr/>
          </p:nvSpPr>
          <p:spPr bwMode="auto">
            <a:xfrm>
              <a:off x="234604" y="44924"/>
              <a:ext cx="12480" cy="27454"/>
            </a:xfrm>
            <a:custGeom>
              <a:avLst/>
              <a:gdLst>
                <a:gd name="T0" fmla="*/ 0 w 5"/>
                <a:gd name="T1" fmla="*/ 22462 h 11"/>
                <a:gd name="T2" fmla="*/ 4992 w 5"/>
                <a:gd name="T3" fmla="*/ 27454 h 11"/>
                <a:gd name="T4" fmla="*/ 12480 w 5"/>
                <a:gd name="T5" fmla="*/ 4992 h 11"/>
                <a:gd name="T6" fmla="*/ 4992 w 5"/>
                <a:gd name="T7" fmla="*/ 0 h 11"/>
                <a:gd name="T8" fmla="*/ 0 w 5"/>
                <a:gd name="T9" fmla="*/ 22462 h 11"/>
                <a:gd name="T10" fmla="*/ 0 60000 65536"/>
                <a:gd name="T11" fmla="*/ 0 60000 65536"/>
                <a:gd name="T12" fmla="*/ 0 60000 65536"/>
                <a:gd name="T13" fmla="*/ 0 60000 65536"/>
                <a:gd name="T14" fmla="*/ 0 60000 65536"/>
                <a:gd name="T15" fmla="*/ 0 w 5"/>
                <a:gd name="T16" fmla="*/ 0 h 11"/>
                <a:gd name="T17" fmla="*/ 5 w 5"/>
                <a:gd name="T18" fmla="*/ 11 h 11"/>
              </a:gdLst>
              <a:ahLst/>
              <a:cxnLst>
                <a:cxn ang="T10">
                  <a:pos x="T0" y="T1"/>
                </a:cxn>
                <a:cxn ang="T11">
                  <a:pos x="T2" y="T3"/>
                </a:cxn>
                <a:cxn ang="T12">
                  <a:pos x="T4" y="T5"/>
                </a:cxn>
                <a:cxn ang="T13">
                  <a:pos x="T6" y="T7"/>
                </a:cxn>
                <a:cxn ang="T14">
                  <a:pos x="T8" y="T9"/>
                </a:cxn>
              </a:cxnLst>
              <a:rect l="T15" t="T16" r="T17" b="T18"/>
              <a:pathLst>
                <a:path w="5" h="11">
                  <a:moveTo>
                    <a:pt x="0" y="9"/>
                  </a:moveTo>
                  <a:lnTo>
                    <a:pt x="2" y="11"/>
                  </a:lnTo>
                  <a:lnTo>
                    <a:pt x="5" y="2"/>
                  </a:lnTo>
                  <a:lnTo>
                    <a:pt x="2" y="0"/>
                  </a:lnTo>
                  <a:lnTo>
                    <a:pt x="0" y="9"/>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7" name="Freeform 162"/>
            <p:cNvSpPr>
              <a:spLocks noChangeArrowheads="1"/>
            </p:cNvSpPr>
            <p:nvPr/>
          </p:nvSpPr>
          <p:spPr bwMode="auto">
            <a:xfrm>
              <a:off x="277033" y="272040"/>
              <a:ext cx="22463" cy="19966"/>
            </a:xfrm>
            <a:custGeom>
              <a:avLst/>
              <a:gdLst>
                <a:gd name="T0" fmla="*/ 0 w 9"/>
                <a:gd name="T1" fmla="*/ 2496 h 8"/>
                <a:gd name="T2" fmla="*/ 19967 w 9"/>
                <a:gd name="T3" fmla="*/ 19966 h 8"/>
                <a:gd name="T4" fmla="*/ 22463 w 9"/>
                <a:gd name="T5" fmla="*/ 14974 h 8"/>
                <a:gd name="T6" fmla="*/ 7488 w 9"/>
                <a:gd name="T7" fmla="*/ 0 h 8"/>
                <a:gd name="T8" fmla="*/ 0 w 9"/>
                <a:gd name="T9" fmla="*/ 2496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1"/>
                  </a:moveTo>
                  <a:lnTo>
                    <a:pt x="8" y="8"/>
                  </a:lnTo>
                  <a:lnTo>
                    <a:pt x="9" y="6"/>
                  </a:lnTo>
                  <a:lnTo>
                    <a:pt x="3" y="0"/>
                  </a:lnTo>
                  <a:lnTo>
                    <a:pt x="0" y="1"/>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8" name="Freeform 163"/>
            <p:cNvSpPr>
              <a:spLocks noChangeArrowheads="1"/>
            </p:cNvSpPr>
            <p:nvPr/>
          </p:nvSpPr>
          <p:spPr bwMode="auto">
            <a:xfrm>
              <a:off x="304486" y="227116"/>
              <a:ext cx="24958" cy="14975"/>
            </a:xfrm>
            <a:custGeom>
              <a:avLst/>
              <a:gdLst>
                <a:gd name="T0" fmla="*/ 0 w 10"/>
                <a:gd name="T1" fmla="*/ 7488 h 6"/>
                <a:gd name="T2" fmla="*/ 22462 w 10"/>
                <a:gd name="T3" fmla="*/ 14975 h 6"/>
                <a:gd name="T4" fmla="*/ 24958 w 10"/>
                <a:gd name="T5" fmla="*/ 7488 h 6"/>
                <a:gd name="T6" fmla="*/ 2496 w 10"/>
                <a:gd name="T7" fmla="*/ 0 h 6"/>
                <a:gd name="T8" fmla="*/ 0 w 10"/>
                <a:gd name="T9" fmla="*/ 7488 h 6"/>
                <a:gd name="T10" fmla="*/ 0 60000 65536"/>
                <a:gd name="T11" fmla="*/ 0 60000 65536"/>
                <a:gd name="T12" fmla="*/ 0 60000 65536"/>
                <a:gd name="T13" fmla="*/ 0 60000 65536"/>
                <a:gd name="T14" fmla="*/ 0 60000 65536"/>
                <a:gd name="T15" fmla="*/ 0 w 10"/>
                <a:gd name="T16" fmla="*/ 0 h 6"/>
                <a:gd name="T17" fmla="*/ 10 w 10"/>
                <a:gd name="T18" fmla="*/ 6 h 6"/>
              </a:gdLst>
              <a:ahLst/>
              <a:cxnLst>
                <a:cxn ang="T10">
                  <a:pos x="T0" y="T1"/>
                </a:cxn>
                <a:cxn ang="T11">
                  <a:pos x="T2" y="T3"/>
                </a:cxn>
                <a:cxn ang="T12">
                  <a:pos x="T4" y="T5"/>
                </a:cxn>
                <a:cxn ang="T13">
                  <a:pos x="T6" y="T7"/>
                </a:cxn>
                <a:cxn ang="T14">
                  <a:pos x="T8" y="T9"/>
                </a:cxn>
              </a:cxnLst>
              <a:rect l="T15" t="T16" r="T17" b="T18"/>
              <a:pathLst>
                <a:path w="10" h="6">
                  <a:moveTo>
                    <a:pt x="0" y="3"/>
                  </a:moveTo>
                  <a:lnTo>
                    <a:pt x="9" y="6"/>
                  </a:lnTo>
                  <a:lnTo>
                    <a:pt x="10" y="3"/>
                  </a:lnTo>
                  <a:lnTo>
                    <a:pt x="1" y="0"/>
                  </a:lnTo>
                  <a:lnTo>
                    <a:pt x="0" y="3"/>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39" name="Freeform 164"/>
            <p:cNvSpPr>
              <a:spLocks noChangeArrowheads="1"/>
            </p:cNvSpPr>
            <p:nvPr/>
          </p:nvSpPr>
          <p:spPr bwMode="auto">
            <a:xfrm>
              <a:off x="274536" y="74874"/>
              <a:ext cx="22463" cy="22463"/>
            </a:xfrm>
            <a:custGeom>
              <a:avLst/>
              <a:gdLst>
                <a:gd name="T0" fmla="*/ 22463 w 9"/>
                <a:gd name="T1" fmla="*/ 7488 h 9"/>
                <a:gd name="T2" fmla="*/ 19967 w 9"/>
                <a:gd name="T3" fmla="*/ 0 h 9"/>
                <a:gd name="T4" fmla="*/ 0 w 9"/>
                <a:gd name="T5" fmla="*/ 17471 h 9"/>
                <a:gd name="T6" fmla="*/ 4992 w 9"/>
                <a:gd name="T7" fmla="*/ 22463 h 9"/>
                <a:gd name="T8" fmla="*/ 22463 w 9"/>
                <a:gd name="T9" fmla="*/ 7488 h 9"/>
                <a:gd name="T10" fmla="*/ 0 60000 65536"/>
                <a:gd name="T11" fmla="*/ 0 60000 65536"/>
                <a:gd name="T12" fmla="*/ 0 60000 65536"/>
                <a:gd name="T13" fmla="*/ 0 60000 65536"/>
                <a:gd name="T14" fmla="*/ 0 60000 65536"/>
                <a:gd name="T15" fmla="*/ 0 w 9"/>
                <a:gd name="T16" fmla="*/ 0 h 9"/>
                <a:gd name="T17" fmla="*/ 9 w 9"/>
                <a:gd name="T18" fmla="*/ 9 h 9"/>
              </a:gdLst>
              <a:ahLst/>
              <a:cxnLst>
                <a:cxn ang="T10">
                  <a:pos x="T0" y="T1"/>
                </a:cxn>
                <a:cxn ang="T11">
                  <a:pos x="T2" y="T3"/>
                </a:cxn>
                <a:cxn ang="T12">
                  <a:pos x="T4" y="T5"/>
                </a:cxn>
                <a:cxn ang="T13">
                  <a:pos x="T6" y="T7"/>
                </a:cxn>
                <a:cxn ang="T14">
                  <a:pos x="T8" y="T9"/>
                </a:cxn>
              </a:cxnLst>
              <a:rect l="T15" t="T16" r="T17" b="T18"/>
              <a:pathLst>
                <a:path w="9" h="9">
                  <a:moveTo>
                    <a:pt x="9" y="3"/>
                  </a:moveTo>
                  <a:lnTo>
                    <a:pt x="8" y="0"/>
                  </a:lnTo>
                  <a:lnTo>
                    <a:pt x="0" y="7"/>
                  </a:lnTo>
                  <a:lnTo>
                    <a:pt x="2" y="9"/>
                  </a:lnTo>
                  <a:lnTo>
                    <a:pt x="9" y="3"/>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0" name="Freeform 165"/>
            <p:cNvSpPr>
              <a:spLocks noChangeArrowheads="1"/>
            </p:cNvSpPr>
            <p:nvPr/>
          </p:nvSpPr>
          <p:spPr bwMode="auto">
            <a:xfrm>
              <a:off x="299494" y="124789"/>
              <a:ext cx="27454" cy="12480"/>
            </a:xfrm>
            <a:custGeom>
              <a:avLst/>
              <a:gdLst>
                <a:gd name="T0" fmla="*/ 24958 w 11"/>
                <a:gd name="T1" fmla="*/ 0 h 5"/>
                <a:gd name="T2" fmla="*/ 0 w 11"/>
                <a:gd name="T3" fmla="*/ 7488 h 5"/>
                <a:gd name="T4" fmla="*/ 4992 w 11"/>
                <a:gd name="T5" fmla="*/ 12480 h 5"/>
                <a:gd name="T6" fmla="*/ 27454 w 11"/>
                <a:gd name="T7" fmla="*/ 7488 h 5"/>
                <a:gd name="T8" fmla="*/ 24958 w 11"/>
                <a:gd name="T9" fmla="*/ 0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0" y="0"/>
                  </a:moveTo>
                  <a:lnTo>
                    <a:pt x="0" y="3"/>
                  </a:lnTo>
                  <a:lnTo>
                    <a:pt x="2" y="5"/>
                  </a:lnTo>
                  <a:lnTo>
                    <a:pt x="11" y="3"/>
                  </a:lnTo>
                  <a:lnTo>
                    <a:pt x="10" y="0"/>
                  </a:lnTo>
                  <a:close/>
                </a:path>
              </a:pathLst>
            </a:cu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1" name="Rectangle 166"/>
            <p:cNvSpPr>
              <a:spLocks noChangeArrowheads="1"/>
            </p:cNvSpPr>
            <p:nvPr/>
          </p:nvSpPr>
          <p:spPr bwMode="auto">
            <a:xfrm>
              <a:off x="39933" y="174705"/>
              <a:ext cx="24958" cy="7488"/>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sp>
          <p:nvSpPr>
            <p:cNvPr id="42" name="Rectangle 167"/>
            <p:cNvSpPr>
              <a:spLocks noChangeArrowheads="1"/>
            </p:cNvSpPr>
            <p:nvPr/>
          </p:nvSpPr>
          <p:spPr bwMode="auto">
            <a:xfrm>
              <a:off x="316965" y="177200"/>
              <a:ext cx="27454" cy="7488"/>
            </a:xfrm>
            <a:prstGeom prst="rect">
              <a:avLst/>
            </a:prstGeom>
            <a:solidFill>
              <a:schemeClr val="bg1"/>
            </a:solidFill>
            <a:ln w="9525">
              <a:noFill/>
              <a:miter lim="800000"/>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zh-CN" altLang="en-US" sz="2400">
                <a:solidFill>
                  <a:srgbClr val="F2F2F2"/>
                </a:solidFill>
                <a:latin typeface="Calibri" panose="020F0502020204030204" pitchFamily="34" charset="0"/>
                <a:sym typeface="Calibri" panose="020F0502020204030204" pitchFamily="34" charset="0"/>
              </a:endParaRPr>
            </a:p>
          </p:txBody>
        </p:sp>
      </p:grpSp>
      <p:sp>
        <p:nvSpPr>
          <p:cNvPr id="58" name="矩形 57"/>
          <p:cNvSpPr/>
          <p:nvPr/>
        </p:nvSpPr>
        <p:spPr>
          <a:xfrm>
            <a:off x="1447800" y="1334770"/>
            <a:ext cx="7251065" cy="64516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altLang="en-US" sz="2400" b="1" dirty="0"/>
              <a:t>The data had 8 types of problems. We fixed all of them.</a:t>
            </a:r>
            <a:endParaRPr lang="en-US" altLang="en-US" sz="2400" b="1" dirty="0"/>
          </a:p>
        </p:txBody>
      </p:sp>
      <p:sp>
        <p:nvSpPr>
          <p:cNvPr id="59" name="矩形 58"/>
          <p:cNvSpPr/>
          <p:nvPr/>
        </p:nvSpPr>
        <p:spPr>
          <a:xfrm>
            <a:off x="1639789" y="817299"/>
            <a:ext cx="3211830" cy="46037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400" b="1" dirty="0"/>
              <a:t>Data Cleaning Overview</a:t>
            </a:r>
            <a:endParaRPr lang="en-US" altLang="en-US" sz="2400" b="1" dirty="0"/>
          </a:p>
        </p:txBody>
      </p:sp>
      <p:grpSp>
        <p:nvGrpSpPr>
          <p:cNvPr id="6" name="Group 5"/>
          <p:cNvGrpSpPr/>
          <p:nvPr/>
        </p:nvGrpSpPr>
        <p:grpSpPr>
          <a:xfrm>
            <a:off x="1447800" y="2216150"/>
            <a:ext cx="8363544" cy="3155950"/>
            <a:chOff x="2280" y="4627"/>
            <a:chExt cx="14085" cy="5436"/>
          </a:xfrm>
        </p:grpSpPr>
        <p:sp>
          <p:nvSpPr>
            <p:cNvPr id="20" name="剪去对角的矩形 149"/>
            <p:cNvSpPr/>
            <p:nvPr/>
          </p:nvSpPr>
          <p:spPr>
            <a:xfrm>
              <a:off x="2353" y="4627"/>
              <a:ext cx="5945" cy="2286"/>
            </a:xfrm>
            <a:prstGeom prst="snip2Diag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lIns="91421" tIns="45711" rIns="91421" bIns="45711"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solidFill>
                  <a:srgbClr val="007FDE"/>
                </a:solidFill>
              </a:endParaRPr>
            </a:p>
          </p:txBody>
        </p:sp>
        <p:sp>
          <p:nvSpPr>
            <p:cNvPr id="56" name="矩形 55"/>
            <p:cNvSpPr/>
            <p:nvPr/>
          </p:nvSpPr>
          <p:spPr>
            <a:xfrm>
              <a:off x="2572" y="5608"/>
              <a:ext cx="7027" cy="79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t>🔁</a:t>
              </a:r>
              <a:r>
                <a:rPr lang="en-US" altLang="en-US" sz="2400" b="1" dirty="0"/>
                <a:t>  8 Duplicates Removed</a:t>
              </a:r>
              <a:endParaRPr lang="en-US" altLang="en-US" sz="2400" b="1" dirty="0"/>
            </a:p>
          </p:txBody>
        </p:sp>
        <p:sp>
          <p:nvSpPr>
            <p:cNvPr id="11" name="剪去对角的矩形 149"/>
            <p:cNvSpPr/>
            <p:nvPr/>
          </p:nvSpPr>
          <p:spPr>
            <a:xfrm>
              <a:off x="9853" y="4627"/>
              <a:ext cx="6127" cy="2286"/>
            </a:xfrm>
            <a:prstGeom prst="snip2Diag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lIns="91421" tIns="45711" rIns="91421" bIns="45711"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solidFill>
                  <a:srgbClr val="007FDE"/>
                </a:solidFill>
              </a:endParaRPr>
            </a:p>
          </p:txBody>
        </p:sp>
        <p:sp>
          <p:nvSpPr>
            <p:cNvPr id="13" name="Text Box 12"/>
            <p:cNvSpPr txBox="1"/>
            <p:nvPr/>
          </p:nvSpPr>
          <p:spPr>
            <a:xfrm>
              <a:off x="10683" y="5196"/>
              <a:ext cx="4502" cy="1430"/>
            </a:xfrm>
            <a:prstGeom prst="rect">
              <a:avLst/>
            </a:prstGeom>
            <a:noFill/>
          </p:spPr>
          <p:txBody>
            <a:bodyPr wrap="square" rtlCol="0">
              <a:spAutoFit/>
            </a:bodyPr>
            <a:p>
              <a:r>
                <a:rPr lang="en-US" altLang="en-US" sz="2400" b="1"/>
                <a:t>❌ 31 Zero Revenue Rows Fixed</a:t>
              </a:r>
              <a:endParaRPr lang="en-US" altLang="en-US" sz="2400" b="1"/>
            </a:p>
          </p:txBody>
        </p:sp>
        <p:sp>
          <p:nvSpPr>
            <p:cNvPr id="2" name="剪去对角的矩形 149"/>
            <p:cNvSpPr/>
            <p:nvPr/>
          </p:nvSpPr>
          <p:spPr>
            <a:xfrm>
              <a:off x="2280" y="7777"/>
              <a:ext cx="6884" cy="2286"/>
            </a:xfrm>
            <a:prstGeom prst="snip2Diag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lIns="91421" tIns="45711" rIns="91421" bIns="45711"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solidFill>
                  <a:srgbClr val="007FDE"/>
                </a:solidFill>
              </a:endParaRPr>
            </a:p>
          </p:txBody>
        </p:sp>
        <p:sp>
          <p:nvSpPr>
            <p:cNvPr id="3" name="矩形 55"/>
            <p:cNvSpPr/>
            <p:nvPr/>
          </p:nvSpPr>
          <p:spPr>
            <a:xfrm>
              <a:off x="2280" y="8606"/>
              <a:ext cx="6884" cy="68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t>⚠</a:t>
              </a:r>
              <a:r>
                <a:rPr lang="" altLang="en-US" sz="2000" b="1" dirty="0"/>
                <a:t>️</a:t>
              </a:r>
              <a:r>
                <a:rPr lang="en-US" altLang="en-US" sz="2000" b="1" dirty="0"/>
                <a:t> 49 Missing Values Handled</a:t>
              </a:r>
              <a:endParaRPr lang="en-US" altLang="en-US" sz="2000" b="1" dirty="0"/>
            </a:p>
          </p:txBody>
        </p:sp>
        <p:sp>
          <p:nvSpPr>
            <p:cNvPr id="4" name="剪去对角的矩形 149"/>
            <p:cNvSpPr/>
            <p:nvPr/>
          </p:nvSpPr>
          <p:spPr>
            <a:xfrm>
              <a:off x="10238" y="7777"/>
              <a:ext cx="6127" cy="2286"/>
            </a:xfrm>
            <a:prstGeom prst="snip2Diag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lIns="91421" tIns="45711" rIns="91421" bIns="45711"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solidFill>
                  <a:srgbClr val="007FDE"/>
                </a:solidFill>
              </a:endParaRPr>
            </a:p>
          </p:txBody>
        </p:sp>
        <p:sp>
          <p:nvSpPr>
            <p:cNvPr id="5" name="Text Box 4"/>
            <p:cNvSpPr txBox="1"/>
            <p:nvPr/>
          </p:nvSpPr>
          <p:spPr>
            <a:xfrm>
              <a:off x="10883" y="8266"/>
              <a:ext cx="4502" cy="1430"/>
            </a:xfrm>
            <a:prstGeom prst="rect">
              <a:avLst/>
            </a:prstGeom>
            <a:noFill/>
          </p:spPr>
          <p:txBody>
            <a:bodyPr wrap="square" rtlCol="0">
              <a:spAutoFit/>
            </a:bodyPr>
            <a:p>
              <a:r>
                <a:rPr lang="zh-CN" altLang="en-US" sz="2400" b="1"/>
                <a:t>📉</a:t>
              </a:r>
              <a:r>
                <a:rPr lang="en-US" altLang="en-US" sz="2400" b="1"/>
                <a:t>  6 Negative Delays Corrected</a:t>
              </a:r>
              <a:endParaRPr lang="en-US" altLang="en-US" sz="2400" b="1"/>
            </a:p>
          </p:txBody>
        </p:sp>
      </p:grpSp>
      <p:sp>
        <p:nvSpPr>
          <p:cNvPr id="9" name="矩形 57"/>
          <p:cNvSpPr/>
          <p:nvPr/>
        </p:nvSpPr>
        <p:spPr>
          <a:xfrm>
            <a:off x="1751330" y="5473065"/>
            <a:ext cx="9418320" cy="101473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en-US" sz="2000" b="1" dirty="0"/>
              <a:t>Across 10 cleaning tasks, inconsistent formats, outliers, and data entry errors were identified and resolved before any analysis began.</a:t>
            </a:r>
            <a:endParaRPr lang="en-US" altLang="en-US" sz="20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9210" y="0"/>
            <a:ext cx="8130540" cy="6858000"/>
          </a:xfrm>
          <a:prstGeom prst="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507749" y="1677881"/>
            <a:ext cx="2809382" cy="4212454"/>
          </a:xfrm>
          <a:prstGeom prst="rect">
            <a:avLst/>
          </a:prstGeom>
        </p:spPr>
      </p:pic>
      <p:sp>
        <p:nvSpPr>
          <p:cNvPr id="11" name="矩形 10"/>
          <p:cNvSpPr/>
          <p:nvPr/>
        </p:nvSpPr>
        <p:spPr>
          <a:xfrm>
            <a:off x="581615" y="366387"/>
            <a:ext cx="3296285" cy="46037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400" b="1" dirty="0"/>
              <a:t>Data Cleaning Deep Dive</a:t>
            </a:r>
            <a:endParaRPr lang="en-US" altLang="en-US" sz="2400" b="1" dirty="0"/>
          </a:p>
        </p:txBody>
      </p:sp>
      <p:sp>
        <p:nvSpPr>
          <p:cNvPr id="13" name="矩形 12"/>
          <p:cNvSpPr/>
          <p:nvPr/>
        </p:nvSpPr>
        <p:spPr>
          <a:xfrm>
            <a:off x="581660" y="1612265"/>
            <a:ext cx="7146925" cy="184531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2000" b="1" dirty="0"/>
              <a:t>01 — The Duplicates Excel Missed</a:t>
            </a:r>
            <a:endParaRPr lang="en-US" altLang="en-US" sz="2000" b="1" dirty="0"/>
          </a:p>
          <a:p>
            <a:pPr>
              <a:lnSpc>
                <a:spcPct val="150000"/>
              </a:lnSpc>
            </a:pPr>
            <a:endParaRPr lang="en-US" altLang="en-US" sz="1400" b="1" dirty="0"/>
          </a:p>
          <a:p>
            <a:pPr>
              <a:lnSpc>
                <a:spcPct val="150000"/>
              </a:lnSpc>
            </a:pPr>
            <a:r>
              <a:rPr lang="en-US" altLang="en-US" sz="1400" b="1" dirty="0"/>
              <a:t>Remove Duplicates only caught 1 of 8. Two flights (FL470 and FL029) had the same Flight ID but slightly different airline names and ticket prices ,  making them look unique. We used COUNTIF to surface all 8 and removed them manually</a:t>
            </a:r>
            <a:endParaRPr lang="en-US" altLang="en-US" sz="1400" b="1" dirty="0"/>
          </a:p>
        </p:txBody>
      </p:sp>
      <p:sp>
        <p:nvSpPr>
          <p:cNvPr id="14" name="矩形 13"/>
          <p:cNvSpPr/>
          <p:nvPr/>
        </p:nvSpPr>
        <p:spPr>
          <a:xfrm>
            <a:off x="5841507" y="5249181"/>
            <a:ext cx="3759875" cy="461639"/>
          </a:xfrm>
          <a:prstGeom prst="rect">
            <a:avLst/>
          </a:prstGeom>
          <a:solidFill>
            <a:srgbClr val="ABE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81615" y="3429914"/>
            <a:ext cx="4253865" cy="46037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400" b="1" dirty="0"/>
              <a:t>Missing Ticket Prices Done Right</a:t>
            </a:r>
            <a:endParaRPr lang="en-US" altLang="en-US" sz="2400" b="1" dirty="0"/>
          </a:p>
        </p:txBody>
      </p:sp>
      <p:sp>
        <p:nvSpPr>
          <p:cNvPr id="19" name="矩形 18"/>
          <p:cNvSpPr/>
          <p:nvPr/>
        </p:nvSpPr>
        <p:spPr>
          <a:xfrm>
            <a:off x="581660" y="4039235"/>
            <a:ext cx="7357745" cy="106045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400" b="1" dirty="0"/>
              <a:t>20 ticket prices were blank. Instead of using an overall average, we filled each blank with the median price for that specific airline — because a Spirit median is very different from an Alaska median.</a:t>
            </a:r>
            <a:endParaRPr lang="en-US" altLang="en-US" sz="1400" b="1" dirty="0"/>
          </a:p>
        </p:txBody>
      </p:sp>
      <p:sp>
        <p:nvSpPr>
          <p:cNvPr id="2" name="矩形 10"/>
          <p:cNvSpPr/>
          <p:nvPr/>
        </p:nvSpPr>
        <p:spPr>
          <a:xfrm>
            <a:off x="581615" y="1078857"/>
            <a:ext cx="6679565" cy="46037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400" b="1" dirty="0"/>
              <a:t>Three problems that required more than a formula.</a:t>
            </a:r>
            <a:endParaRPr lang="en-US" altLang="en-US" sz="2400" b="1" dirty="0"/>
          </a:p>
        </p:txBody>
      </p:sp>
      <p:sp>
        <p:nvSpPr>
          <p:cNvPr id="3" name="矩形 17"/>
          <p:cNvSpPr/>
          <p:nvPr/>
        </p:nvSpPr>
        <p:spPr>
          <a:xfrm>
            <a:off x="581615" y="5089169"/>
            <a:ext cx="3685540" cy="46037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400" b="1" dirty="0"/>
              <a:t>Zero Revenue Was Not Zero</a:t>
            </a:r>
            <a:endParaRPr lang="en-US" altLang="en-US" sz="2400" b="1" dirty="0"/>
          </a:p>
        </p:txBody>
      </p:sp>
      <p:sp>
        <p:nvSpPr>
          <p:cNvPr id="4" name="矩形 18"/>
          <p:cNvSpPr/>
          <p:nvPr/>
        </p:nvSpPr>
        <p:spPr>
          <a:xfrm>
            <a:off x="581660" y="5645150"/>
            <a:ext cx="7357745" cy="106045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400" b="1" dirty="0"/>
              <a:t>31 flights showed $0 total revenue. Rather than deleting them, we investigated — using VLOOKUP to pull ticket price and passenger count from the Flights table. All 31 had valid data. The zeros were data entry errors, not real values.</a:t>
            </a:r>
            <a:endParaRPr lang="en-US" altLang="en-US" sz="1400" b="1" dirty="0"/>
          </a:p>
        </p:txBody>
      </p:sp>
      <p:pic>
        <p:nvPicPr>
          <p:cNvPr id="5" name="Picture 4" descr="airline"/>
          <p:cNvPicPr>
            <a:picLocks noChangeAspect="1"/>
          </p:cNvPicPr>
          <p:nvPr/>
        </p:nvPicPr>
        <p:blipFill>
          <a:blip r:embed="rId2"/>
          <a:stretch>
            <a:fillRect/>
          </a:stretch>
        </p:blipFill>
        <p:spPr>
          <a:xfrm rot="5400000">
            <a:off x="7806055" y="2379980"/>
            <a:ext cx="4213225" cy="2809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rotWithShape="1">
          <a:blip r:embed="rId1">
            <a:extLst>
              <a:ext uri="{28A0092B-C50C-407E-A947-70E740481C1C}">
                <a14:useLocalDpi xmlns:a14="http://schemas.microsoft.com/office/drawing/2010/main" val="0"/>
              </a:ext>
            </a:extLst>
          </a:blip>
          <a:srcRect l="48534"/>
          <a:stretch>
            <a:fillRect/>
          </a:stretch>
        </p:blipFill>
        <p:spPr>
          <a:xfrm>
            <a:off x="0" y="0"/>
            <a:ext cx="370840" cy="6854190"/>
          </a:xfrm>
          <a:prstGeom prst="rect">
            <a:avLst/>
          </a:prstGeom>
          <a:effectLst>
            <a:outerShdw blurRad="50800" dist="38100" dir="2700000" algn="tl" rotWithShape="0">
              <a:prstClr val="black">
                <a:alpha val="40000"/>
              </a:prstClr>
            </a:outerShdw>
          </a:effectLst>
        </p:spPr>
      </p:pic>
      <p:sp>
        <p:nvSpPr>
          <p:cNvPr id="19" name="矩形 18"/>
          <p:cNvSpPr/>
          <p:nvPr/>
        </p:nvSpPr>
        <p:spPr>
          <a:xfrm>
            <a:off x="963930" y="2538095"/>
            <a:ext cx="5906135" cy="19380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1600" b="1" dirty="0"/>
              <a:t>📊</a:t>
            </a:r>
            <a:r>
              <a:rPr lang="en-US" altLang="en-US" sz="1600" b="1" dirty="0"/>
              <a:t>  Average ticket price: $617.60 (right-skewed — </a:t>
            </a:r>
            <a:endParaRPr lang="en-US" altLang="en-US" sz="1600" b="1" dirty="0"/>
          </a:p>
          <a:p>
            <a:pPr algn="l">
              <a:lnSpc>
                <a:spcPct val="150000"/>
              </a:lnSpc>
            </a:pPr>
            <a:r>
              <a:rPr lang="en-US" altLang="en-US" sz="1600" b="1" dirty="0"/>
              <a:t>a few expensive tickets pull the mean up)</a:t>
            </a:r>
            <a:endParaRPr lang="en-US" altLang="en-US" sz="1600" b="1" dirty="0"/>
          </a:p>
          <a:p>
            <a:pPr algn="l">
              <a:lnSpc>
                <a:spcPct val="150000"/>
              </a:lnSpc>
            </a:pPr>
            <a:r>
              <a:rPr lang="en-US" altLang="en-US" sz="1600" b="1" dirty="0"/>
              <a:t>✈ 66.9% of </a:t>
            </a:r>
            <a:r>
              <a:rPr lang="en-US" altLang="en-US" sz="1600" b="1" dirty="0"/>
              <a:t>flights arrived on time</a:t>
            </a:r>
            <a:endParaRPr lang="en-US" altLang="en-US" sz="1600" b="1" dirty="0"/>
          </a:p>
          <a:p>
            <a:pPr algn="l">
              <a:lnSpc>
                <a:spcPct val="150000"/>
              </a:lnSpc>
            </a:pPr>
            <a:r>
              <a:rPr lang="en-US" altLang="en-US" sz="1600" b="1" dirty="0"/>
              <a:t>⏱ Worst airline for delays: Southwest at 33.2 mins</a:t>
            </a:r>
            <a:endParaRPr lang="en-US" altLang="en-US" sz="1600" b="1" dirty="0"/>
          </a:p>
          <a:p>
            <a:pPr algn="l">
              <a:lnSpc>
                <a:spcPct val="150000"/>
              </a:lnSpc>
            </a:pPr>
            <a:r>
              <a:rPr lang="en-US" altLang="en-US" sz="1600" b="1" dirty="0"/>
              <a:t>Best: JetBlue at 17.8 mins</a:t>
            </a:r>
            <a:endParaRPr lang="en-US" altLang="en-US" sz="1600" b="1" dirty="0"/>
          </a:p>
        </p:txBody>
      </p:sp>
      <p:sp>
        <p:nvSpPr>
          <p:cNvPr id="20" name="矩形 19"/>
          <p:cNvSpPr/>
          <p:nvPr/>
        </p:nvSpPr>
        <p:spPr>
          <a:xfrm>
            <a:off x="4719580" y="552403"/>
            <a:ext cx="3284220" cy="58356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3200" b="1" u="sng" dirty="0"/>
              <a:t>Statistical Analysis</a:t>
            </a:r>
            <a:endParaRPr lang="en-US" altLang="en-US" sz="3200" b="1" u="sng" dirty="0"/>
          </a:p>
        </p:txBody>
      </p:sp>
      <p:sp>
        <p:nvSpPr>
          <p:cNvPr id="23" name="矩形 22"/>
          <p:cNvSpPr/>
          <p:nvPr/>
        </p:nvSpPr>
        <p:spPr>
          <a:xfrm>
            <a:off x="6688455" y="2538095"/>
            <a:ext cx="5041900" cy="230695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en-US" sz="1600" b="1" dirty="0"/>
              <a:t>Where are people flying — and how full are the planes?"</a:t>
            </a:r>
            <a:endParaRPr lang="en-US" altLang="en-US" sz="1600" b="1" dirty="0"/>
          </a:p>
          <a:p>
            <a:pPr algn="l">
              <a:lnSpc>
                <a:spcPct val="150000"/>
              </a:lnSpc>
            </a:pPr>
            <a:r>
              <a:rPr lang="en-US" altLang="en-US" sz="1600" b="1" dirty="0"/>
              <a:t>Busiest route: Chicago → Boston (7 flights)</a:t>
            </a:r>
            <a:endParaRPr lang="en-US" altLang="en-US" sz="1600" b="1" dirty="0"/>
          </a:p>
          <a:p>
            <a:pPr algn="l">
              <a:lnSpc>
                <a:spcPct val="150000"/>
              </a:lnSpc>
            </a:pPr>
            <a:r>
              <a:rPr lang="en-US" altLang="en-US" sz="1600" b="1" dirty="0"/>
              <a:t>Average occupancy: 62.33% — meaning nearly 4 in every 10 seats fly empty</a:t>
            </a:r>
            <a:endParaRPr lang="en-US" altLang="en-US" sz="1600" b="1" dirty="0"/>
          </a:p>
          <a:p>
            <a:pPr algn="l">
              <a:lnSpc>
                <a:spcPct val="150000"/>
              </a:lnSpc>
            </a:pPr>
            <a:r>
              <a:rPr lang="en-US" altLang="en-US" sz="1600" b="1" dirty="0"/>
              <a:t>Opportunity: dynamic pricing could significantly improve revenue</a:t>
            </a:r>
            <a:endParaRPr lang="en-US" altLang="en-US" sz="1600" b="1" dirty="0"/>
          </a:p>
        </p:txBody>
      </p:sp>
      <p:sp>
        <p:nvSpPr>
          <p:cNvPr id="24" name="矩形 23"/>
          <p:cNvSpPr/>
          <p:nvPr/>
        </p:nvSpPr>
        <p:spPr>
          <a:xfrm>
            <a:off x="7551519" y="2063068"/>
            <a:ext cx="3757930" cy="46037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400" b="1" dirty="0"/>
              <a:t>Busiest Routes &amp; Occupancy</a:t>
            </a:r>
            <a:endParaRPr lang="en-US" altLang="en-US" sz="2400" b="1" dirty="0"/>
          </a:p>
        </p:txBody>
      </p:sp>
      <p:sp>
        <p:nvSpPr>
          <p:cNvPr id="6" name="矩形 23"/>
          <p:cNvSpPr/>
          <p:nvPr/>
        </p:nvSpPr>
        <p:spPr>
          <a:xfrm>
            <a:off x="3649345" y="1304925"/>
            <a:ext cx="4354195" cy="666115"/>
          </a:xfrm>
          <a:prstGeom prst="rect">
            <a:avLst/>
          </a:prstGeom>
        </p:spPr>
        <p:txBody>
          <a:bodyPr wrap="non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en-US" sz="2400" b="1" u="sng" dirty="0">
                <a:sym typeface="+mn-ea"/>
              </a:rPr>
              <a:t>What does the data actually say?</a:t>
            </a:r>
            <a:endParaRPr lang="en-US" altLang="en-US" sz="2400" b="1" u="sng" dirty="0"/>
          </a:p>
          <a:p>
            <a:pPr algn="l">
              <a:lnSpc>
                <a:spcPct val="150000"/>
              </a:lnSpc>
            </a:pPr>
            <a:endParaRPr lang="en-US" altLang="en-US" sz="24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rotWithShape="1">
          <a:blip r:embed="rId1">
            <a:extLst>
              <a:ext uri="{28A0092B-C50C-407E-A947-70E740481C1C}">
                <a14:useLocalDpi xmlns:a14="http://schemas.microsoft.com/office/drawing/2010/main" val="0"/>
              </a:ext>
            </a:extLst>
          </a:blip>
          <a:srcRect l="48534"/>
          <a:stretch>
            <a:fillRect/>
          </a:stretch>
        </p:blipFill>
        <p:spPr>
          <a:xfrm>
            <a:off x="0" y="0"/>
            <a:ext cx="370840" cy="6854190"/>
          </a:xfrm>
          <a:prstGeom prst="rect">
            <a:avLst/>
          </a:prstGeom>
          <a:effectLst>
            <a:outerShdw blurRad="50800" dist="38100" dir="2700000" algn="tl" rotWithShape="0">
              <a:prstClr val="black">
                <a:alpha val="40000"/>
              </a:prstClr>
            </a:outerShdw>
          </a:effectLst>
        </p:spPr>
      </p:pic>
      <p:sp>
        <p:nvSpPr>
          <p:cNvPr id="19" name="矩形 18"/>
          <p:cNvSpPr/>
          <p:nvPr/>
        </p:nvSpPr>
        <p:spPr>
          <a:xfrm>
            <a:off x="1111250" y="1271270"/>
            <a:ext cx="2396490" cy="64516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en-US" sz="2400" b="1" u="sng" dirty="0"/>
              <a:t> Profit by Airline</a:t>
            </a:r>
            <a:endParaRPr lang="en-US" altLang="en-US" sz="1600" b="1" dirty="0"/>
          </a:p>
        </p:txBody>
      </p:sp>
      <p:sp>
        <p:nvSpPr>
          <p:cNvPr id="20" name="矩形 19"/>
          <p:cNvSpPr/>
          <p:nvPr/>
        </p:nvSpPr>
        <p:spPr>
          <a:xfrm>
            <a:off x="4719580" y="552403"/>
            <a:ext cx="3284220" cy="58356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3200" b="1" u="sng" dirty="0"/>
              <a:t>Statistical Analysis</a:t>
            </a:r>
            <a:endParaRPr lang="en-US" altLang="en-US" sz="3200" b="1" u="sng" dirty="0"/>
          </a:p>
        </p:txBody>
      </p:sp>
      <p:graphicFrame>
        <p:nvGraphicFramePr>
          <p:cNvPr id="2" name="Table 1"/>
          <p:cNvGraphicFramePr/>
          <p:nvPr/>
        </p:nvGraphicFramePr>
        <p:xfrm>
          <a:off x="1111250" y="2252345"/>
          <a:ext cx="5278755" cy="3060065"/>
        </p:xfrm>
        <a:graphic>
          <a:graphicData uri="http://schemas.openxmlformats.org/drawingml/2006/table">
            <a:tbl>
              <a:tblPr/>
              <a:tblGrid>
                <a:gridCol w="1807845"/>
                <a:gridCol w="1736090"/>
                <a:gridCol w="1734820"/>
              </a:tblGrid>
              <a:tr h="338455">
                <a:tc>
                  <a:txBody>
                    <a:bodyPr/>
                    <a:p>
                      <a:pPr algn="l" fontAlgn="b"/>
                      <a:r>
                        <a:rPr lang="en-US" altLang="zh-CN" sz="1100" b="1" i="0">
                          <a:solidFill>
                            <a:srgbClr val="FFFFFF"/>
                          </a:solidFill>
                          <a:latin typeface="Calibri" panose="020F0502020204030204"/>
                          <a:ea typeface="Calibri" panose="020F0502020204030204"/>
                        </a:rPr>
                        <a:t>Airline</a:t>
                      </a:r>
                      <a:endParaRPr lang="en-US" altLang="zh-CN" sz="1100" b="1" i="0">
                        <a:solidFill>
                          <a:srgbClr val="FFFFFF"/>
                        </a:solidFill>
                        <a:latin typeface="Calibri" panose="020F0502020204030204"/>
                        <a:ea typeface="Calibri" panose="020F0502020204030204"/>
                      </a:endParaRPr>
                    </a:p>
                  </a:txBody>
                  <a:tcPr marL="9842" marR="9842" marT="9842" marB="0" anchor="b" anchorCtr="0">
                    <a:lnL>
                      <a:noFill/>
                    </a:lnL>
                    <a:lnR w="6350" cap="flat" cmpd="sng">
                      <a:solidFill>
                        <a:srgbClr val="FFFFFF"/>
                      </a:solidFill>
                      <a:prstDash val="solid"/>
                      <a:headEnd type="none" w="med" len="med"/>
                      <a:tailEnd type="none" w="med" len="med"/>
                    </a:lnR>
                    <a:lnT>
                      <a:noFill/>
                    </a:lnT>
                    <a:lnB w="19050" cap="flat" cmpd="sng">
                      <a:solidFill>
                        <a:srgbClr val="FFFFFF"/>
                      </a:solidFill>
                      <a:prstDash val="solid"/>
                      <a:headEnd type="none" w="med" len="med"/>
                      <a:tailEnd type="none" w="med" len="med"/>
                    </a:lnB>
                    <a:solidFill>
                      <a:srgbClr val="4F81BD"/>
                    </a:solidFill>
                  </a:tcPr>
                </a:tc>
                <a:tc>
                  <a:txBody>
                    <a:bodyPr/>
                    <a:p>
                      <a:pPr algn="l" fontAlgn="b"/>
                      <a:r>
                        <a:rPr lang="en-US" altLang="zh-CN" sz="1100" b="1" i="0">
                          <a:solidFill>
                            <a:srgbClr val="FFFFFF"/>
                          </a:solidFill>
                          <a:latin typeface="Calibri" panose="020F0502020204030204"/>
                          <a:ea typeface="Calibri" panose="020F0502020204030204"/>
                        </a:rPr>
                        <a:t>Total Profit</a:t>
                      </a:r>
                      <a:endParaRPr lang="en-US" altLang="zh-CN" sz="1100" b="1" i="0">
                        <a:solidFill>
                          <a:srgbClr val="FFFFFF"/>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a:noFill/>
                    </a:lnT>
                    <a:lnB w="19050" cap="flat" cmpd="sng">
                      <a:solidFill>
                        <a:srgbClr val="FFFFFF"/>
                      </a:solidFill>
                      <a:prstDash val="solid"/>
                      <a:headEnd type="none" w="med" len="med"/>
                      <a:tailEnd type="none" w="med" len="med"/>
                    </a:lnB>
                    <a:solidFill>
                      <a:srgbClr val="4F81BD"/>
                    </a:solidFill>
                  </a:tcPr>
                </a:tc>
                <a:tc>
                  <a:txBody>
                    <a:bodyPr/>
                    <a:p>
                      <a:pPr algn="l" fontAlgn="b"/>
                      <a:r>
                        <a:rPr lang="en-US" altLang="zh-CN" sz="1100" b="1" i="0">
                          <a:solidFill>
                            <a:srgbClr val="FFFFFF"/>
                          </a:solidFill>
                          <a:latin typeface="Calibri" panose="020F0502020204030204"/>
                          <a:ea typeface="Calibri" panose="020F0502020204030204"/>
                        </a:rPr>
                        <a:t>Average Profit</a:t>
                      </a:r>
                      <a:endParaRPr lang="en-US" altLang="zh-CN" sz="1100" b="1" i="0">
                        <a:solidFill>
                          <a:srgbClr val="FFFFFF"/>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a:noFill/>
                    </a:lnR>
                    <a:lnT>
                      <a:noFill/>
                    </a:lnT>
                    <a:lnB w="19050" cap="flat" cmpd="sng">
                      <a:solidFill>
                        <a:srgbClr val="FFFFFF"/>
                      </a:solidFill>
                      <a:prstDash val="solid"/>
                      <a:headEnd type="none" w="med" len="med"/>
                      <a:tailEnd type="none" w="med" len="med"/>
                    </a:lnB>
                    <a:solidFill>
                      <a:srgbClr val="4F81BD"/>
                    </a:solidFill>
                  </a:tcPr>
                </a:tc>
              </a:tr>
              <a:tr h="337820">
                <a:tc>
                  <a:txBody>
                    <a:bodyPr/>
                    <a:p>
                      <a:pPr algn="l" fontAlgn="b"/>
                      <a:r>
                        <a:rPr lang="en-US" altLang="zh-CN" sz="1100" b="0" i="0">
                          <a:solidFill>
                            <a:srgbClr val="000000"/>
                          </a:solidFill>
                          <a:latin typeface="Calibri" panose="020F0502020204030204"/>
                          <a:ea typeface="Calibri" panose="020F0502020204030204"/>
                        </a:rPr>
                        <a:t>Delta</a:t>
                      </a:r>
                      <a:endParaRPr lang="en-US" altLang="zh-CN" sz="1100" b="0" i="0">
                        <a:solidFill>
                          <a:srgbClr val="000000"/>
                        </a:solidFill>
                        <a:latin typeface="Calibri" panose="020F0502020204030204"/>
                        <a:ea typeface="Calibri" panose="020F0502020204030204"/>
                      </a:endParaRPr>
                    </a:p>
                  </a:txBody>
                  <a:tcPr marL="9842" marR="9842" marT="9842" marB="0" anchor="b" anchorCtr="0">
                    <a:lnL>
                      <a:noFill/>
                    </a:lnL>
                    <a:lnR w="6350" cap="flat" cmpd="sng">
                      <a:solidFill>
                        <a:srgbClr val="FFFFFF"/>
                      </a:solidFill>
                      <a:prstDash val="solid"/>
                      <a:headEnd type="none" w="med" len="med"/>
                      <a:tailEnd type="none" w="med" len="med"/>
                    </a:ln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B8CCE4"/>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3,416,073.64</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B8CCE4"/>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$57,899.55</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a:noFill/>
                    </a:ln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B8CCE4"/>
                    </a:solidFill>
                  </a:tcPr>
                </a:tc>
              </a:tr>
              <a:tr h="338455">
                <a:tc>
                  <a:txBody>
                    <a:bodyPr/>
                    <a:p>
                      <a:pPr algn="l" fontAlgn="b"/>
                      <a:r>
                        <a:rPr lang="en-US" altLang="zh-CN" sz="1100" b="0" i="0">
                          <a:solidFill>
                            <a:srgbClr val="000000"/>
                          </a:solidFill>
                          <a:latin typeface="Calibri" panose="020F0502020204030204"/>
                          <a:ea typeface="Calibri" panose="020F0502020204030204"/>
                        </a:rPr>
                        <a:t>Southwest</a:t>
                      </a:r>
                      <a:endParaRPr lang="en-US" altLang="zh-CN" sz="1100" b="0" i="0">
                        <a:solidFill>
                          <a:srgbClr val="000000"/>
                        </a:solidFill>
                        <a:latin typeface="Calibri" panose="020F0502020204030204"/>
                        <a:ea typeface="Calibri" panose="020F0502020204030204"/>
                      </a:endParaRPr>
                    </a:p>
                  </a:txBody>
                  <a:tcPr marL="9842" marR="9842" marT="9842" marB="0" anchor="b"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DCE6F1"/>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4,169,184.78</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DCE6F1"/>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$60,422.97</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DCE6F1"/>
                    </a:solidFill>
                  </a:tcPr>
                </a:tc>
              </a:tr>
              <a:tr h="337185">
                <a:tc>
                  <a:txBody>
                    <a:bodyPr/>
                    <a:p>
                      <a:pPr algn="l" fontAlgn="b"/>
                      <a:r>
                        <a:rPr lang="en-US" altLang="zh-CN" sz="1100" b="0" i="0">
                          <a:solidFill>
                            <a:srgbClr val="000000"/>
                          </a:solidFill>
                          <a:latin typeface="Calibri" panose="020F0502020204030204"/>
                          <a:ea typeface="Calibri" panose="020F0502020204030204"/>
                        </a:rPr>
                        <a:t>Alaska</a:t>
                      </a:r>
                      <a:endParaRPr lang="en-US" altLang="zh-CN" sz="1100" b="0" i="0">
                        <a:solidFill>
                          <a:srgbClr val="000000"/>
                        </a:solidFill>
                        <a:latin typeface="Calibri" panose="020F0502020204030204"/>
                        <a:ea typeface="Calibri" panose="020F0502020204030204"/>
                      </a:endParaRPr>
                    </a:p>
                  </a:txBody>
                  <a:tcPr marL="9842" marR="9842" marT="9842" marB="0" anchor="b"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B8CCE4"/>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3,712,098.02</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B8CCE4"/>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$60,854.07</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B8CCE4"/>
                    </a:solidFill>
                  </a:tcPr>
                </a:tc>
              </a:tr>
              <a:tr h="339090">
                <a:tc>
                  <a:txBody>
                    <a:bodyPr/>
                    <a:p>
                      <a:pPr algn="l" fontAlgn="b"/>
                      <a:r>
                        <a:rPr lang="en-US" altLang="zh-CN" sz="1100" b="0" i="0">
                          <a:solidFill>
                            <a:srgbClr val="000000"/>
                          </a:solidFill>
                          <a:latin typeface="Calibri" panose="020F0502020204030204"/>
                          <a:ea typeface="Calibri" panose="020F0502020204030204"/>
                        </a:rPr>
                        <a:t>American</a:t>
                      </a:r>
                      <a:endParaRPr lang="en-US" altLang="zh-CN" sz="1100" b="0" i="0">
                        <a:solidFill>
                          <a:srgbClr val="000000"/>
                        </a:solidFill>
                        <a:latin typeface="Calibri" panose="020F0502020204030204"/>
                        <a:ea typeface="Calibri" panose="020F0502020204030204"/>
                      </a:endParaRPr>
                    </a:p>
                  </a:txBody>
                  <a:tcPr marL="9842" marR="9842" marT="9842" marB="0" anchor="b"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DCE6F1"/>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3,141,979.00</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DCE6F1"/>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$46,895.21</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DCE6F1"/>
                    </a:solidFill>
                  </a:tcPr>
                </a:tc>
              </a:tr>
              <a:tr h="337185">
                <a:tc>
                  <a:txBody>
                    <a:bodyPr/>
                    <a:p>
                      <a:pPr algn="l" fontAlgn="b"/>
                      <a:r>
                        <a:rPr lang="en-US" altLang="zh-CN" sz="1100" b="0" i="0">
                          <a:solidFill>
                            <a:srgbClr val="000000"/>
                          </a:solidFill>
                          <a:latin typeface="Calibri" panose="020F0502020204030204"/>
                          <a:ea typeface="Calibri" panose="020F0502020204030204"/>
                        </a:rPr>
                        <a:t>Spirit</a:t>
                      </a:r>
                      <a:endParaRPr lang="en-US" altLang="zh-CN" sz="1100" b="0" i="0">
                        <a:solidFill>
                          <a:srgbClr val="000000"/>
                        </a:solidFill>
                        <a:latin typeface="Calibri" panose="020F0502020204030204"/>
                        <a:ea typeface="Calibri" panose="020F0502020204030204"/>
                      </a:endParaRPr>
                    </a:p>
                  </a:txBody>
                  <a:tcPr marL="9842" marR="9842" marT="9842" marB="0" anchor="b"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B8CCE4"/>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4,111,871.52</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B8CCE4"/>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$61,371.22</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B8CCE4"/>
                    </a:solidFill>
                  </a:tcPr>
                </a:tc>
              </a:tr>
              <a:tr h="339090">
                <a:tc>
                  <a:txBody>
                    <a:bodyPr/>
                    <a:p>
                      <a:pPr algn="l" fontAlgn="b"/>
                      <a:r>
                        <a:rPr lang="en-US" altLang="zh-CN" sz="1100" b="0" i="0">
                          <a:solidFill>
                            <a:srgbClr val="000000"/>
                          </a:solidFill>
                          <a:latin typeface="Calibri" panose="020F0502020204030204"/>
                          <a:ea typeface="Calibri" panose="020F0502020204030204"/>
                        </a:rPr>
                        <a:t>United</a:t>
                      </a:r>
                      <a:endParaRPr lang="en-US" altLang="zh-CN" sz="1100" b="0" i="0">
                        <a:solidFill>
                          <a:srgbClr val="000000"/>
                        </a:solidFill>
                        <a:latin typeface="Calibri" panose="020F0502020204030204"/>
                        <a:ea typeface="Calibri" panose="020F0502020204030204"/>
                      </a:endParaRPr>
                    </a:p>
                  </a:txBody>
                  <a:tcPr marL="9842" marR="9842" marT="9842" marB="0" anchor="b"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DCE6F1"/>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3,426,879.11</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DCE6F1"/>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$63,460.72</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DCE6F1"/>
                    </a:solidFill>
                  </a:tcPr>
                </a:tc>
              </a:tr>
              <a:tr h="355600">
                <a:tc>
                  <a:txBody>
                    <a:bodyPr/>
                    <a:p>
                      <a:pPr algn="l" fontAlgn="b"/>
                      <a:r>
                        <a:rPr lang="en-US" altLang="zh-CN" sz="1100" b="0" i="0">
                          <a:solidFill>
                            <a:srgbClr val="000000"/>
                          </a:solidFill>
                          <a:latin typeface="Calibri" panose="020F0502020204030204"/>
                          <a:ea typeface="Calibri" panose="020F0502020204030204"/>
                        </a:rPr>
                        <a:t>Frontier</a:t>
                      </a:r>
                      <a:endParaRPr lang="en-US" altLang="zh-CN" sz="1100" b="0" i="0">
                        <a:solidFill>
                          <a:srgbClr val="000000"/>
                        </a:solidFill>
                        <a:latin typeface="Calibri" panose="020F0502020204030204"/>
                        <a:ea typeface="Calibri" panose="020F0502020204030204"/>
                      </a:endParaRPr>
                    </a:p>
                  </a:txBody>
                  <a:tcPr marL="9842" marR="9842" marT="9842" marB="0" anchor="b"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B8CCE4"/>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3,299,355.59</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B8CCE4"/>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$51,552.43</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solidFill>
                      <a:srgbClr val="B8CCE4"/>
                    </a:solidFill>
                  </a:tcPr>
                </a:tc>
              </a:tr>
              <a:tr h="337185">
                <a:tc>
                  <a:txBody>
                    <a:bodyPr/>
                    <a:p>
                      <a:pPr algn="l" fontAlgn="b"/>
                      <a:r>
                        <a:rPr lang="en-US" altLang="zh-CN" sz="1100" b="0" i="0">
                          <a:solidFill>
                            <a:srgbClr val="000000"/>
                          </a:solidFill>
                          <a:latin typeface="Calibri" panose="020F0502020204030204"/>
                          <a:ea typeface="Calibri" panose="020F0502020204030204"/>
                        </a:rPr>
                        <a:t>JetBlue</a:t>
                      </a:r>
                      <a:endParaRPr lang="en-US" altLang="zh-CN" sz="1100" b="0" i="0">
                        <a:solidFill>
                          <a:srgbClr val="000000"/>
                        </a:solidFill>
                        <a:latin typeface="Calibri" panose="020F0502020204030204"/>
                        <a:ea typeface="Calibri" panose="020F0502020204030204"/>
                      </a:endParaRPr>
                    </a:p>
                  </a:txBody>
                  <a:tcPr marL="9842" marR="9842" marT="9842" marB="0" anchor="b"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a:noFill/>
                    </a:lnB>
                    <a:solidFill>
                      <a:srgbClr val="DCE6F1"/>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2,910,867.21</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a:noFill/>
                    </a:lnB>
                    <a:solidFill>
                      <a:srgbClr val="DCE6F1"/>
                    </a:solidFill>
                  </a:tcPr>
                </a:tc>
                <a:tc>
                  <a:txBody>
                    <a:bodyPr/>
                    <a:p>
                      <a:pPr algn="r" fontAlgn="b"/>
                      <a:r>
                        <a:rPr lang="en-US" altLang="zh-CN" sz="1100" b="0" i="0">
                          <a:solidFill>
                            <a:srgbClr val="000000"/>
                          </a:solidFill>
                          <a:latin typeface="Calibri" panose="020F0502020204030204"/>
                          <a:ea typeface="Calibri" panose="020F0502020204030204"/>
                        </a:rPr>
                        <a:t> </a:t>
                      </a:r>
                      <a:r>
                        <a:rPr lang="en-US" altLang="zh-CN" sz="1100" b="0" i="0">
                          <a:solidFill>
                            <a:srgbClr val="000000"/>
                          </a:solidFill>
                          <a:latin typeface="Calibri" panose="020F0502020204030204"/>
                          <a:ea typeface="Calibri" panose="020F0502020204030204"/>
                        </a:rPr>
                        <a:t>$49,336.73</a:t>
                      </a:r>
                      <a:r>
                        <a:rPr lang="en-US" altLang="zh-CN" sz="1100" b="0" i="0">
                          <a:solidFill>
                            <a:srgbClr val="000000"/>
                          </a:solidFill>
                          <a:latin typeface="Calibri" panose="020F0502020204030204"/>
                          <a:ea typeface="Calibri" panose="020F0502020204030204"/>
                        </a:rPr>
                        <a:t> </a:t>
                      </a:r>
                      <a:endParaRPr lang="en-US" altLang="zh-CN" sz="1100" b="0" i="0">
                        <a:solidFill>
                          <a:srgbClr val="000000"/>
                        </a:solidFill>
                        <a:latin typeface="Calibri" panose="020F0502020204030204"/>
                        <a:ea typeface="Calibri" panose="020F0502020204030204"/>
                      </a:endParaRPr>
                    </a:p>
                  </a:txBody>
                  <a:tcPr marL="9842" marR="9842" marT="9842" marB="0" anchor="b" anchorCtr="0">
                    <a:lnL w="6350" cap="flat" cmpd="sng">
                      <a:solidFill>
                        <a:srgbClr val="FFFFFF"/>
                      </a:solidFill>
                      <a:prstDash val="solid"/>
                      <a:headEnd type="none" w="med" len="med"/>
                      <a:tailEnd type="none" w="med" len="med"/>
                    </a:lnL>
                    <a:lnR>
                      <a:noFill/>
                    </a:lnR>
                    <a:lnT w="6350" cap="flat" cmpd="sng">
                      <a:solidFill>
                        <a:srgbClr val="FFFFFF"/>
                      </a:solidFill>
                      <a:prstDash val="solid"/>
                      <a:headEnd type="none" w="med" len="med"/>
                      <a:tailEnd type="none" w="med" len="med"/>
                    </a:lnT>
                    <a:lnB>
                      <a:noFill/>
                    </a:lnB>
                    <a:solidFill>
                      <a:srgbClr val="DCE6F1"/>
                    </a:solidFill>
                  </a:tcPr>
                </a:tc>
              </a:tr>
            </a:tbl>
          </a:graphicData>
        </a:graphic>
      </p:graphicFrame>
      <p:sp>
        <p:nvSpPr>
          <p:cNvPr id="3" name="矩形 22"/>
          <p:cNvSpPr/>
          <p:nvPr/>
        </p:nvSpPr>
        <p:spPr>
          <a:xfrm>
            <a:off x="6776720" y="2252345"/>
            <a:ext cx="4622800" cy="3101340"/>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en-US" sz="1600" b="1" dirty="0"/>
              <a:t>More delays does not mean less money.</a:t>
            </a:r>
            <a:endParaRPr lang="en-US" altLang="en-US" sz="1600" b="1" dirty="0"/>
          </a:p>
          <a:p>
            <a:pPr algn="l">
              <a:lnSpc>
                <a:spcPct val="150000"/>
              </a:lnSpc>
            </a:pPr>
            <a:r>
              <a:rPr lang="en-US" altLang="en-US" sz="1600" b="1" dirty="0">
                <a:highlight>
                  <a:srgbClr val="FFFF00"/>
                </a:highlight>
              </a:rPr>
              <a:t>Southwest</a:t>
            </a:r>
            <a:r>
              <a:rPr lang="en-US" altLang="en-US" sz="1600" b="1" dirty="0"/>
              <a:t>: highest total profit $4,169,184 but worst average delay at 33.2 mins</a:t>
            </a:r>
            <a:endParaRPr lang="en-US" altLang="en-US" sz="1600" b="1" dirty="0"/>
          </a:p>
          <a:p>
            <a:pPr algn="l">
              <a:lnSpc>
                <a:spcPct val="150000"/>
              </a:lnSpc>
            </a:pPr>
            <a:r>
              <a:rPr lang="en-US" altLang="en-US" sz="1600" b="1" dirty="0">
                <a:highlight>
                  <a:srgbClr val="FFFF00"/>
                </a:highlight>
              </a:rPr>
              <a:t>JetBlue: </a:t>
            </a:r>
            <a:r>
              <a:rPr lang="en-US" altLang="en-US" sz="1600" b="1" dirty="0"/>
              <a:t>best punctuality at 17.8 mins but lowest total profit $2,910,867</a:t>
            </a:r>
            <a:endParaRPr lang="en-US" altLang="en-US" sz="1600" b="1" dirty="0"/>
          </a:p>
          <a:p>
            <a:pPr algn="l">
              <a:lnSpc>
                <a:spcPct val="150000"/>
              </a:lnSpc>
            </a:pPr>
            <a:r>
              <a:rPr lang="en-US" altLang="en-US" sz="1600" b="1" dirty="0">
                <a:highlight>
                  <a:srgbClr val="FFFF00"/>
                </a:highlight>
              </a:rPr>
              <a:t>United</a:t>
            </a:r>
            <a:r>
              <a:rPr lang="en-US" altLang="en-US" sz="1600" b="1" dirty="0"/>
              <a:t>: highest average profit per flight at $63,460 despite mid-table total profit</a:t>
            </a:r>
            <a:endParaRPr lang="en-US" altLang="en-US" sz="16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0" y="0"/>
            <a:ext cx="12192000" cy="6858000"/>
          </a:xfrm>
          <a:prstGeom prst="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857500" y="190500"/>
            <a:ext cx="6477000" cy="6477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方正兰亭超细黑简体"/>
              <a:cs typeface="+mn-cs"/>
            </a:endParaRPr>
          </a:p>
        </p:txBody>
      </p:sp>
      <p:sp>
        <p:nvSpPr>
          <p:cNvPr id="32" name="left-quotes_39368"/>
          <p:cNvSpPr>
            <a:spLocks noChangeAspect="1"/>
          </p:cNvSpPr>
          <p:nvPr/>
        </p:nvSpPr>
        <p:spPr bwMode="auto">
          <a:xfrm>
            <a:off x="4115249" y="1671126"/>
            <a:ext cx="470370" cy="456203"/>
          </a:xfrm>
          <a:custGeom>
            <a:avLst/>
            <a:gdLst>
              <a:gd name="T0" fmla="*/ 108 w 314"/>
              <a:gd name="T1" fmla="*/ 0 h 305"/>
              <a:gd name="T2" fmla="*/ 144 w 314"/>
              <a:gd name="T3" fmla="*/ 2 h 305"/>
              <a:gd name="T4" fmla="*/ 144 w 314"/>
              <a:gd name="T5" fmla="*/ 63 h 305"/>
              <a:gd name="T6" fmla="*/ 70 w 314"/>
              <a:gd name="T7" fmla="*/ 132 h 305"/>
              <a:gd name="T8" fmla="*/ 70 w 314"/>
              <a:gd name="T9" fmla="*/ 159 h 305"/>
              <a:gd name="T10" fmla="*/ 122 w 314"/>
              <a:gd name="T11" fmla="*/ 159 h 305"/>
              <a:gd name="T12" fmla="*/ 122 w 314"/>
              <a:gd name="T13" fmla="*/ 305 h 305"/>
              <a:gd name="T14" fmla="*/ 0 w 314"/>
              <a:gd name="T15" fmla="*/ 305 h 305"/>
              <a:gd name="T16" fmla="*/ 0 w 314"/>
              <a:gd name="T17" fmla="*/ 148 h 305"/>
              <a:gd name="T18" fmla="*/ 108 w 314"/>
              <a:gd name="T19" fmla="*/ 0 h 305"/>
              <a:gd name="T20" fmla="*/ 314 w 314"/>
              <a:gd name="T21" fmla="*/ 63 h 305"/>
              <a:gd name="T22" fmla="*/ 314 w 314"/>
              <a:gd name="T23" fmla="*/ 2 h 305"/>
              <a:gd name="T24" fmla="*/ 284 w 314"/>
              <a:gd name="T25" fmla="*/ 0 h 305"/>
              <a:gd name="T26" fmla="*/ 176 w 314"/>
              <a:gd name="T27" fmla="*/ 148 h 305"/>
              <a:gd name="T28" fmla="*/ 176 w 314"/>
              <a:gd name="T29" fmla="*/ 305 h 305"/>
              <a:gd name="T30" fmla="*/ 298 w 314"/>
              <a:gd name="T31" fmla="*/ 305 h 305"/>
              <a:gd name="T32" fmla="*/ 298 w 314"/>
              <a:gd name="T33" fmla="*/ 160 h 305"/>
              <a:gd name="T34" fmla="*/ 246 w 314"/>
              <a:gd name="T35" fmla="*/ 160 h 305"/>
              <a:gd name="T36" fmla="*/ 246 w 314"/>
              <a:gd name="T37" fmla="*/ 132 h 305"/>
              <a:gd name="T38" fmla="*/ 314 w 314"/>
              <a:gd name="T39" fmla="*/ 63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4" h="305">
                <a:moveTo>
                  <a:pt x="108" y="0"/>
                </a:moveTo>
                <a:cubicBezTo>
                  <a:pt x="116" y="0"/>
                  <a:pt x="128" y="1"/>
                  <a:pt x="144" y="2"/>
                </a:cubicBezTo>
                <a:lnTo>
                  <a:pt x="144" y="63"/>
                </a:lnTo>
                <a:cubicBezTo>
                  <a:pt x="94" y="63"/>
                  <a:pt x="70" y="86"/>
                  <a:pt x="70" y="132"/>
                </a:cubicBezTo>
                <a:lnTo>
                  <a:pt x="70" y="159"/>
                </a:lnTo>
                <a:lnTo>
                  <a:pt x="122" y="159"/>
                </a:lnTo>
                <a:lnTo>
                  <a:pt x="122" y="305"/>
                </a:lnTo>
                <a:lnTo>
                  <a:pt x="0" y="305"/>
                </a:lnTo>
                <a:lnTo>
                  <a:pt x="0" y="148"/>
                </a:lnTo>
                <a:cubicBezTo>
                  <a:pt x="0" y="49"/>
                  <a:pt x="36" y="0"/>
                  <a:pt x="108" y="0"/>
                </a:cubicBezTo>
                <a:close/>
                <a:moveTo>
                  <a:pt x="314" y="63"/>
                </a:moveTo>
                <a:lnTo>
                  <a:pt x="314" y="2"/>
                </a:lnTo>
                <a:cubicBezTo>
                  <a:pt x="299" y="1"/>
                  <a:pt x="289" y="0"/>
                  <a:pt x="284" y="0"/>
                </a:cubicBezTo>
                <a:cubicBezTo>
                  <a:pt x="212" y="0"/>
                  <a:pt x="176" y="50"/>
                  <a:pt x="176" y="148"/>
                </a:cubicBezTo>
                <a:lnTo>
                  <a:pt x="176" y="305"/>
                </a:lnTo>
                <a:lnTo>
                  <a:pt x="298" y="305"/>
                </a:lnTo>
                <a:lnTo>
                  <a:pt x="298" y="160"/>
                </a:lnTo>
                <a:lnTo>
                  <a:pt x="246" y="160"/>
                </a:lnTo>
                <a:lnTo>
                  <a:pt x="246" y="132"/>
                </a:lnTo>
                <a:cubicBezTo>
                  <a:pt x="245" y="89"/>
                  <a:pt x="268" y="66"/>
                  <a:pt x="314" y="63"/>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椭圆 32"/>
          <p:cNvSpPr/>
          <p:nvPr/>
        </p:nvSpPr>
        <p:spPr>
          <a:xfrm>
            <a:off x="1392684" y="1955306"/>
            <a:ext cx="2929632" cy="2947387"/>
          </a:xfrm>
          <a:prstGeom prst="ellipse">
            <a:avLst/>
          </a:prstGeom>
          <a:blipFill dpi="0" rotWithShape="1">
            <a:blip r:embed="rId1">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5219292" y="1285299"/>
            <a:ext cx="2896870" cy="46037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400" b="1" u="sng" dirty="0"/>
              <a:t>Pivot Table Highlights</a:t>
            </a:r>
            <a:endParaRPr lang="en-US" altLang="en-US" sz="2400" b="1" u="sng" dirty="0"/>
          </a:p>
        </p:txBody>
      </p:sp>
      <p:sp>
        <p:nvSpPr>
          <p:cNvPr id="35" name="矩形 34"/>
          <p:cNvSpPr/>
          <p:nvPr/>
        </p:nvSpPr>
        <p:spPr>
          <a:xfrm>
            <a:off x="5056732" y="2839441"/>
            <a:ext cx="4903569" cy="23996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2000" b="1" dirty="0"/>
              <a:t>American has the most cancellations (6)</a:t>
            </a:r>
            <a:endParaRPr lang="en-US" altLang="en-US" sz="2000" b="1" dirty="0"/>
          </a:p>
          <a:p>
            <a:pPr>
              <a:lnSpc>
                <a:spcPct val="150000"/>
              </a:lnSpc>
            </a:pPr>
            <a:r>
              <a:rPr lang="en-US" altLang="en-US" sz="2000" b="1" dirty="0"/>
              <a:t>San Francisco has the highest average departure delay (45.5 mins)</a:t>
            </a:r>
            <a:endParaRPr lang="en-US" altLang="en-US" sz="2000" b="1" dirty="0"/>
          </a:p>
          <a:p>
            <a:pPr>
              <a:lnSpc>
                <a:spcPct val="150000"/>
              </a:lnSpc>
            </a:pPr>
            <a:r>
              <a:rPr lang="en-US" altLang="en-US" sz="2000" b="1" dirty="0"/>
              <a:t>Credit card payments generate the most profit $8.27M</a:t>
            </a:r>
            <a:endParaRPr lang="en-US" altLang="en-US" sz="2000" b="1" dirty="0"/>
          </a:p>
        </p:txBody>
      </p:sp>
      <p:sp>
        <p:nvSpPr>
          <p:cNvPr id="36" name="矩形 35"/>
          <p:cNvSpPr/>
          <p:nvPr/>
        </p:nvSpPr>
        <p:spPr>
          <a:xfrm>
            <a:off x="5056732" y="1955140"/>
            <a:ext cx="4979670" cy="46037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400" b="1" u="sng" dirty="0"/>
              <a:t>Patterns the raw data could not show.</a:t>
            </a:r>
            <a:endParaRPr lang="en-US" altLang="en-US" sz="2400" b="1" u="sng"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3865" y="835660"/>
            <a:ext cx="11304270" cy="5673725"/>
          </a:xfrm>
          <a:prstGeom prst="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345" y="363855"/>
            <a:ext cx="437515" cy="6339205"/>
          </a:xfrm>
          <a:prstGeom prst="rect">
            <a:avLst/>
          </a:prstGeom>
          <a:effectLst>
            <a:outerShdw blurRad="50800" dist="38100" dir="2700000" algn="tl" rotWithShape="0">
              <a:prstClr val="black">
                <a:alpha val="40000"/>
              </a:prstClr>
            </a:outerShdw>
          </a:effectLst>
        </p:spPr>
      </p:pic>
      <p:sp>
        <p:nvSpPr>
          <p:cNvPr id="4" name="矩形 3"/>
          <p:cNvSpPr/>
          <p:nvPr/>
        </p:nvSpPr>
        <p:spPr>
          <a:xfrm>
            <a:off x="10152203" y="1986451"/>
            <a:ext cx="1811045" cy="461639"/>
          </a:xfrm>
          <a:prstGeom prst="rect">
            <a:avLst/>
          </a:prstGeom>
          <a:solidFill>
            <a:srgbClr val="ABE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391196" y="1001273"/>
            <a:ext cx="6365240" cy="52197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800" b="1" dirty="0"/>
              <a:t>Are passengers getting what they pay for?</a:t>
            </a:r>
            <a:endParaRPr lang="en-US" altLang="en-US" sz="2800" b="1" dirty="0"/>
          </a:p>
        </p:txBody>
      </p:sp>
      <p:sp>
        <p:nvSpPr>
          <p:cNvPr id="8" name="矩形 7"/>
          <p:cNvSpPr/>
          <p:nvPr/>
        </p:nvSpPr>
        <p:spPr>
          <a:xfrm>
            <a:off x="1566159" y="4827763"/>
            <a:ext cx="4927957" cy="119888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600" b="1" dirty="0"/>
              <a:t>67.3% On-Time | 28.2% Delayed | 4.5% Cancelled</a:t>
            </a:r>
            <a:endParaRPr lang="en-US" altLang="en-US" sz="1600" b="1" dirty="0"/>
          </a:p>
          <a:p>
            <a:pPr>
              <a:lnSpc>
                <a:spcPct val="150000"/>
              </a:lnSpc>
            </a:pPr>
            <a:r>
              <a:rPr lang="en-US" altLang="en-US" sz="1600" b="1" dirty="0"/>
              <a:t>Over 1 in 4 flights delayed, signals operational inefficiencies</a:t>
            </a:r>
            <a:endParaRPr lang="en-US" altLang="en-US" sz="1600" b="1" dirty="0"/>
          </a:p>
        </p:txBody>
      </p:sp>
      <p:graphicFrame>
        <p:nvGraphicFramePr>
          <p:cNvPr id="5" name="Chart 4"/>
          <p:cNvGraphicFramePr/>
          <p:nvPr/>
        </p:nvGraphicFramePr>
        <p:xfrm>
          <a:off x="1565910" y="1663700"/>
          <a:ext cx="4826000" cy="27432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9" name="Chart 8"/>
          <p:cNvGraphicFramePr/>
          <p:nvPr/>
        </p:nvGraphicFramePr>
        <p:xfrm>
          <a:off x="6664960" y="1804035"/>
          <a:ext cx="4826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7"/>
          <p:cNvSpPr/>
          <p:nvPr/>
        </p:nvSpPr>
        <p:spPr>
          <a:xfrm>
            <a:off x="6665209" y="4827763"/>
            <a:ext cx="4927957" cy="156845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600" b="1" dirty="0"/>
              <a:t>First Class: $634.11 | Business: $624.40 | Economy: $586.99</a:t>
            </a:r>
            <a:endParaRPr lang="en-US" altLang="en-US" sz="1600" b="1" dirty="0"/>
          </a:p>
          <a:p>
            <a:pPr>
              <a:lnSpc>
                <a:spcPct val="150000"/>
              </a:lnSpc>
            </a:pPr>
            <a:r>
              <a:rPr lang="en-US" altLang="en-US" sz="1600" b="1" dirty="0"/>
              <a:t>Only a $9.71 gap between Business and First Class, passengers may not see enough value to upgrade</a:t>
            </a:r>
            <a:endParaRPr lang="en-US" altLang="en-US" sz="16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3865" y="835660"/>
            <a:ext cx="11304270" cy="5930265"/>
          </a:xfrm>
          <a:prstGeom prst="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345" y="363855"/>
            <a:ext cx="437515" cy="6339205"/>
          </a:xfrm>
          <a:prstGeom prst="rect">
            <a:avLst/>
          </a:prstGeom>
          <a:effectLst>
            <a:outerShdw blurRad="50800" dist="38100" dir="2700000" algn="tl" rotWithShape="0">
              <a:prstClr val="black">
                <a:alpha val="40000"/>
              </a:prstClr>
            </a:outerShdw>
          </a:effectLst>
        </p:spPr>
      </p:pic>
      <p:sp>
        <p:nvSpPr>
          <p:cNvPr id="4" name="矩形 3"/>
          <p:cNvSpPr/>
          <p:nvPr/>
        </p:nvSpPr>
        <p:spPr>
          <a:xfrm>
            <a:off x="10152203" y="1986451"/>
            <a:ext cx="1811045" cy="461639"/>
          </a:xfrm>
          <a:prstGeom prst="rect">
            <a:avLst/>
          </a:prstGeom>
          <a:solidFill>
            <a:srgbClr val="ABE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2890181" y="1075568"/>
            <a:ext cx="7112635" cy="52197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800" b="1" dirty="0"/>
              <a:t>When do flights move, and when do they stall?</a:t>
            </a:r>
            <a:endParaRPr lang="en-US" altLang="en-US" sz="2800" b="1" dirty="0"/>
          </a:p>
        </p:txBody>
      </p:sp>
      <p:sp>
        <p:nvSpPr>
          <p:cNvPr id="8" name="矩形 7"/>
          <p:cNvSpPr/>
          <p:nvPr/>
        </p:nvSpPr>
        <p:spPr>
          <a:xfrm>
            <a:off x="1514724" y="4827763"/>
            <a:ext cx="4927957" cy="170688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400" b="1" dirty="0"/>
              <a:t>Fluctuates between 7 and 21 flights per month , no growth trend</a:t>
            </a:r>
            <a:endParaRPr lang="en-US" altLang="en-US" sz="1400" b="1" dirty="0"/>
          </a:p>
          <a:p>
            <a:pPr>
              <a:lnSpc>
                <a:spcPct val="150000"/>
              </a:lnSpc>
            </a:pPr>
            <a:r>
              <a:rPr lang="en-US" altLang="en-US" sz="1400" b="1" dirty="0"/>
              <a:t>Peak: July 2022 &amp; May 2024 (21 flights) | Lowest: April 2023 (7 flights)</a:t>
            </a:r>
            <a:endParaRPr lang="en-US" altLang="en-US" sz="1400" b="1" dirty="0"/>
          </a:p>
          <a:p>
            <a:pPr>
              <a:lnSpc>
                <a:spcPct val="150000"/>
              </a:lnSpc>
            </a:pPr>
            <a:r>
              <a:rPr lang="en-US" altLang="en-US" sz="1400" b="1" dirty="0"/>
              <a:t>Suggests seasonal demand dips or operational disruptions</a:t>
            </a:r>
            <a:endParaRPr lang="en-US" altLang="en-US" sz="1400" b="1" dirty="0"/>
          </a:p>
        </p:txBody>
      </p:sp>
      <p:sp>
        <p:nvSpPr>
          <p:cNvPr id="10" name="矩形 7"/>
          <p:cNvSpPr/>
          <p:nvPr/>
        </p:nvSpPr>
        <p:spPr>
          <a:xfrm>
            <a:off x="6664574" y="4753468"/>
            <a:ext cx="4927957" cy="19380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600" b="1" dirty="0"/>
              <a:t>73.4% of flights (367/500) have zero delay</a:t>
            </a:r>
            <a:endParaRPr lang="en-US" altLang="en-US" sz="1600" b="1" dirty="0"/>
          </a:p>
          <a:p>
            <a:pPr>
              <a:lnSpc>
                <a:spcPct val="150000"/>
              </a:lnSpc>
            </a:pPr>
            <a:r>
              <a:rPr lang="en-US" altLang="en-US" sz="1600" b="1" dirty="0"/>
              <a:t>When delays happen, they hit hard, 151–180 min range (24 flights) nearly as common as 1–30 min (15 flights)</a:t>
            </a:r>
            <a:endParaRPr lang="en-US" altLang="en-US" sz="1600" b="1" dirty="0"/>
          </a:p>
          <a:p>
            <a:pPr>
              <a:lnSpc>
                <a:spcPct val="150000"/>
              </a:lnSpc>
            </a:pPr>
            <a:r>
              <a:rPr lang="en-US" altLang="en-US" sz="1600" b="1" dirty="0"/>
              <a:t>Short delays are actually rarer than long ones,  worth investigating</a:t>
            </a:r>
            <a:endParaRPr lang="en-US" altLang="en-US" sz="1600" b="1" dirty="0"/>
          </a:p>
        </p:txBody>
      </p:sp>
      <p:graphicFrame>
        <p:nvGraphicFramePr>
          <p:cNvPr id="6" name="Chart 5"/>
          <p:cNvGraphicFramePr/>
          <p:nvPr/>
        </p:nvGraphicFramePr>
        <p:xfrm>
          <a:off x="1668145" y="1804035"/>
          <a:ext cx="4826000" cy="27432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1" name="Chart 10"/>
          <p:cNvGraphicFramePr/>
          <p:nvPr/>
        </p:nvGraphicFramePr>
        <p:xfrm>
          <a:off x="6664960" y="1804035"/>
          <a:ext cx="4826000" cy="27432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3865" y="835660"/>
            <a:ext cx="11304270" cy="5930265"/>
          </a:xfrm>
          <a:prstGeom prst="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345" y="363855"/>
            <a:ext cx="437515" cy="6339205"/>
          </a:xfrm>
          <a:prstGeom prst="rect">
            <a:avLst/>
          </a:prstGeom>
          <a:effectLst>
            <a:outerShdw blurRad="50800" dist="38100" dir="2700000" algn="tl" rotWithShape="0">
              <a:prstClr val="black">
                <a:alpha val="40000"/>
              </a:prstClr>
            </a:outerShdw>
          </a:effectLst>
        </p:spPr>
      </p:pic>
      <p:sp>
        <p:nvSpPr>
          <p:cNvPr id="4" name="矩形 3"/>
          <p:cNvSpPr/>
          <p:nvPr/>
        </p:nvSpPr>
        <p:spPr>
          <a:xfrm>
            <a:off x="10152203" y="1986451"/>
            <a:ext cx="1811045" cy="461639"/>
          </a:xfrm>
          <a:prstGeom prst="rect">
            <a:avLst/>
          </a:prstGeom>
          <a:solidFill>
            <a:srgbClr val="ABE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2890181" y="1075568"/>
            <a:ext cx="7402195" cy="52197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800" b="1" dirty="0"/>
              <a:t>Who makes the most, and does fuel cost matter?</a:t>
            </a:r>
            <a:endParaRPr lang="en-US" altLang="en-US" sz="2800" b="1" dirty="0"/>
          </a:p>
        </p:txBody>
      </p:sp>
      <p:sp>
        <p:nvSpPr>
          <p:cNvPr id="8" name="矩形 7"/>
          <p:cNvSpPr/>
          <p:nvPr/>
        </p:nvSpPr>
        <p:spPr>
          <a:xfrm>
            <a:off x="1514724" y="4709653"/>
            <a:ext cx="4927957" cy="203009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400" b="1" dirty="0"/>
              <a:t>Southwest leads at $6.47M | Spirit 2nd at $6.08M despite 2nd worst delays</a:t>
            </a:r>
            <a:endParaRPr lang="en-US" altLang="en-US" sz="1400" b="1" dirty="0"/>
          </a:p>
          <a:p>
            <a:pPr>
              <a:lnSpc>
                <a:spcPct val="150000"/>
              </a:lnSpc>
            </a:pPr>
            <a:r>
              <a:rPr lang="en-US" altLang="en-US" sz="1400" b="1" dirty="0"/>
              <a:t>Alaska, American &amp; United clustered between $5.2M–$5.7M — highly competitive mid-tier</a:t>
            </a:r>
            <a:endParaRPr lang="en-US" altLang="en-US" sz="1400" b="1" dirty="0"/>
          </a:p>
          <a:p>
            <a:pPr>
              <a:lnSpc>
                <a:spcPct val="150000"/>
              </a:lnSpc>
            </a:pPr>
            <a:r>
              <a:rPr lang="en-US" altLang="en-US" sz="1400" b="1" dirty="0"/>
              <a:t>Gap between Southwest and United is $1.27M — stronger route network or pricing strategy</a:t>
            </a:r>
            <a:endParaRPr lang="en-US" altLang="en-US" sz="1400" b="1" dirty="0"/>
          </a:p>
        </p:txBody>
      </p:sp>
      <p:sp>
        <p:nvSpPr>
          <p:cNvPr id="10" name="矩形 7"/>
          <p:cNvSpPr/>
          <p:nvPr/>
        </p:nvSpPr>
        <p:spPr>
          <a:xfrm>
            <a:off x="6664574" y="4753468"/>
            <a:ext cx="4927957" cy="19380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600" b="1" dirty="0"/>
              <a:t>No clear relationship between fuel cost and profit — points scattered across all ranges</a:t>
            </a:r>
            <a:endParaRPr lang="en-US" altLang="en-US" sz="1600" b="1" dirty="0"/>
          </a:p>
          <a:p>
            <a:pPr>
              <a:lnSpc>
                <a:spcPct val="150000"/>
              </a:lnSpc>
            </a:pPr>
            <a:r>
              <a:rPr lang="en-US" altLang="en-US" sz="1600" b="1" dirty="0"/>
              <a:t>Some high fuel-cost flights still generate strong profits</a:t>
            </a:r>
            <a:endParaRPr lang="en-US" altLang="en-US" sz="1600" b="1" dirty="0"/>
          </a:p>
          <a:p>
            <a:pPr>
              <a:lnSpc>
                <a:spcPct val="150000"/>
              </a:lnSpc>
            </a:pPr>
            <a:r>
              <a:rPr lang="en-US" altLang="en-US" sz="1600" b="1" dirty="0"/>
              <a:t>What actually drives profit: ticket price, passenger load and route distance — not fuel cost</a:t>
            </a:r>
            <a:endParaRPr lang="en-US" altLang="en-US" sz="1600" b="1" dirty="0"/>
          </a:p>
        </p:txBody>
      </p:sp>
      <p:graphicFrame>
        <p:nvGraphicFramePr>
          <p:cNvPr id="14" name="Chart 13"/>
          <p:cNvGraphicFramePr/>
          <p:nvPr/>
        </p:nvGraphicFramePr>
        <p:xfrm>
          <a:off x="6664325" y="1804035"/>
          <a:ext cx="4826000" cy="27432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5" name="Chart 4"/>
          <p:cNvGraphicFramePr/>
          <p:nvPr/>
        </p:nvGraphicFramePr>
        <p:xfrm>
          <a:off x="1616710" y="1804035"/>
          <a:ext cx="4826000" cy="27432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3865" y="231775"/>
            <a:ext cx="11304270" cy="6626225"/>
          </a:xfrm>
          <a:prstGeom prst="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345" y="363855"/>
            <a:ext cx="437515" cy="6339205"/>
          </a:xfrm>
          <a:prstGeom prst="rect">
            <a:avLst/>
          </a:prstGeom>
          <a:effectLst>
            <a:outerShdw blurRad="50800" dist="38100" dir="2700000" algn="tl" rotWithShape="0">
              <a:prstClr val="black">
                <a:alpha val="40000"/>
              </a:prstClr>
            </a:outerShdw>
          </a:effectLst>
        </p:spPr>
      </p:pic>
      <p:sp>
        <p:nvSpPr>
          <p:cNvPr id="4" name="矩形 3"/>
          <p:cNvSpPr/>
          <p:nvPr/>
        </p:nvSpPr>
        <p:spPr>
          <a:xfrm>
            <a:off x="10152203" y="1986451"/>
            <a:ext cx="1811045" cy="461639"/>
          </a:xfrm>
          <a:prstGeom prst="rect">
            <a:avLst/>
          </a:prstGeom>
          <a:solidFill>
            <a:srgbClr val="ABE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2255181" y="363733"/>
            <a:ext cx="8838565" cy="52197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800" b="1" dirty="0"/>
              <a:t>Which airports drive revenue, and how full are the planes?</a:t>
            </a:r>
            <a:endParaRPr lang="en-US" altLang="en-US" sz="2800" b="1" dirty="0"/>
          </a:p>
        </p:txBody>
      </p:sp>
      <p:sp>
        <p:nvSpPr>
          <p:cNvPr id="8" name="矩形 7"/>
          <p:cNvSpPr/>
          <p:nvPr/>
        </p:nvSpPr>
        <p:spPr>
          <a:xfrm>
            <a:off x="1616959" y="4030838"/>
            <a:ext cx="4927957" cy="235331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400" b="1" dirty="0"/>
              <a:t>ATL (Atlanta) leads at $3,387,371 — busiest airport AND top revenue generator</a:t>
            </a:r>
            <a:endParaRPr lang="en-US" altLang="en-US" sz="1400" b="1" dirty="0"/>
          </a:p>
          <a:p>
            <a:pPr>
              <a:lnSpc>
                <a:spcPct val="150000"/>
              </a:lnSpc>
            </a:pPr>
            <a:r>
              <a:rPr lang="en-US" altLang="en-US" sz="1400" b="1" dirty="0"/>
              <a:t>Charlotte Douglas &amp; Newark Liberty follow in 2nd and 3rd</a:t>
            </a:r>
            <a:endParaRPr lang="en-US" altLang="en-US" sz="1400" b="1" dirty="0"/>
          </a:p>
          <a:p>
            <a:pPr>
              <a:lnSpc>
                <a:spcPct val="150000"/>
              </a:lnSpc>
            </a:pPr>
            <a:r>
              <a:rPr lang="en-US" altLang="en-US" sz="1400" b="1" dirty="0"/>
              <a:t>Ancillary revenue is only 3–5% across all airports — network runs on ticket sales, not extras</a:t>
            </a:r>
            <a:endParaRPr lang="en-US" altLang="en-US" sz="1400" b="1" dirty="0"/>
          </a:p>
          <a:p>
            <a:pPr>
              <a:lnSpc>
                <a:spcPct val="150000"/>
              </a:lnSpc>
            </a:pPr>
            <a:r>
              <a:rPr lang="en-US" altLang="en-US" sz="1400" b="1" dirty="0"/>
              <a:t>San Francisco: least revenue despite highest average delay — delays are not pushing passengers away</a:t>
            </a:r>
            <a:endParaRPr lang="en-US" altLang="en-US" sz="1400" b="1" dirty="0"/>
          </a:p>
        </p:txBody>
      </p:sp>
      <p:sp>
        <p:nvSpPr>
          <p:cNvPr id="10" name="矩形 7"/>
          <p:cNvSpPr/>
          <p:nvPr/>
        </p:nvSpPr>
        <p:spPr>
          <a:xfrm>
            <a:off x="6679179" y="4030838"/>
            <a:ext cx="4927957" cy="267652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400" b="1" dirty="0"/>
              <a:t>Southwest highest at 66.33% | JetBlue lowest at 58.72%</a:t>
            </a:r>
            <a:endParaRPr lang="en-US" altLang="en-US" sz="1400" b="1" dirty="0"/>
          </a:p>
          <a:p>
            <a:pPr>
              <a:lnSpc>
                <a:spcPct val="150000"/>
              </a:lnSpc>
            </a:pPr>
            <a:r>
              <a:rPr lang="en-US" altLang="en-US" sz="1400" b="1" dirty="0"/>
              <a:t>Only 7.6 percentage points separating best from worst — industry runs at similar capacity</a:t>
            </a:r>
            <a:endParaRPr lang="en-US" altLang="en-US" sz="1400" b="1" dirty="0"/>
          </a:p>
          <a:p>
            <a:pPr>
              <a:lnSpc>
                <a:spcPct val="150000"/>
              </a:lnSpc>
            </a:pPr>
            <a:r>
              <a:rPr lang="en-US" altLang="en-US" sz="1400" b="1" dirty="0"/>
              <a:t>JetBlue's paradox: best on-time performance but lowest occupancy — likely running more flights with fewer passengers to protect schedules</a:t>
            </a:r>
            <a:endParaRPr lang="en-US" altLang="en-US" sz="1400" b="1" dirty="0"/>
          </a:p>
          <a:p>
            <a:pPr>
              <a:lnSpc>
                <a:spcPct val="150000"/>
              </a:lnSpc>
            </a:pPr>
            <a:r>
              <a:rPr lang="en-US" altLang="en-US" sz="1400" b="1" dirty="0"/>
              <a:t>Southwest wins on every metric — highest occupancy, highest revenue, highest total profit</a:t>
            </a:r>
            <a:endParaRPr lang="en-US" altLang="en-US" sz="1400" b="1" dirty="0"/>
          </a:p>
        </p:txBody>
      </p:sp>
      <p:graphicFrame>
        <p:nvGraphicFramePr>
          <p:cNvPr id="12" name="Chart 11"/>
          <p:cNvGraphicFramePr/>
          <p:nvPr/>
        </p:nvGraphicFramePr>
        <p:xfrm>
          <a:off x="6678930" y="1193165"/>
          <a:ext cx="4826000" cy="27432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7" name="Chart 16"/>
          <p:cNvGraphicFramePr/>
          <p:nvPr/>
        </p:nvGraphicFramePr>
        <p:xfrm>
          <a:off x="1616710" y="1193165"/>
          <a:ext cx="4826000" cy="27432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867323" y="597706"/>
            <a:ext cx="3603625" cy="52197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800" b="1" u="sng" dirty="0"/>
              <a:t>Everything in one view.</a:t>
            </a:r>
            <a:endParaRPr lang="en-US" altLang="en-US" sz="2800" b="1" u="sng" dirty="0"/>
          </a:p>
        </p:txBody>
      </p:sp>
      <p:sp>
        <p:nvSpPr>
          <p:cNvPr id="15" name="矩形 3"/>
          <p:cNvSpPr/>
          <p:nvPr/>
        </p:nvSpPr>
        <p:spPr>
          <a:xfrm>
            <a:off x="847898" y="6275241"/>
            <a:ext cx="9509125" cy="39878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en-US" sz="2000" b="1" dirty="0"/>
              <a:t>Interactive dashboard built in Excel combining all KPIs, charts, and filters in a single view.</a:t>
            </a:r>
            <a:endParaRPr lang="en-US" altLang="en-US" sz="2000" b="1" dirty="0"/>
          </a:p>
        </p:txBody>
      </p:sp>
      <p:pic>
        <p:nvPicPr>
          <p:cNvPr id="16" name="Picture 15"/>
          <p:cNvPicPr>
            <a:picLocks noChangeAspect="1"/>
          </p:cNvPicPr>
          <p:nvPr/>
        </p:nvPicPr>
        <p:blipFill>
          <a:blip r:embed="rId1"/>
          <a:stretch>
            <a:fillRect/>
          </a:stretch>
        </p:blipFill>
        <p:spPr>
          <a:xfrm>
            <a:off x="1049655" y="1444625"/>
            <a:ext cx="10093325" cy="46831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3865" y="361315"/>
            <a:ext cx="11304270" cy="6342380"/>
          </a:xfrm>
          <a:prstGeom prst="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55345" y="139065"/>
            <a:ext cx="452120" cy="6719570"/>
          </a:xfrm>
          <a:prstGeom prst="rect">
            <a:avLst/>
          </a:prstGeom>
          <a:effectLst>
            <a:outerShdw blurRad="50800" dist="38100" dir="2700000" algn="tl" rotWithShape="0">
              <a:prstClr val="black">
                <a:alpha val="40000"/>
              </a:prstClr>
            </a:outerShdw>
          </a:effectLst>
        </p:spPr>
      </p:pic>
      <p:sp>
        <p:nvSpPr>
          <p:cNvPr id="4" name="矩形 3"/>
          <p:cNvSpPr/>
          <p:nvPr/>
        </p:nvSpPr>
        <p:spPr>
          <a:xfrm>
            <a:off x="10152203" y="1986451"/>
            <a:ext cx="1811045" cy="461639"/>
          </a:xfrm>
          <a:prstGeom prst="rect">
            <a:avLst/>
          </a:prstGeom>
          <a:solidFill>
            <a:srgbClr val="ABE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11"/>
          <p:cNvSpPr txBox="1"/>
          <p:nvPr/>
        </p:nvSpPr>
        <p:spPr>
          <a:xfrm>
            <a:off x="4483735" y="760095"/>
            <a:ext cx="3224530" cy="5835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3200" b="1" dirty="0">
                <a:latin typeface="汉仪良品线简" panose="00020600040101010101" pitchFamily="18" charset="-122"/>
                <a:ea typeface="汉仪良品线简" panose="00020600040101010101" pitchFamily="18" charset="-122"/>
              </a:rPr>
              <a:t>Key Insights</a:t>
            </a:r>
            <a:endParaRPr lang="en-US" altLang="en-US" sz="3200" b="1" dirty="0">
              <a:latin typeface="汉仪良品线简" panose="00020600040101010101" pitchFamily="18" charset="-122"/>
              <a:ea typeface="汉仪良品线简" panose="00020600040101010101" pitchFamily="18" charset="-122"/>
            </a:endParaRPr>
          </a:p>
        </p:txBody>
      </p:sp>
      <p:sp>
        <p:nvSpPr>
          <p:cNvPr id="8" name="矩形 7"/>
          <p:cNvSpPr/>
          <p:nvPr/>
        </p:nvSpPr>
        <p:spPr>
          <a:xfrm>
            <a:off x="1976755" y="1489710"/>
            <a:ext cx="9517380" cy="4998720"/>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2000" b="1" u="sng" dirty="0"/>
              <a:t>What we found that actually matters.</a:t>
            </a:r>
            <a:endParaRPr lang="en-US" altLang="en-US" sz="2000" b="1" u="sng" dirty="0"/>
          </a:p>
          <a:p>
            <a:pPr>
              <a:lnSpc>
                <a:spcPct val="150000"/>
              </a:lnSpc>
            </a:pPr>
            <a:endParaRPr lang="en-US" altLang="en-US" dirty="0"/>
          </a:p>
          <a:p>
            <a:pPr>
              <a:lnSpc>
                <a:spcPct val="150000"/>
              </a:lnSpc>
            </a:pPr>
            <a:r>
              <a:rPr lang="en-US" altLang="en-US" dirty="0"/>
              <a:t>Dirty data was hiding $millions — 31 zero revenue rows were not real zeros, they were data entry errors totalling hundreds of thousands in uncounted revenue</a:t>
            </a:r>
            <a:endParaRPr lang="en-US" altLang="en-US" dirty="0"/>
          </a:p>
          <a:p>
            <a:pPr>
              <a:lnSpc>
                <a:spcPct val="150000"/>
              </a:lnSpc>
            </a:pPr>
            <a:r>
              <a:rPr lang="en-US" altLang="en-US" dirty="0"/>
              <a:t>Punctuality does not equal profitability — JetBlue is the most punctual airline yet generates the least revenue and profit</a:t>
            </a:r>
            <a:endParaRPr lang="en-US" altLang="en-US" dirty="0"/>
          </a:p>
          <a:p>
            <a:pPr>
              <a:lnSpc>
                <a:spcPct val="150000"/>
              </a:lnSpc>
            </a:pPr>
            <a:r>
              <a:rPr lang="en-US" altLang="en-US" dirty="0"/>
              <a:t>Nearly 4 in 10 seats fly empty — 62% occupancy across all airlines signals a major untapped revenue opportunity through dynamic pricing</a:t>
            </a:r>
            <a:endParaRPr lang="en-US" altLang="en-US" dirty="0"/>
          </a:p>
          <a:p>
            <a:pPr>
              <a:lnSpc>
                <a:spcPct val="150000"/>
              </a:lnSpc>
            </a:pPr>
            <a:r>
              <a:rPr lang="en-US" altLang="en-US" dirty="0"/>
              <a:t>Atlanta dominates everything — busiest departure city, highest revenue airport and above average on-time performance</a:t>
            </a:r>
            <a:endParaRPr lang="en-US" altLang="en-US" dirty="0"/>
          </a:p>
          <a:p>
            <a:pPr>
              <a:lnSpc>
                <a:spcPct val="150000"/>
              </a:lnSpc>
            </a:pPr>
            <a:r>
              <a:rPr lang="en-US" altLang="en-US" dirty="0"/>
              <a:t>Fuel cost is a red herring — what actually drives profit is ticket price and how full the plane is, not how much fuel it burns</a:t>
            </a:r>
            <a:endParaRPr lang="en-US" altLang="en-US" dirty="0"/>
          </a:p>
        </p:txBody>
      </p:sp>
      <p:sp>
        <p:nvSpPr>
          <p:cNvPr id="5" name="Hollow Circle 4"/>
          <p:cNvSpPr/>
          <p:nvPr/>
        </p:nvSpPr>
        <p:spPr>
          <a:xfrm>
            <a:off x="1666240" y="3421380"/>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11" name="Hollow Circle 10"/>
          <p:cNvSpPr/>
          <p:nvPr/>
        </p:nvSpPr>
        <p:spPr>
          <a:xfrm>
            <a:off x="1626870" y="4211320"/>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12" name="Hollow Circle 11"/>
          <p:cNvSpPr/>
          <p:nvPr/>
        </p:nvSpPr>
        <p:spPr>
          <a:xfrm>
            <a:off x="1624330" y="5030470"/>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13" name="Hollow Circle 12"/>
          <p:cNvSpPr/>
          <p:nvPr/>
        </p:nvSpPr>
        <p:spPr>
          <a:xfrm>
            <a:off x="1619885" y="5843905"/>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14" name="Hollow Circle 13"/>
          <p:cNvSpPr/>
          <p:nvPr/>
        </p:nvSpPr>
        <p:spPr>
          <a:xfrm>
            <a:off x="1725930" y="2591435"/>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3865" y="361315"/>
            <a:ext cx="11304270" cy="6342380"/>
          </a:xfrm>
          <a:prstGeom prst="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55345" y="139065"/>
            <a:ext cx="452120" cy="6719570"/>
          </a:xfrm>
          <a:prstGeom prst="rect">
            <a:avLst/>
          </a:prstGeom>
          <a:effectLst>
            <a:outerShdw blurRad="50800" dist="38100" dir="2700000" algn="tl" rotWithShape="0">
              <a:prstClr val="black">
                <a:alpha val="40000"/>
              </a:prstClr>
            </a:outerShdw>
          </a:effectLst>
        </p:spPr>
      </p:pic>
      <p:sp>
        <p:nvSpPr>
          <p:cNvPr id="4" name="矩形 3"/>
          <p:cNvSpPr/>
          <p:nvPr/>
        </p:nvSpPr>
        <p:spPr>
          <a:xfrm>
            <a:off x="10152203" y="1986451"/>
            <a:ext cx="1811045" cy="461639"/>
          </a:xfrm>
          <a:prstGeom prst="rect">
            <a:avLst/>
          </a:prstGeom>
          <a:solidFill>
            <a:srgbClr val="ABE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11"/>
          <p:cNvSpPr txBox="1"/>
          <p:nvPr/>
        </p:nvSpPr>
        <p:spPr>
          <a:xfrm>
            <a:off x="4085590" y="539115"/>
            <a:ext cx="3224530" cy="5835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3200" b="1" dirty="0">
                <a:latin typeface="汉仪良品线简" panose="00020600040101010101" pitchFamily="18" charset="-122"/>
                <a:ea typeface="汉仪良品线简" panose="00020600040101010101" pitchFamily="18" charset="-122"/>
              </a:rPr>
              <a:t>Findings</a:t>
            </a:r>
            <a:endParaRPr lang="en-US" altLang="en-US" sz="3200" b="1" dirty="0">
              <a:latin typeface="汉仪良品线简" panose="00020600040101010101" pitchFamily="18" charset="-122"/>
              <a:ea typeface="汉仪良品线简" panose="00020600040101010101" pitchFamily="18" charset="-122"/>
            </a:endParaRPr>
          </a:p>
        </p:txBody>
      </p:sp>
      <p:sp>
        <p:nvSpPr>
          <p:cNvPr id="8" name="矩形 7"/>
          <p:cNvSpPr/>
          <p:nvPr/>
        </p:nvSpPr>
        <p:spPr>
          <a:xfrm>
            <a:off x="2065020" y="1122680"/>
            <a:ext cx="9517380" cy="5411470"/>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600" b="1" u="sng" dirty="0"/>
              <a:t>Finding 1</a:t>
            </a:r>
            <a:r>
              <a:rPr lang="en-US" altLang="en-US" sz="1600" dirty="0"/>
              <a:t> — Operational Performance</a:t>
            </a:r>
            <a:endParaRPr lang="en-US" altLang="en-US" sz="1600" dirty="0"/>
          </a:p>
          <a:p>
            <a:pPr>
              <a:lnSpc>
                <a:spcPct val="150000"/>
              </a:lnSpc>
            </a:pPr>
            <a:r>
              <a:rPr lang="en-US" altLang="en-US" sz="1600" dirty="0"/>
              <a:t>Despite 66.9% of flights arriving on time, over 1 in 3 flights experienced a delay or cancellation. Southwest and Spirit consistently rank worst for delays yet generate the highest revenues, suggesting passenger demand is not sensitive to punctuality in this dataset.</a:t>
            </a:r>
            <a:endParaRPr lang="en-US" altLang="en-US" sz="1600" dirty="0"/>
          </a:p>
          <a:p>
            <a:pPr>
              <a:lnSpc>
                <a:spcPct val="150000"/>
              </a:lnSpc>
            </a:pPr>
            <a:r>
              <a:rPr lang="en-US" altLang="en-US" sz="1600" b="1" u="sng" dirty="0"/>
              <a:t>Finding 2</a:t>
            </a:r>
            <a:r>
              <a:rPr lang="en-US" altLang="en-US" sz="1600" dirty="0"/>
              <a:t> — Revenue &amp; Profitability</a:t>
            </a:r>
            <a:endParaRPr lang="en-US" altLang="en-US" sz="1600" dirty="0"/>
          </a:p>
          <a:p>
            <a:pPr>
              <a:lnSpc>
                <a:spcPct val="150000"/>
              </a:lnSpc>
            </a:pPr>
            <a:r>
              <a:rPr lang="en-US" altLang="en-US" sz="1600" dirty="0"/>
              <a:t>Southwest leads all airlines in both total revenue ($6.47M) and total profit ($4.17M). However United generates the highest profit per flight ($63,460), indicating better cost efficiency per route despite lower overall volume.</a:t>
            </a:r>
            <a:endParaRPr lang="en-US" altLang="en-US" sz="1600" dirty="0"/>
          </a:p>
          <a:p>
            <a:pPr>
              <a:lnSpc>
                <a:spcPct val="150000"/>
              </a:lnSpc>
            </a:pPr>
            <a:r>
              <a:rPr lang="en-US" altLang="en-US" sz="1600" b="1" u="sng" dirty="0"/>
              <a:t>Finding 3 </a:t>
            </a:r>
            <a:r>
              <a:rPr lang="en-US" altLang="en-US" sz="1600" dirty="0"/>
              <a:t>— Capacity Utilisation</a:t>
            </a:r>
            <a:endParaRPr lang="en-US" altLang="en-US" sz="1600" dirty="0"/>
          </a:p>
          <a:p>
            <a:pPr>
              <a:lnSpc>
                <a:spcPct val="150000"/>
              </a:lnSpc>
            </a:pPr>
            <a:r>
              <a:rPr lang="en-US" altLang="en-US" sz="1600" dirty="0"/>
              <a:t>The average occupancy rate of 62.33% across all airlines reveals significant unused capacity. Nearly 4 in 10 seats fly empty on every flight, representing a major unrealised revenue opportunity.</a:t>
            </a:r>
            <a:endParaRPr lang="en-US" altLang="en-US" sz="1600" dirty="0"/>
          </a:p>
          <a:p>
            <a:pPr>
              <a:lnSpc>
                <a:spcPct val="150000"/>
              </a:lnSpc>
            </a:pPr>
            <a:r>
              <a:rPr lang="en-US" altLang="en-US" sz="1600" b="1" u="sng" dirty="0"/>
              <a:t>Finding 4 </a:t>
            </a:r>
            <a:r>
              <a:rPr lang="en-US" altLang="en-US" sz="1600" dirty="0"/>
              <a:t>— Data Quality Impact</a:t>
            </a:r>
            <a:endParaRPr lang="en-US" altLang="en-US" sz="1600" dirty="0"/>
          </a:p>
          <a:p>
            <a:pPr>
              <a:lnSpc>
                <a:spcPct val="150000"/>
              </a:lnSpc>
            </a:pPr>
            <a:r>
              <a:rPr lang="en-US" altLang="en-US" sz="1600" dirty="0"/>
              <a:t>10 data quality issues were identified and resolved before analysis. Notably 31 zero revenue rows were confirmed as data entry errors — not real values — meaning any analysis on the raw data would have produced misleading conclusions.</a:t>
            </a:r>
            <a:endParaRPr lang="en-US" altLang="en-US" sz="1600" dirty="0"/>
          </a:p>
        </p:txBody>
      </p:sp>
      <p:sp>
        <p:nvSpPr>
          <p:cNvPr id="5" name="Hollow Circle 4"/>
          <p:cNvSpPr/>
          <p:nvPr/>
        </p:nvSpPr>
        <p:spPr>
          <a:xfrm>
            <a:off x="1666240" y="2749550"/>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12" name="Hollow Circle 11"/>
          <p:cNvSpPr/>
          <p:nvPr/>
        </p:nvSpPr>
        <p:spPr>
          <a:xfrm>
            <a:off x="1624330" y="4621530"/>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13" name="Hollow Circle 12"/>
          <p:cNvSpPr/>
          <p:nvPr/>
        </p:nvSpPr>
        <p:spPr>
          <a:xfrm>
            <a:off x="1619885" y="5843905"/>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14" name="Hollow Circle 13"/>
          <p:cNvSpPr/>
          <p:nvPr/>
        </p:nvSpPr>
        <p:spPr>
          <a:xfrm>
            <a:off x="1725930" y="1656715"/>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3865" y="1057275"/>
            <a:ext cx="11304270" cy="5391785"/>
          </a:xfrm>
          <a:prstGeom prst="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55345" y="720725"/>
            <a:ext cx="452120" cy="5416550"/>
          </a:xfrm>
          <a:prstGeom prst="rect">
            <a:avLst/>
          </a:prstGeom>
          <a:effectLst>
            <a:outerShdw blurRad="50800" dist="38100" dir="2700000" algn="tl" rotWithShape="0">
              <a:prstClr val="black">
                <a:alpha val="40000"/>
              </a:prstClr>
            </a:outerShdw>
          </a:effectLst>
        </p:spPr>
      </p:pic>
      <p:sp>
        <p:nvSpPr>
          <p:cNvPr id="4" name="矩形 3"/>
          <p:cNvSpPr/>
          <p:nvPr/>
        </p:nvSpPr>
        <p:spPr>
          <a:xfrm>
            <a:off x="10152203" y="1986451"/>
            <a:ext cx="1811045" cy="461639"/>
          </a:xfrm>
          <a:prstGeom prst="rect">
            <a:avLst/>
          </a:prstGeom>
          <a:solidFill>
            <a:srgbClr val="ABE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11"/>
          <p:cNvSpPr txBox="1"/>
          <p:nvPr/>
        </p:nvSpPr>
        <p:spPr>
          <a:xfrm>
            <a:off x="5067300" y="1358265"/>
            <a:ext cx="3224530" cy="5835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3200" b="1" dirty="0">
                <a:latin typeface="汉仪良品线简" panose="00020600040101010101" pitchFamily="18" charset="-122"/>
                <a:ea typeface="汉仪良品线简" panose="00020600040101010101" pitchFamily="18" charset="-122"/>
              </a:rPr>
              <a:t>Limitations</a:t>
            </a:r>
            <a:endParaRPr lang="en-US" altLang="en-US" sz="3200" b="1" dirty="0">
              <a:latin typeface="汉仪良品线简" panose="00020600040101010101" pitchFamily="18" charset="-122"/>
              <a:ea typeface="汉仪良品线简" panose="00020600040101010101" pitchFamily="18" charset="-122"/>
            </a:endParaRPr>
          </a:p>
        </p:txBody>
      </p:sp>
      <p:sp>
        <p:nvSpPr>
          <p:cNvPr id="8" name="矩形 7"/>
          <p:cNvSpPr/>
          <p:nvPr/>
        </p:nvSpPr>
        <p:spPr>
          <a:xfrm>
            <a:off x="2230755" y="2156460"/>
            <a:ext cx="9517380" cy="341503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dirty="0"/>
              <a:t>Dataset size — 500 flights is relatively small and may not represent real-world patterns</a:t>
            </a:r>
            <a:endParaRPr lang="en-US" altLang="en-US" dirty="0"/>
          </a:p>
          <a:p>
            <a:pPr>
              <a:lnSpc>
                <a:spcPct val="150000"/>
              </a:lnSpc>
            </a:pPr>
            <a:r>
              <a:rPr lang="en-US" altLang="en-US" dirty="0"/>
              <a:t>Synthetic data — this is a demo dataset so findings cannot be generalised to real airlines</a:t>
            </a:r>
            <a:endParaRPr lang="en-US" altLang="en-US" dirty="0"/>
          </a:p>
          <a:p>
            <a:pPr>
              <a:lnSpc>
                <a:spcPct val="150000"/>
              </a:lnSpc>
            </a:pPr>
            <a:r>
              <a:rPr lang="en-US" altLang="en-US" dirty="0"/>
              <a:t>Missing cost data — only fuel and crew costs are available, other operating costs are excluded from profit calculation</a:t>
            </a:r>
            <a:endParaRPr lang="en-US" altLang="en-US" dirty="0"/>
          </a:p>
          <a:p>
            <a:pPr>
              <a:lnSpc>
                <a:spcPct val="150000"/>
              </a:lnSpc>
            </a:pPr>
            <a:r>
              <a:rPr lang="en-US" altLang="en-US" dirty="0"/>
              <a:t>No external factors — weather, air traffic control and seasonal events are not accounted for in delay analysis</a:t>
            </a:r>
            <a:endParaRPr lang="en-US" altLang="en-US" dirty="0"/>
          </a:p>
          <a:p>
            <a:pPr>
              <a:lnSpc>
                <a:spcPct val="150000"/>
              </a:lnSpc>
            </a:pPr>
            <a:r>
              <a:rPr lang="en-US" altLang="en-US" dirty="0"/>
              <a:t>Imputed values — 49 missing values were filled using statistical methods which introduces some estimation error</a:t>
            </a:r>
            <a:endParaRPr lang="en-US" altLang="en-US" dirty="0"/>
          </a:p>
        </p:txBody>
      </p:sp>
      <p:sp>
        <p:nvSpPr>
          <p:cNvPr id="5" name="Hollow Circle 4"/>
          <p:cNvSpPr/>
          <p:nvPr/>
        </p:nvSpPr>
        <p:spPr>
          <a:xfrm>
            <a:off x="1979930" y="3553460"/>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9" name="Hollow Circle 8"/>
          <p:cNvSpPr/>
          <p:nvPr/>
        </p:nvSpPr>
        <p:spPr>
          <a:xfrm>
            <a:off x="1979930" y="4019550"/>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11" name="Hollow Circle 10"/>
          <p:cNvSpPr/>
          <p:nvPr/>
        </p:nvSpPr>
        <p:spPr>
          <a:xfrm>
            <a:off x="1990090" y="2362200"/>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12" name="Hollow Circle 11"/>
          <p:cNvSpPr/>
          <p:nvPr/>
        </p:nvSpPr>
        <p:spPr>
          <a:xfrm>
            <a:off x="1971040" y="4799330"/>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13" name="Hollow Circle 12"/>
          <p:cNvSpPr/>
          <p:nvPr/>
        </p:nvSpPr>
        <p:spPr>
          <a:xfrm>
            <a:off x="1966595" y="5233035"/>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14" name="Hollow Circle 13"/>
          <p:cNvSpPr/>
          <p:nvPr/>
        </p:nvSpPr>
        <p:spPr>
          <a:xfrm>
            <a:off x="1990090" y="3169285"/>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7" name="Hollow Circle 6"/>
          <p:cNvSpPr/>
          <p:nvPr/>
        </p:nvSpPr>
        <p:spPr>
          <a:xfrm>
            <a:off x="1985010" y="2786380"/>
            <a:ext cx="250825" cy="220980"/>
          </a:xfrm>
          <a:prstGeom prst="don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43865" y="1661160"/>
            <a:ext cx="11304270" cy="4759325"/>
          </a:xfrm>
          <a:prstGeom prst="rect">
            <a:avLst/>
          </a:prstGeom>
          <a:solidFill>
            <a:srgbClr val="E8F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06120" y="1242695"/>
            <a:ext cx="466725" cy="5416550"/>
          </a:xfrm>
          <a:prstGeom prst="rect">
            <a:avLst/>
          </a:prstGeom>
          <a:effectLst>
            <a:outerShdw blurRad="50800" dist="38100" dir="2700000" algn="tl" rotWithShape="0">
              <a:prstClr val="black">
                <a:alpha val="40000"/>
              </a:prstClr>
            </a:outerShdw>
          </a:effectLst>
        </p:spPr>
      </p:pic>
      <p:sp>
        <p:nvSpPr>
          <p:cNvPr id="11" name="矩形 10"/>
          <p:cNvSpPr/>
          <p:nvPr/>
        </p:nvSpPr>
        <p:spPr>
          <a:xfrm>
            <a:off x="10152203" y="1986451"/>
            <a:ext cx="1811045" cy="461639"/>
          </a:xfrm>
          <a:prstGeom prst="rect">
            <a:avLst/>
          </a:prstGeom>
          <a:solidFill>
            <a:srgbClr val="ABE3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562100" y="3429000"/>
            <a:ext cx="9735820" cy="119888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600" b="1" dirty="0"/>
              <a:t>We cleaned 500 records, fixed 10 data quality issues and uncovered insights that raw data could not show</a:t>
            </a:r>
            <a:endParaRPr lang="en-US" altLang="en-US" sz="1600" b="1" dirty="0"/>
          </a:p>
          <a:p>
            <a:pPr>
              <a:lnSpc>
                <a:spcPct val="150000"/>
              </a:lnSpc>
            </a:pPr>
            <a:r>
              <a:rPr lang="en-US" altLang="en-US" sz="1600" b="1" dirty="0"/>
              <a:t>Southwest dominates revenue and profit — </a:t>
            </a:r>
            <a:r>
              <a:rPr lang="en-US" altLang="en-US" sz="1600" b="1" dirty="0"/>
              <a:t>but punctuality and efficiency tell a different story</a:t>
            </a:r>
            <a:endParaRPr lang="en-US" altLang="en-US" sz="1600" b="1" dirty="0"/>
          </a:p>
          <a:p>
            <a:pPr>
              <a:lnSpc>
                <a:spcPct val="150000"/>
              </a:lnSpc>
            </a:pPr>
            <a:r>
              <a:rPr lang="en-US" altLang="en-US" sz="1600" b="1" dirty="0"/>
              <a:t>62% occupancy and rising delays signal clear opportunities for operational improvement</a:t>
            </a:r>
            <a:endParaRPr lang="en-US" altLang="en-US" sz="1600" b="1" dirty="0"/>
          </a:p>
        </p:txBody>
      </p:sp>
      <p:cxnSp>
        <p:nvCxnSpPr>
          <p:cNvPr id="15" name="直接连接符 14"/>
          <p:cNvCxnSpPr/>
          <p:nvPr/>
        </p:nvCxnSpPr>
        <p:spPr>
          <a:xfrm>
            <a:off x="1667744" y="3282221"/>
            <a:ext cx="1447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428009" y="2512880"/>
            <a:ext cx="3631486" cy="76944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latinLnBrk="1"/>
            <a:r>
              <a:rPr lang="en-US" altLang="zh-CN" sz="4400" b="1" dirty="0">
                <a:latin typeface="Arial" panose="020B0604020202020204" pitchFamily="34" charset="0"/>
              </a:rPr>
              <a:t>THANK YOU</a:t>
            </a:r>
            <a:endParaRPr lang="en-US" altLang="zh-CN" sz="4400" b="1" i="0" dirty="0">
              <a:effectLst/>
              <a:latin typeface="Arial" panose="020B0604020202020204" pitchFamily="34" charset="0"/>
            </a:endParaRPr>
          </a:p>
        </p:txBody>
      </p:sp>
      <p:sp>
        <p:nvSpPr>
          <p:cNvPr id="2" name="矩形 13"/>
          <p:cNvSpPr/>
          <p:nvPr/>
        </p:nvSpPr>
        <p:spPr>
          <a:xfrm>
            <a:off x="1667404" y="4736877"/>
            <a:ext cx="6372557" cy="4140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400" b="1" i="1" u="sng" dirty="0"/>
              <a:t>This project proves that before any analysis, data quality is </a:t>
            </a:r>
            <a:r>
              <a:rPr lang="en-US" altLang="en-US" sz="1400" b="1" i="1" u="sng" dirty="0"/>
              <a:t>everything.</a:t>
            </a:r>
            <a:endParaRPr lang="en-US" altLang="en-US" sz="1400" b="1" i="1" u="sng" dirty="0"/>
          </a:p>
        </p:txBody>
      </p:sp>
      <p:sp>
        <p:nvSpPr>
          <p:cNvPr id="3" name="矩形 13"/>
          <p:cNvSpPr/>
          <p:nvPr/>
        </p:nvSpPr>
        <p:spPr>
          <a:xfrm>
            <a:off x="1667404" y="5380132"/>
            <a:ext cx="6372557" cy="82994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en-US" sz="1600" b="1" dirty="0"/>
              <a:t>Thank You</a:t>
            </a:r>
            <a:endParaRPr lang="en-US" altLang="en-US" sz="1600" b="1" dirty="0"/>
          </a:p>
          <a:p>
            <a:pPr>
              <a:lnSpc>
                <a:spcPct val="150000"/>
              </a:lnSpc>
            </a:pPr>
            <a:r>
              <a:rPr lang="en-US" altLang="en-US" sz="1600" b="1" dirty="0"/>
              <a:t>Questions &amp; Answers Welcome</a:t>
            </a:r>
            <a:endParaRPr lang="en-US" altLang="en-US" sz="16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8567</Words>
  <Application>WPS Presentation</Application>
  <PresentationFormat>宽屏</PresentationFormat>
  <Paragraphs>237</Paragraphs>
  <Slides>18</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18</vt:i4>
      </vt:variant>
    </vt:vector>
  </HeadingPairs>
  <TitlesOfParts>
    <vt:vector size="37" baseType="lpstr">
      <vt:lpstr>Arial</vt:lpstr>
      <vt:lpstr>SimSun</vt:lpstr>
      <vt:lpstr>Wingdings</vt:lpstr>
      <vt:lpstr>Arial Black</vt:lpstr>
      <vt:lpstr>Aharoni</vt:lpstr>
      <vt:lpstr>Humnst777 Blk BT</vt:lpstr>
      <vt:lpstr>Microsoft YaHei</vt:lpstr>
      <vt:lpstr>Calibri</vt:lpstr>
      <vt:lpstr>汉仪良品线简</vt:lpstr>
      <vt:lpstr>方正呐喊体</vt:lpstr>
      <vt:lpstr>方正兰亭超细黑简体</vt:lpstr>
      <vt:lpstr>三极准柔宋</vt:lpstr>
      <vt:lpstr>Agency FB</vt:lpstr>
      <vt:lpstr>字魂58号-创中黑</vt:lpstr>
      <vt:lpstr>Lato Light</vt:lpstr>
      <vt:lpstr>Arial Unicode MS</vt:lpstr>
      <vt:lpstr>Segoe Print</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刘丹</dc:creator>
  <cp:lastModifiedBy>WPS_1760354647</cp:lastModifiedBy>
  <cp:revision>21</cp:revision>
  <dcterms:created xsi:type="dcterms:W3CDTF">2019-08-08T09:10:00Z</dcterms:created>
  <dcterms:modified xsi:type="dcterms:W3CDTF">2026-03-07T20:30:36Z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758ADBF5ED0E479DAD33EAEA01CA1EE6_13</vt:lpwstr>
  </property>
  <property fmtid="{D5CDD505-2E9C-101B-9397-08002B2CF9AE}" pid="3" name="KSOProductBuildVer">
    <vt:lpwstr>1033-12.1.0.25242</vt:lpwstr>
  </property>
</Properties>
</file>